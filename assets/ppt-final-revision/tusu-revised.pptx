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保留原定稿PDF页面，不修改内容与风格。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保留原定稿PDF页面，不修改内容与风格。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保留原定稿PDF页面，不修改内容与风格。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仅第4、8、9页定点修订。原PDF为整页图片，其余视觉元素作为背景保留；新增文字和图形可编辑。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保留原定稿PDF页面，不修改内容与风格。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保留原定稿PDF页面，不修改内容与风格。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保留原定稿PDF页面，不修改内容与风格。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仅第4、8、9页定点修订。原PDF为整页图片，其余视觉元素作为背景保留；新增文字和图形可编辑。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仅第4、8、9页定点修订。原PDF为整页图片，其余视觉元素作为背景保留；新增文字和图形可编辑。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保留原定稿PDF页面，不修改内容与风格。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保留原定稿PDF页面，不修改内容与风格。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保留原定稿PDF页面，不修改内容与风格。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保留原定稿PDF页面，不修改内容与风格。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保留原定稿PDF页面，不修改内容与风格。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保留原定稿PDF页面，不修改内容与风格。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保留原定稿PDF页面，不修改内容与风格。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76299" y="342900"/>
            <a:ext cx="3555999" cy="495300"/>
          </a:xfrm>
          <a:prstGeom prst="rect">
            <a:avLst/>
          </a:prstGeom>
          <a:solidFill>
            <a:srgbClr val="052C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5199" y="381000"/>
            <a:ext cx="3632199" cy="5657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EFFCF7"/>
                </a:solidFill>
                <a:latin typeface="Noto Sans CJK SC"/>
              </a:rPr>
              <a:t>场景需求分析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355599" y="977900"/>
            <a:ext cx="5714999" cy="4965700"/>
          </a:xfrm>
          <a:prstGeom prst="rect">
            <a:avLst/>
          </a:prstGeom>
          <a:solidFill>
            <a:srgbClr val="052C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349999" y="977900"/>
            <a:ext cx="5524499" cy="4965700"/>
          </a:xfrm>
          <a:prstGeom prst="rect">
            <a:avLst/>
          </a:prstGeom>
          <a:solidFill>
            <a:srgbClr val="052C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1699" y="990600"/>
            <a:ext cx="4711699" cy="419100"/>
          </a:xfrm>
          <a:prstGeom prst="rect">
            <a:avLst/>
          </a:prstGeom>
          <a:solidFill>
            <a:srgbClr val="117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1849" y="1079500"/>
            <a:ext cx="4660899" cy="2724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FFCF7"/>
                </a:solidFill>
                <a:latin typeface="Noto Sans CJK SC"/>
              </a:rPr>
              <a:t>来源信息在图像流转中容易脱落</a:t>
            </a:r>
          </a:p>
        </p:txBody>
      </p:sp>
      <p:sp>
        <p:nvSpPr>
          <p:cNvPr id="9" name="Rectangle 8"/>
          <p:cNvSpPr/>
          <p:nvPr/>
        </p:nvSpPr>
        <p:spPr>
          <a:xfrm>
            <a:off x="6819899" y="990600"/>
            <a:ext cx="4698999" cy="419100"/>
          </a:xfrm>
          <a:prstGeom prst="rect">
            <a:avLst/>
          </a:prstGeom>
          <a:solidFill>
            <a:srgbClr val="117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78799" y="1079500"/>
            <a:ext cx="4673599" cy="2724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FFCF7"/>
                </a:solidFill>
                <a:latin typeface="Noto Sans CJK SC"/>
              </a:rPr>
              <a:t>三类用户：需求与功能对应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799" y="1485900"/>
            <a:ext cx="5257799" cy="4457700"/>
          </a:xfrm>
          <a:prstGeom prst="rect">
            <a:avLst/>
          </a:prstGeom>
          <a:solidFill>
            <a:srgbClr val="052C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5499" y="1574800"/>
            <a:ext cx="4952999" cy="825500"/>
          </a:xfrm>
          <a:prstGeom prst="rect">
            <a:avLst/>
          </a:prstGeom>
          <a:solidFill>
            <a:srgbClr val="073934"/>
          </a:solidFill>
          <a:ln w="6350">
            <a:solidFill>
              <a:srgbClr val="277C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7899" y="1727200"/>
            <a:ext cx="584199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65E9CE"/>
                </a:solidFill>
                <a:latin typeface="Noto Sans CJK SC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199" y="1689100"/>
            <a:ext cx="3886199" cy="3143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FFCF7"/>
                </a:solidFill>
                <a:latin typeface="Noto Sans CJK SC"/>
              </a:rPr>
              <a:t>生成图片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199" y="2019300"/>
            <a:ext cx="4089399" cy="2200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B9D8CE"/>
                </a:solidFill>
                <a:latin typeface="Noto Sans CJK SC"/>
              </a:rPr>
              <a:t>平台保存生成任务，图片需关联身份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263899" y="2400300"/>
            <a:ext cx="0" cy="127000"/>
          </a:xfrm>
          <a:prstGeom prst="line">
            <a:avLst/>
          </a:prstGeom>
          <a:ln w="16510">
            <a:solidFill>
              <a:srgbClr val="65E9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825499" y="2540000"/>
            <a:ext cx="4952999" cy="825500"/>
          </a:xfrm>
          <a:prstGeom prst="rect">
            <a:avLst/>
          </a:prstGeom>
          <a:solidFill>
            <a:srgbClr val="073934"/>
          </a:solidFill>
          <a:ln w="6350">
            <a:solidFill>
              <a:srgbClr val="277C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7899" y="2692400"/>
            <a:ext cx="584199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65E9CE"/>
                </a:solidFill>
                <a:latin typeface="Noto Sans CJK SC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199" y="2654300"/>
            <a:ext cx="3886199" cy="3143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FFCF7"/>
                </a:solidFill>
                <a:latin typeface="Noto Sans CJK SC"/>
              </a:rPr>
              <a:t>交付素材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199" y="2984500"/>
            <a:ext cx="4089399" cy="2200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B9D8CE"/>
                </a:solidFill>
                <a:latin typeface="Noto Sans CJK SC"/>
              </a:rPr>
              <a:t>文件改名、说明分离，来源依据易丢失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263899" y="3365500"/>
            <a:ext cx="0" cy="127000"/>
          </a:xfrm>
          <a:prstGeom prst="line">
            <a:avLst/>
          </a:prstGeom>
          <a:ln w="16510">
            <a:solidFill>
              <a:srgbClr val="65E9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825499" y="3505200"/>
            <a:ext cx="4952999" cy="825500"/>
          </a:xfrm>
          <a:prstGeom prst="rect">
            <a:avLst/>
          </a:prstGeom>
          <a:solidFill>
            <a:srgbClr val="073934"/>
          </a:solidFill>
          <a:ln w="6350">
            <a:solidFill>
              <a:srgbClr val="277C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7899" y="3657600"/>
            <a:ext cx="584199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65E9CE"/>
                </a:solidFill>
                <a:latin typeface="Noto Sans CJK SC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199" y="3619500"/>
            <a:ext cx="3886199" cy="3143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FFCF7"/>
                </a:solidFill>
                <a:latin typeface="Noto Sans CJK SC"/>
              </a:rPr>
              <a:t>转发与编辑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199" y="3949700"/>
            <a:ext cx="4089399" cy="2200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B9D8CE"/>
                </a:solidFill>
                <a:latin typeface="Noto Sans CJK SC"/>
              </a:rPr>
              <a:t>图片继续流转，外部记录未必同步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263899" y="4330700"/>
            <a:ext cx="0" cy="127000"/>
          </a:xfrm>
          <a:prstGeom prst="line">
            <a:avLst/>
          </a:prstGeom>
          <a:ln w="16510">
            <a:solidFill>
              <a:srgbClr val="65E9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825499" y="4470400"/>
            <a:ext cx="4952999" cy="825500"/>
          </a:xfrm>
          <a:prstGeom prst="rect">
            <a:avLst/>
          </a:prstGeom>
          <a:solidFill>
            <a:srgbClr val="073934"/>
          </a:solidFill>
          <a:ln w="6350">
            <a:solidFill>
              <a:srgbClr val="277C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7899" y="4622800"/>
            <a:ext cx="584199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65E9CE"/>
                </a:solidFill>
                <a:latin typeface="Noto Sans CJK SC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00199" y="4584700"/>
            <a:ext cx="3886199" cy="3143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FFCF7"/>
                </a:solidFill>
                <a:latin typeface="Noto Sans CJK SC"/>
              </a:rPr>
              <a:t>再次使用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00199" y="4914900"/>
            <a:ext cx="4089399" cy="2200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B9D8CE"/>
                </a:solidFill>
                <a:latin typeface="Noto Sans CJK SC"/>
              </a:rPr>
              <a:t>接收者不知传播过程，难以核对来源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17699" y="5575300"/>
            <a:ext cx="5029199" cy="2514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BE890"/>
                </a:solidFill>
                <a:latin typeface="Noto Sans CJK SC"/>
              </a:rPr>
              <a:t>问题核心：图片易流转，来源依据易脱落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40499" y="1485900"/>
            <a:ext cx="5041899" cy="4457700"/>
          </a:xfrm>
          <a:prstGeom prst="rect">
            <a:avLst/>
          </a:prstGeom>
          <a:solidFill>
            <a:srgbClr val="052C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680199" y="1587500"/>
            <a:ext cx="4737099" cy="1168400"/>
          </a:xfrm>
          <a:prstGeom prst="rect">
            <a:avLst/>
          </a:prstGeom>
          <a:solidFill>
            <a:srgbClr val="073934"/>
          </a:solidFill>
          <a:ln w="6350">
            <a:solidFill>
              <a:srgbClr val="277C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45299" y="1689100"/>
            <a:ext cx="4483099" cy="2933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65E9CE"/>
                </a:solidFill>
                <a:latin typeface="Noto Sans CJK SC"/>
              </a:rPr>
              <a:t>AI图像生成平台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45299" y="2019300"/>
            <a:ext cx="4483099" cy="2346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EFFCF7"/>
                </a:solidFill>
                <a:latin typeface="Noto Sans CJK SC"/>
              </a:rPr>
              <a:t>需求：关联输出图片与生成任务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45299" y="2336800"/>
            <a:ext cx="4483099" cy="2346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FBE890"/>
                </a:solidFill>
                <a:latin typeface="Noto Sans CJK SC"/>
              </a:rPr>
              <a:t>功能：生成时嵌入身份标识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680199" y="2870200"/>
            <a:ext cx="4737099" cy="1168400"/>
          </a:xfrm>
          <a:prstGeom prst="rect">
            <a:avLst/>
          </a:prstGeom>
          <a:solidFill>
            <a:srgbClr val="073934"/>
          </a:solidFill>
          <a:ln w="6350">
            <a:solidFill>
              <a:srgbClr val="277C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45299" y="2971800"/>
            <a:ext cx="4483099" cy="2933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65E9CE"/>
                </a:solidFill>
                <a:latin typeface="Noto Sans CJK SC"/>
              </a:rPr>
              <a:t>内容生产与营销企业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45299" y="3302000"/>
            <a:ext cx="4483099" cy="2346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EFFCF7"/>
                </a:solidFill>
                <a:latin typeface="Noto Sans CJK SC"/>
              </a:rPr>
              <a:t>需求：核对交付素材及业务归属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45299" y="3619500"/>
            <a:ext cx="4483099" cy="2346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FBE890"/>
                </a:solidFill>
                <a:latin typeface="Noto Sans CJK SC"/>
              </a:rPr>
              <a:t>功能：来源登记 · 业务编号 · 素材管理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680199" y="4152900"/>
            <a:ext cx="4737099" cy="1168400"/>
          </a:xfrm>
          <a:prstGeom prst="rect">
            <a:avLst/>
          </a:prstGeom>
          <a:solidFill>
            <a:srgbClr val="073934"/>
          </a:solidFill>
          <a:ln w="6350">
            <a:solidFill>
              <a:srgbClr val="277C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45299" y="4254500"/>
            <a:ext cx="4483099" cy="2933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65E9CE"/>
                </a:solidFill>
                <a:latin typeface="Noto Sans CJK SC"/>
              </a:rPr>
              <a:t>图片接收者与审核人员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45299" y="4584700"/>
            <a:ext cx="4483099" cy="2346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EFFCF7"/>
                </a:solidFill>
                <a:latin typeface="Noto Sans CJK SC"/>
              </a:rPr>
              <a:t>需求：不了解传播过程，也能查询来源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45299" y="4902200"/>
            <a:ext cx="4483099" cy="2346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FBE890"/>
                </a:solidFill>
                <a:latin typeface="Noto Sans CJK SC"/>
              </a:rPr>
              <a:t>功能：上传核验 · 来源匹配 · 结果报告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18449" y="5575300"/>
            <a:ext cx="4813299" cy="2305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B9D8CE"/>
                </a:solidFill>
                <a:latin typeface="Noto Sans CJK SC"/>
              </a:rPr>
              <a:t>分析方式：场景拆解与业务流程分析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257299" y="5994400"/>
            <a:ext cx="10159999" cy="660400"/>
          </a:xfrm>
          <a:prstGeom prst="rect">
            <a:avLst/>
          </a:prstGeom>
          <a:solidFill>
            <a:srgbClr val="052C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90999" y="6337300"/>
            <a:ext cx="10109199" cy="3352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BE890"/>
                </a:solidFill>
                <a:latin typeface="Noto Sans CJK SC"/>
              </a:rPr>
              <a:t>让图像中的身份线索，关联到可查询的来源记录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962899" y="1955800"/>
            <a:ext cx="3555999" cy="355600"/>
          </a:xfrm>
          <a:prstGeom prst="rect">
            <a:avLst/>
          </a:prstGeom>
          <a:solidFill>
            <a:srgbClr val="052C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83599" y="2006600"/>
            <a:ext cx="3505199" cy="2766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EFFCF7"/>
                </a:solidFill>
                <a:latin typeface="Noto Sans CJK SC"/>
              </a:rPr>
              <a:t>团队复现：不同条件下的消息恢复</a:t>
            </a:r>
          </a:p>
        </p:txBody>
      </p:sp>
      <p:sp>
        <p:nvSpPr>
          <p:cNvPr id="5" name="Rectangle 4"/>
          <p:cNvSpPr/>
          <p:nvPr/>
        </p:nvSpPr>
        <p:spPr>
          <a:xfrm>
            <a:off x="7454899" y="2476500"/>
            <a:ext cx="4305299" cy="292100"/>
          </a:xfrm>
          <a:prstGeom prst="rect">
            <a:avLst/>
          </a:prstGeom>
          <a:solidFill>
            <a:srgbClr val="177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43799" y="2514600"/>
            <a:ext cx="2362199" cy="2409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FFCF7"/>
                </a:solidFill>
                <a:latin typeface="Noto Sans CJK SC"/>
              </a:rPr>
              <a:t>图像处理条件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16369" y="2514600"/>
            <a:ext cx="2082799" cy="2158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30" b="1">
                <a:solidFill>
                  <a:srgbClr val="EFFCF7"/>
                </a:solidFill>
                <a:latin typeface="Noto Sans CJK SC"/>
              </a:rPr>
              <a:t>比特恢复准确率（%）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2699" y="4368800"/>
            <a:ext cx="2743199" cy="1371600"/>
          </a:xfrm>
          <a:prstGeom prst="rect">
            <a:avLst/>
          </a:prstGeom>
          <a:solidFill>
            <a:srgbClr val="052C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33499" y="4432300"/>
            <a:ext cx="2717799" cy="2933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BE890"/>
                </a:solidFill>
                <a:latin typeface="Noto Sans CJK SC"/>
              </a:rPr>
              <a:t>传播后的消息恢复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3499" y="4800600"/>
            <a:ext cx="2717799" cy="2514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FFCF7"/>
                </a:solidFill>
                <a:latin typeface="Noto Sans CJK SC"/>
              </a:rPr>
              <a:t>从反演噪声中恢复水印消息，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33499" y="5052060"/>
            <a:ext cx="2717799" cy="2514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FFCF7"/>
                </a:solidFill>
                <a:latin typeface="Noto Sans CJK SC"/>
              </a:rPr>
              <a:t>评估图像处理后的恢复表现。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33499" y="5303520"/>
            <a:ext cx="2717799" cy="2514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FFCF7"/>
                </a:solidFill>
                <a:latin typeface="Noto Sans CJK SC"/>
              </a:rPr>
              <a:t>不同处理条件分别测试、报告。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4899" y="4381500"/>
            <a:ext cx="4254499" cy="1397000"/>
          </a:xfrm>
          <a:prstGeom prst="rect">
            <a:avLst/>
          </a:prstGeom>
          <a:solidFill>
            <a:srgbClr val="052C29"/>
          </a:solidFill>
          <a:ln w="6350">
            <a:solidFill>
              <a:srgbClr val="277C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1899" y="4432300"/>
            <a:ext cx="4076699" cy="2724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65E9CE"/>
                </a:solidFill>
                <a:latin typeface="Noto Sans CJK SC"/>
              </a:rPr>
              <a:t>恢复指标与判定边界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1899" y="4711700"/>
            <a:ext cx="4076699" cy="1927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EFFCF7"/>
                </a:solidFill>
                <a:latin typeface="Noto Sans CJK SC"/>
              </a:rPr>
              <a:t>比特准确率：正确恢复的比特数 / 总比特数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1899" y="4892802"/>
            <a:ext cx="4076699" cy="1927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EFFCF7"/>
                </a:solidFill>
                <a:latin typeface="Noto Sans CJK SC"/>
              </a:rPr>
              <a:t>来源匹配：恢复消息后关联有效登记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1899" y="5073904"/>
            <a:ext cx="4076699" cy="1927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EFFCF7"/>
                </a:solidFill>
                <a:latin typeface="Noto Sans CJK SC"/>
              </a:rPr>
              <a:t>当前列项：无攻击、JPEG、高斯噪声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1899" y="5255006"/>
            <a:ext cx="4076699" cy="1927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EFFCF7"/>
                </a:solidFill>
                <a:latin typeface="Noto Sans CJK SC"/>
              </a:rPr>
              <a:t>裁剪、缩放与复合编辑需单独验证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581899" y="5473700"/>
            <a:ext cx="4000500" cy="0"/>
          </a:xfrm>
          <a:prstGeom prst="line">
            <a:avLst/>
          </a:prstGeom>
          <a:ln w="7620">
            <a:solidFill>
              <a:srgbClr val="277C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581899" y="5537200"/>
            <a:ext cx="4076699" cy="1718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B9D8CE"/>
                </a:solidFill>
                <a:latin typeface="Noto Sans CJK SC"/>
              </a:rPr>
              <a:t>实验条件：样本量、模型配置与重复次数待补充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16099" y="6184900"/>
            <a:ext cx="9690099" cy="444500"/>
          </a:xfrm>
          <a:prstGeom prst="rect">
            <a:avLst/>
          </a:prstGeom>
          <a:solidFill>
            <a:srgbClr val="052C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65319" y="6286500"/>
            <a:ext cx="9664699" cy="2787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30" b="1">
                <a:solidFill>
                  <a:srgbClr val="FBE890"/>
                </a:solidFill>
                <a:latin typeface="Noto Sans CJK SC"/>
              </a:rPr>
              <a:t>团队复现：在本次已列条件下，保持较高的比特恢复准确率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861299" y="1955800"/>
            <a:ext cx="3708399" cy="368300"/>
          </a:xfrm>
          <a:prstGeom prst="rect">
            <a:avLst/>
          </a:prstGeom>
          <a:solidFill>
            <a:srgbClr val="052C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01074" y="2019300"/>
            <a:ext cx="3657599" cy="2828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EFFCF7"/>
                </a:solidFill>
                <a:latin typeface="Noto Sans CJK SC"/>
              </a:rPr>
              <a:t>团队复现：水印处理耗时对比</a:t>
            </a:r>
          </a:p>
        </p:txBody>
      </p:sp>
      <p:sp>
        <p:nvSpPr>
          <p:cNvPr id="5" name="Rectangle 4"/>
          <p:cNvSpPr/>
          <p:nvPr/>
        </p:nvSpPr>
        <p:spPr>
          <a:xfrm>
            <a:off x="7645399" y="5651500"/>
            <a:ext cx="3873499" cy="190500"/>
          </a:xfrm>
          <a:prstGeom prst="rect">
            <a:avLst/>
          </a:prstGeom>
          <a:solidFill>
            <a:srgbClr val="052C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08899" y="5664200"/>
            <a:ext cx="3822699" cy="1550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B9D8CE"/>
                </a:solidFill>
                <a:latin typeface="Noto Sans CJK SC"/>
              </a:rPr>
              <a:t>计时范围 / 硬件 / 重复次数：待补充；非端到端时延</a:t>
            </a:r>
          </a:p>
        </p:txBody>
      </p:sp>
      <p:sp>
        <p:nvSpPr>
          <p:cNvPr id="7" name="Rectangle 6"/>
          <p:cNvSpPr/>
          <p:nvPr/>
        </p:nvSpPr>
        <p:spPr>
          <a:xfrm>
            <a:off x="2527299" y="5994400"/>
            <a:ext cx="8928099" cy="609600"/>
          </a:xfrm>
          <a:prstGeom prst="rect">
            <a:avLst/>
          </a:prstGeom>
          <a:solidFill>
            <a:srgbClr val="052C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37049" y="6337300"/>
            <a:ext cx="9855199" cy="3143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BE890"/>
                </a:solidFill>
                <a:latin typeface="Noto Sans CJK SC"/>
              </a:rPr>
              <a:t>核心处理开销对比，为后续部署与性能优化提供依据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