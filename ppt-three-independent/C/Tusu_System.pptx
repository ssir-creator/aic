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图溯：面向数字图像可信传播的来源认证与溯源方案。底层技术采用球形水印，配图为原型截图和论文方法示意，不复用其他团队硬件或背书。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本目录与指定参考稿对应。A使用五段学术答辩目录；C使用五段系统设计目录。不是综合三份参考的混合目录。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对应参考稿独立的章节结构：研究背景。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先从数字图像的广泛价值讲起，不以电商或AIGC限定整个问题。左侧是创作，传播使图像进入多种使用任务，右侧这些任务都依赖一定的来源、署名或授权信息。无市场规模数字。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本页使用程序绘制的原创营销设计样张作为情境道具，不是AI生成照片、不是实测传播案例。演示附带说明与图片分离，并不表示一切转发都会剥离元数据。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需求假设：品牌只发图片、合作方改名、运营缺少授权文件会增加核对成本。本页是情境分析，非访谈结论。应用目标是缩短来源追问与材料定位路径，不能自动认定盗用。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方案而非完成数据：拟覆盖3名设计、3名运营、2名审核人员。半结构化访谈记录最近一次交付与来源追问，不诱导受访者认可水印。随后同人交叉执行人工查找/图溯核验，顺序随机，保存匿名原话、观察记录、成功/失败与用时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用户需求为基于任务的需求假设，尚非完成访谈的统计结论。拟访谈创作者、运营、审核人员，追问最近一次交付、来源追问过程和画质底线；观察对比人工追问与系统来源查找。不得虚构问卷百分比。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电商仅为首个验证点，问题背景不限电商。情境：设计方制作新品图，品牌交付代运营或合作方，再次收到图的运营人员需要找回登记来源并核对使用材料。不是已有真实试点案例。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此页为定性任务对比。可见署名、元数据、相似检索、隐形水印各有用途，并不宣称已有水印登记应用不存在。图溯的差异化需在同一用户任务中验证。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底层球形水印算法来自论文，不归为本项目原创。场景创新为主动身份标记与收到图片后的来源查找衔接；应用差异化仍须调研与对比任务支撑。技术难点包括反演恢复、误检、签名管理、登记安全与异常状态。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对应参考稿独立的章节结构：总体架构设计。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图溯应用框架图为本项目设计。算法层采用球形水印，登记层与交互层为应用设计。该框架描述目标主路线；现有原型后处理水印路径不能自动视为球形水印生成模型已接通。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原型实际为Python HTTP服务、独立worker、JSON记录与PNG文件；模型任务单槽串行。球形水印需要独立模型仓库、权重与签名以及兼容GPU环境。未测GPU显存和吞吐，不填配置承诺。多租户鉴权、数据库与密钥托管是正式接入前工作项。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对应参考稿独立的章节结构：系统设计。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选型依据论文方法特性，而非保证其在当前样本绝对最佳。生成先验适配、质量扰动与恢复能力要分别验证。无额外训练不等于无计算成本，提取仍有反演开销。</a:t>
            </a:r>
          </a:p>
          <a:p>
            <a:r>
              <a:t>本版仅模仿参考C的结构与版式，项目资料不来自参考团队。</a:t>
            </a:r>
          </a:p>
          <a:p>
            <a:r>
              <a:t>来源与验证范围：方法依据：Hu et al., Spherical Watermark, ICLR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原图Figure1(b)，重复编码、随机填充、T二进制可逆混合、单位球面归一化、C正交旋转、随机卡方半径，然后进入预训练扩散模型。K=(T,C)需保密。图与方法采用原论文，不是本团队算法原创。</a:t>
            </a:r>
          </a:p>
          <a:p>
            <a:r>
              <a:t>本版仅模仿参考C的结构与版式，项目资料不来自参考团队。</a:t>
            </a:r>
          </a:p>
          <a:p>
            <a:r>
              <a:t>来源与验证范围：Spherical Watermark, ICLR2026, Figure1(b)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上图Figure1(a)展示原方法离线和在线框架。核验经过VAE/扩散反演、C与T逆映射、量化及多数投票。下面应用层将恢复编号关联登记，不把标识检出等同合法授权或事实真实。</a:t>
            </a:r>
          </a:p>
          <a:p>
            <a:r>
              <a:t>本版仅模仿参考C的结构与版式，项目资料不来自参考团队。</a:t>
            </a:r>
          </a:p>
          <a:p>
            <a:r>
              <a:t>来源与验证范围：Spherical Watermark Figure1(a)；应用层为本项目设计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原论文K=(T,C)，T为GF(2)可逆混合，C为正交矩阵。签名固定且保密。无逐图加密不等于无需秘密材料或无安全管理。以下为中文结构解释，非额外算法创新。</a:t>
            </a:r>
          </a:p>
          <a:p>
            <a:r>
              <a:t>本版仅模仿参考C的结构与版式，项目资料不来自参考团队。</a:t>
            </a:r>
          </a:p>
          <a:p>
            <a:r>
              <a:t>来源与验证范围：方法依据：Spherical Watermark第3节，K=(T,C)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当前原型登记含编号、项目、署名和核验记录；授权范围与证明文件需要额外材料核对。多租户访问控制和正式密钥托管为部署前工作项。图示为方案，不宣称完整授权系统已经实现。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协作设计：算法负责人承担模型复现与配置，产品负责人承担接口与交互，验证负责人承担数据、对照实验和需求记录。未提供真实成员履历或协作成效，不编造团队背书。现有原型和13项软件测试有证据，后续模型统一评测与用户试点尚待实施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对应参考稿独立的章节结构：业务流程。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本页为拟接入业务SOP。图片登记可存署名与项目声明；授权范围、期限与证明文件目前依赖人工材料清单，不宣称已实现授权管理系统。图片持有者通过平台核验，未自动赋予下载者使用许可。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本页是24张自绘样张上的受控试验，不是商户上线。内置轻量水印原图/压缩/尺寸减半24/24关联正确，保留宽高70%中心裁剪0/24，24张未加水印负样张均未关联登记。截图与设计样张均来自项目试验。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固定提示词、模型、采样步数和分辨率管理。条件包括原始图、JPEG90/JPEG50、缩放50%、中心裁剪70%，并纳入无水印负样本和错误签名。指标报告实际定义及样本数，避免检测TPR与比特准确率混用。访谈与小规模用户任务均未完成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本次实际执行原型API：24张程序自绘640×640设计图，咖啡/文创/家居3类布局；另24张独立无水印样张。内置轻量水印，不是球形水印。5种传播条件共120次正样本来源查询，另24次负样本查询。随机记录ID，原始结果CSV与方法代码随证据材料提供。</a:t>
            </a:r>
          </a:p>
          <a:p>
            <a:r>
              <a:t>本版仅模仿参考C的结构与版式，项目资料不来自参考团队。</a:t>
            </a:r>
          </a:p>
          <a:p>
            <a:r>
              <a:t>来源与验证范围：原始证据：evidence/raw-results.csv；不外推为球形水印成绩或真实商户效果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项实际工作流单元测试通过；包含部分模型链路夹具，不能表示GPU模型运行。另24张无水印图均未关联登记，仅为受控负样本结果。小样本零误匹配不表示总体零误检。任务查询中位耗时为单机本地24条登记扫描，不是公网延迟或生产SLA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左为真实原型记录界面，右为真实CSV试验字段及13项测试结果的文字复述。内置轻量水印受控144次查询，不是商户上线或球形水印GPU成绩。无专利、论文发表或合作奖项主张。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试点计划，尚无签约或已完成访谈。拟先联系一家有合法素材的小型品牌/设计服务团队，选一个完整营销批次；3至5名设计、运营、审核用户。入组许可、数据去标识，人工追问与系统查找交叉执行。验收阈值应由前测与用户共同确定，不虚构完成率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对应参考稿独立的章节结构：总结与未来挑战。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轻量方法裁剪失败，论文主线的真实业务统一评测尚待完成，登记遍历规模、标识冲突、多租户权限与签名管理需进一步验证。改善候选不能保证抗攻击；任何对齐预处理或新模型都需重新测正负样本与质量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收益模型为评估方法，非已取得收益。设月任务量M，人工与系统任务时间差Δt，人力小时成本H，则月可节省工时=M*Δt/60，毛节省=M*Δt*H/60；扣除模型推理、存储、维护和复核增量成本。不能将未核实侵权损失、赔偿或营收当项目收入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先选择自有或授权素材，拟邀设计或运营使用者，执行交付与来源查找。比较人工追问和系统核验的任务耗时、正确判断与无法确认。未来拓展场景为计划，不声称已有部署客户、专利、营收或市场份额。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推广计划，不是既有客户与收入：完成球形水印统一评测；自有/授权素材试点；再拓展模型与团队接入。用户任务效果、显存吞吐、误检与数据权限为放量门槛。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仅为内容定位，不代表已取得最高档所需全部实证。访谈、商户试用与球形水印GPU统一评测需独立完成。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总结：方法来自球形水印研究，应用架构连接生成、登记、核验与复核；展望需由真实数据与用户任务验证。</a:t>
            </a:r>
          </a:p>
          <a:p>
            <a:r>
              <a:t>本版仅模仿参考C的结构与版式，项目资料不来自参考团队。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AI＋场景创新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7239000" cy="139232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0363"/>
              </a:lnSpc>
              <a:spcAft>
                <a:spcPts val="0"/>
              </a:spcAft>
              <a:defRPr sz="7620" b="1">
                <a:solidFill>
                  <a:srgbClr val="254C6D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714500"/>
            <a:ext cx="7239000" cy="139232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0363"/>
              </a:lnSpc>
              <a:spcAft>
                <a:spcPts val="0"/>
              </a:spcAft>
              <a:defRPr sz="7620" b="1">
                <a:solidFill>
                  <a:srgbClr val="F5F7FB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3192780"/>
            <a:ext cx="7315200" cy="11332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161"/>
              </a:lnSpc>
              <a:spcAft>
                <a:spcPts val="0"/>
              </a:spcAft>
              <a:defRPr sz="3060" b="1">
                <a:solidFill>
                  <a:srgbClr val="EED69D"/>
                </a:solidFill>
                <a:latin typeface="Microsoft YaHei"/>
              </a:defRPr>
            </a:pPr>
            <a:r>
              <a:t>面向数字图像可信传播的</a:t>
            </a:r>
          </a:p>
          <a:p>
            <a:pPr>
              <a:lnSpc>
                <a:spcPts val="4161"/>
              </a:lnSpc>
              <a:spcAft>
                <a:spcPts val="0"/>
              </a:spcAft>
              <a:defRPr sz="3060" b="1">
                <a:solidFill>
                  <a:srgbClr val="EED69D"/>
                </a:solidFill>
                <a:latin typeface="Microsoft YaHei"/>
              </a:defRPr>
            </a:pPr>
            <a:r>
              <a:t>来源认证与溯源方案</a:t>
            </a:r>
          </a:p>
        </p:txBody>
      </p:sp>
      <p:sp>
        <p:nvSpPr>
          <p:cNvPr id="10" name="Oval 9"/>
          <p:cNvSpPr/>
          <p:nvPr/>
        </p:nvSpPr>
        <p:spPr>
          <a:xfrm>
            <a:off x="8244840" y="1699260"/>
            <a:ext cx="2743200" cy="27432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04960" y="1699260"/>
            <a:ext cx="822960" cy="27432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66048" y="1699260"/>
            <a:ext cx="1700784" cy="27432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44840" y="2659380"/>
            <a:ext cx="2743200" cy="822960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4840" y="2220468"/>
            <a:ext cx="2743200" cy="1700784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5780" y="4960620"/>
            <a:ext cx="32385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C99"/>
                </a:solidFill>
                <a:latin typeface="Microsoft YaHei"/>
              </a:defRPr>
            </a:pPr>
            <a:r>
              <a:t>身份标记 · 可信传播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让图像的身份线索，跟得上内容的传播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汇报目录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171700" y="1767840"/>
            <a:ext cx="7848600" cy="3642360"/>
          </a:xfrm>
          <a:prstGeom prst="rect">
            <a:avLst/>
          </a:prstGeom>
          <a:noFill/>
          <a:ln>
            <a:solidFill>
              <a:srgbClr val="81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7179" y="1821180"/>
            <a:ext cx="4648200" cy="47000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100"/>
              </a:lnSpc>
              <a:spcAft>
                <a:spcPts val="0"/>
              </a:spcAft>
              <a:defRPr sz="2280" b="1">
                <a:solidFill>
                  <a:srgbClr val="F1D794"/>
                </a:solidFill>
                <a:latin typeface="Microsoft YaHei"/>
              </a:defRPr>
            </a:pPr>
            <a:r>
              <a:t>汇 报 目 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240" y="2484120"/>
            <a:ext cx="73152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2F6FB"/>
                </a:solidFill>
                <a:latin typeface="Microsoft YaHei"/>
              </a:defRPr>
            </a:pPr>
            <a:r>
              <a:t>01  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2240" y="3009900"/>
            <a:ext cx="73152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2F6FB"/>
                </a:solidFill>
                <a:latin typeface="Microsoft YaHei"/>
              </a:defRPr>
            </a:pPr>
            <a:r>
              <a:t>02  总体架构设计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2240" y="3535680"/>
            <a:ext cx="73152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2F6FB"/>
                </a:solidFill>
                <a:latin typeface="Microsoft YaHei"/>
              </a:defRPr>
            </a:pPr>
            <a:r>
              <a:t>03  系统设计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2240" y="4061460"/>
            <a:ext cx="73152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2F6FB"/>
                </a:solidFill>
                <a:latin typeface="Microsoft YaHei"/>
              </a:defRPr>
            </a:pPr>
            <a:r>
              <a:t>04  业务流程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240" y="4587240"/>
            <a:ext cx="73152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2F6FB"/>
                </a:solidFill>
                <a:latin typeface="Microsoft YaHei"/>
              </a:defRPr>
            </a:pPr>
            <a:r>
              <a:t>05  总结与未来挑战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从问题与需求出发，以技术、验证和落地支撑方案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01  研究背景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77240" y="1897380"/>
            <a:ext cx="3421380" cy="3055620"/>
          </a:xfrm>
          <a:prstGeom prst="rect">
            <a:avLst/>
          </a:prstGeom>
          <a:solidFill>
            <a:srgbClr val="164B70"/>
          </a:solidFill>
          <a:ln>
            <a:solidFill>
              <a:srgbClr val="C6A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019300"/>
            <a:ext cx="2781300" cy="27813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495800" y="2095499"/>
            <a:ext cx="0" cy="2941321"/>
          </a:xfrm>
          <a:prstGeom prst="line">
            <a:avLst/>
          </a:prstGeom>
          <a:ln w="22859">
            <a:solidFill>
              <a:srgbClr val="D1B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90160" y="2674620"/>
            <a:ext cx="627888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EFD79A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1120" y="3589020"/>
            <a:ext cx="61112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8E5EE"/>
                </a:solidFill>
                <a:latin typeface="Microsoft YaHei"/>
              </a:defRPr>
            </a:pPr>
            <a:r>
              <a:t>数字图像的可信身份与实际使用需求。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5376952"/>
            <a:ext cx="91440" cy="62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1040" y="5383178"/>
            <a:ext cx="91440" cy="6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2480" y="5389313"/>
            <a:ext cx="91440" cy="603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3920" y="5395346"/>
            <a:ext cx="91440" cy="5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5360" y="5401267"/>
            <a:ext cx="91440" cy="57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6800" y="5407064"/>
            <a:ext cx="91440" cy="56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58240" y="5412727"/>
            <a:ext cx="91440" cy="5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49680" y="5418245"/>
            <a:ext cx="91440" cy="53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41120" y="5423609"/>
            <a:ext cx="91440" cy="5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32560" y="5428808"/>
            <a:ext cx="91440" cy="50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24000" y="5433833"/>
            <a:ext cx="91440" cy="48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15440" y="5438675"/>
            <a:ext cx="91440" cy="46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06880" y="5443325"/>
            <a:ext cx="91440" cy="44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98320" y="5447773"/>
            <a:ext cx="91440" cy="4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89760" y="5452013"/>
            <a:ext cx="91439" cy="40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1199" y="5456036"/>
            <a:ext cx="91441" cy="37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72640" y="5459835"/>
            <a:ext cx="91440" cy="35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64080" y="5463403"/>
            <a:ext cx="91440" cy="33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55520" y="5466733"/>
            <a:ext cx="91440" cy="30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46960" y="5469820"/>
            <a:ext cx="91440" cy="28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438400" y="5472657"/>
            <a:ext cx="91440" cy="2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29840" y="5475239"/>
            <a:ext cx="91440" cy="2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21280" y="5477562"/>
            <a:ext cx="91440" cy="20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12720" y="5479621"/>
            <a:ext cx="91440" cy="179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04160" y="5481413"/>
            <a:ext cx="91440" cy="15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95600" y="5482934"/>
            <a:ext cx="91440" cy="12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87040" y="5484182"/>
            <a:ext cx="91440" cy="9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078480" y="5485154"/>
            <a:ext cx="91440" cy="6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169920" y="5485848"/>
            <a:ext cx="91440" cy="4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61360" y="5486264"/>
            <a:ext cx="91440" cy="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52800" y="5486255"/>
            <a:ext cx="91440" cy="1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444240" y="5485832"/>
            <a:ext cx="91440" cy="4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35680" y="5485129"/>
            <a:ext cx="91440" cy="7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27120" y="5484149"/>
            <a:ext cx="91440" cy="98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718560" y="5482893"/>
            <a:ext cx="91440" cy="1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810000" y="5481364"/>
            <a:ext cx="91440" cy="1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901440" y="5479564"/>
            <a:ext cx="91439" cy="18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92879" y="5477497"/>
            <a:ext cx="91441" cy="20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84320" y="5475166"/>
            <a:ext cx="91440" cy="2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75760" y="5472576"/>
            <a:ext cx="91440" cy="2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67200" y="5469732"/>
            <a:ext cx="91440" cy="28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58640" y="5466638"/>
            <a:ext cx="91440" cy="3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50080" y="5463301"/>
            <a:ext cx="91440" cy="33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41520" y="5459726"/>
            <a:ext cx="91440" cy="3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32960" y="5455921"/>
            <a:ext cx="91440" cy="38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24400" y="5451891"/>
            <a:ext cx="91440" cy="4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815840" y="5447645"/>
            <a:ext cx="91440" cy="4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907280" y="5443190"/>
            <a:ext cx="91440" cy="44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998720" y="5438535"/>
            <a:ext cx="91440" cy="46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090160" y="5433688"/>
            <a:ext cx="91440" cy="4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181600" y="5428657"/>
            <a:ext cx="91440" cy="50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273040" y="5423453"/>
            <a:ext cx="91440" cy="52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64480" y="5418085"/>
            <a:ext cx="91440" cy="53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455920" y="5412562"/>
            <a:ext cx="91440" cy="5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547360" y="5406895"/>
            <a:ext cx="91440" cy="56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38800" y="5401094"/>
            <a:ext cx="91440" cy="58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730240" y="5395170"/>
            <a:ext cx="91440" cy="59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821680" y="5389133"/>
            <a:ext cx="91440" cy="60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13120" y="5382995"/>
            <a:ext cx="91440" cy="61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004560" y="5376767"/>
            <a:ext cx="91440" cy="6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096000" y="5370461"/>
            <a:ext cx="91440" cy="630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187440" y="5364088"/>
            <a:ext cx="91440" cy="6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278880" y="5357659"/>
            <a:ext cx="91440" cy="64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370320" y="5351187"/>
            <a:ext cx="91440" cy="64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461760" y="5344684"/>
            <a:ext cx="91440" cy="6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553200" y="5338161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4640" y="5331630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736080" y="5325103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827520" y="5318593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918960" y="5312111"/>
            <a:ext cx="91440" cy="6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010400" y="5305670"/>
            <a:ext cx="91440" cy="644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101840" y="5299280"/>
            <a:ext cx="91440" cy="63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193280" y="5292954"/>
            <a:ext cx="91440" cy="63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284720" y="5286704"/>
            <a:ext cx="91440" cy="62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376160" y="5280540"/>
            <a:ext cx="91439" cy="61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467599" y="5274475"/>
            <a:ext cx="91441" cy="60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559040" y="5268519"/>
            <a:ext cx="91440" cy="59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650480" y="5262683"/>
            <a:ext cx="91440" cy="5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741920" y="5256978"/>
            <a:ext cx="91440" cy="57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33360" y="5251414"/>
            <a:ext cx="91439" cy="55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924799" y="5246003"/>
            <a:ext cx="91441" cy="5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016240" y="5240752"/>
            <a:ext cx="91440" cy="5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107680" y="5235673"/>
            <a:ext cx="91440" cy="5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199120" y="5230775"/>
            <a:ext cx="91440" cy="48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290560" y="5226066"/>
            <a:ext cx="91439" cy="47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381999" y="5221556"/>
            <a:ext cx="91441" cy="4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73440" y="5217252"/>
            <a:ext cx="91440" cy="43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564880" y="5213162"/>
            <a:ext cx="91440" cy="4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656320" y="5209294"/>
            <a:ext cx="91440" cy="38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747760" y="5205655"/>
            <a:ext cx="91440" cy="36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839200" y="5202252"/>
            <a:ext cx="91440" cy="34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930640" y="5199091"/>
            <a:ext cx="91440" cy="31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22080" y="5196178"/>
            <a:ext cx="91440" cy="29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113520" y="5193517"/>
            <a:ext cx="91440" cy="2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204960" y="5191115"/>
            <a:ext cx="91440" cy="24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296400" y="5188975"/>
            <a:ext cx="91440" cy="2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387840" y="5187102"/>
            <a:ext cx="91440" cy="18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479280" y="5185498"/>
            <a:ext cx="91440" cy="16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570720" y="5184167"/>
            <a:ext cx="91440" cy="1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662160" y="5183111"/>
            <a:ext cx="91440" cy="10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753600" y="5182332"/>
            <a:ext cx="91440" cy="7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845040" y="5181832"/>
            <a:ext cx="91440" cy="5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936480" y="5181611"/>
            <a:ext cx="91440" cy="2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027920" y="5181611"/>
            <a:ext cx="91440" cy="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119360" y="5181670"/>
            <a:ext cx="91440" cy="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210800" y="5182009"/>
            <a:ext cx="91440" cy="6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302240" y="5182627"/>
            <a:ext cx="91440" cy="8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393680" y="5183523"/>
            <a:ext cx="91440" cy="11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485120" y="5184695"/>
            <a:ext cx="91440" cy="14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576560" y="5186141"/>
            <a:ext cx="91440" cy="17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668000" y="5187859"/>
            <a:ext cx="91440" cy="19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759440" y="5189846"/>
            <a:ext cx="91440" cy="2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850880" y="5192097"/>
            <a:ext cx="91440" cy="25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942320" y="5194609"/>
            <a:ext cx="91440" cy="27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033760" y="5197376"/>
            <a:ext cx="91440" cy="301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125200" y="5200395"/>
            <a:ext cx="91440" cy="3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1216640" y="5203659"/>
            <a:ext cx="91440" cy="3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1308080" y="5207162"/>
            <a:ext cx="91440" cy="37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399520" y="5210898"/>
            <a:ext cx="91440" cy="3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09600" y="5517997"/>
            <a:ext cx="91440" cy="45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01040" y="5522513"/>
            <a:ext cx="91440" cy="43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92480" y="5526823"/>
            <a:ext cx="91440" cy="40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83920" y="5530920"/>
            <a:ext cx="91440" cy="38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75360" y="5534794"/>
            <a:ext cx="91440" cy="36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66800" y="5538440"/>
            <a:ext cx="91440" cy="3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158240" y="5541850"/>
            <a:ext cx="91440" cy="31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249680" y="5545018"/>
            <a:ext cx="91440" cy="2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341120" y="5547939"/>
            <a:ext cx="91440" cy="26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432560" y="5550607"/>
            <a:ext cx="91440" cy="2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524000" y="5553017"/>
            <a:ext cx="91440" cy="2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615440" y="5555164"/>
            <a:ext cx="91440" cy="18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706880" y="5557046"/>
            <a:ext cx="91440" cy="1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798320" y="5558658"/>
            <a:ext cx="91440" cy="1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889760" y="5559997"/>
            <a:ext cx="91439" cy="10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981199" y="5561061"/>
            <a:ext cx="91441" cy="7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072640" y="5561848"/>
            <a:ext cx="91440" cy="5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164080" y="5562356"/>
            <a:ext cx="91440" cy="2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255520" y="5562535"/>
            <a:ext cx="91440" cy="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346960" y="5562204"/>
            <a:ext cx="91440" cy="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38400" y="5561594"/>
            <a:ext cx="91440" cy="6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529840" y="5560707"/>
            <a:ext cx="91440" cy="8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621280" y="5559542"/>
            <a:ext cx="91440" cy="11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712720" y="5558104"/>
            <a:ext cx="91440" cy="14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804160" y="5556394"/>
            <a:ext cx="91440" cy="17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95600" y="5554416"/>
            <a:ext cx="91440" cy="197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987040" y="5552172"/>
            <a:ext cx="91440" cy="22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3078480" y="5549668"/>
            <a:ext cx="91440" cy="25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3169920" y="5546908"/>
            <a:ext cx="91440" cy="27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3261360" y="5543897"/>
            <a:ext cx="91440" cy="30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352800" y="5540640"/>
            <a:ext cx="91440" cy="32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444240" y="5537144"/>
            <a:ext cx="91440" cy="34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535680" y="5533414"/>
            <a:ext cx="91440" cy="37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627120" y="5529459"/>
            <a:ext cx="91440" cy="39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718560" y="5525284"/>
            <a:ext cx="91440" cy="4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810000" y="5520898"/>
            <a:ext cx="91440" cy="43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901440" y="5516308"/>
            <a:ext cx="91439" cy="4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992879" y="5511524"/>
            <a:ext cx="91441" cy="4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084320" y="5506554"/>
            <a:ext cx="91440" cy="49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175760" y="5501407"/>
            <a:ext cx="91440" cy="5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267200" y="5496092"/>
            <a:ext cx="91440" cy="5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358640" y="5490619"/>
            <a:ext cx="91440" cy="5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450080" y="5484999"/>
            <a:ext cx="91440" cy="5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541520" y="5479242"/>
            <a:ext cx="91440" cy="57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632960" y="5473357"/>
            <a:ext cx="91440" cy="588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724400" y="5467357"/>
            <a:ext cx="91440" cy="60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815840" y="5461252"/>
            <a:ext cx="91440" cy="61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907280" y="5455053"/>
            <a:ext cx="91440" cy="6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998720" y="5448771"/>
            <a:ext cx="91440" cy="62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090160" y="5442419"/>
            <a:ext cx="91440" cy="63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5181600" y="5436008"/>
            <a:ext cx="91440" cy="6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5273040" y="5429549"/>
            <a:ext cx="91440" cy="64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364480" y="5423054"/>
            <a:ext cx="91440" cy="64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5455920" y="5416536"/>
            <a:ext cx="91440" cy="6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547360" y="5410007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638800" y="5403478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730240" y="5396961"/>
            <a:ext cx="91440" cy="6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5821680" y="5390468"/>
            <a:ext cx="91440" cy="64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5913120" y="5384012"/>
            <a:ext cx="91440" cy="64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004560" y="5377603"/>
            <a:ext cx="91440" cy="64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096000" y="5371255"/>
            <a:ext cx="91440" cy="63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187440" y="5364978"/>
            <a:ext cx="91440" cy="62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278880" y="5358784"/>
            <a:ext cx="91440" cy="6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370320" y="5352685"/>
            <a:ext cx="91440" cy="60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461760" y="5346691"/>
            <a:ext cx="91440" cy="59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553200" y="5340814"/>
            <a:ext cx="91440" cy="58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4640" y="5335064"/>
            <a:ext cx="91440" cy="57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736080" y="5329452"/>
            <a:ext cx="91440" cy="5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827520" y="5323989"/>
            <a:ext cx="91440" cy="54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918960" y="5318684"/>
            <a:ext cx="91440" cy="53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7010400" y="5313547"/>
            <a:ext cx="91440" cy="51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7101840" y="5308587"/>
            <a:ext cx="91440" cy="49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7193280" y="5303814"/>
            <a:ext cx="91440" cy="47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7284720" y="5299237"/>
            <a:ext cx="91440" cy="45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376160" y="5294863"/>
            <a:ext cx="91439" cy="43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467599" y="5290701"/>
            <a:ext cx="91441" cy="41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559040" y="5286758"/>
            <a:ext cx="91440" cy="39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650480" y="5283042"/>
            <a:ext cx="91440" cy="37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741920" y="5279560"/>
            <a:ext cx="91440" cy="3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833360" y="5276318"/>
            <a:ext cx="91439" cy="32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924799" y="5273321"/>
            <a:ext cx="91441" cy="29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8016240" y="5270576"/>
            <a:ext cx="91440" cy="27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8107680" y="5268087"/>
            <a:ext cx="91440" cy="24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8199120" y="5265859"/>
            <a:ext cx="91440" cy="2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290560" y="5263897"/>
            <a:ext cx="91439" cy="1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8381999" y="5262202"/>
            <a:ext cx="91441" cy="16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473440" y="5260780"/>
            <a:ext cx="91440" cy="14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8564880" y="5259632"/>
            <a:ext cx="91440" cy="11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656320" y="5258761"/>
            <a:ext cx="91440" cy="8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747760" y="5258168"/>
            <a:ext cx="91440" cy="5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839200" y="5257854"/>
            <a:ext cx="91440" cy="3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930640" y="5257819"/>
            <a:ext cx="91440" cy="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9022080" y="5257819"/>
            <a:ext cx="91440" cy="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9113520" y="5258065"/>
            <a:ext cx="91440" cy="5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9204960" y="5258590"/>
            <a:ext cx="91440" cy="8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296400" y="5259393"/>
            <a:ext cx="91440" cy="10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387840" y="5260474"/>
            <a:ext cx="91440" cy="13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479280" y="5261829"/>
            <a:ext cx="91440" cy="16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570720" y="5263457"/>
            <a:ext cx="91440" cy="18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662160" y="5265354"/>
            <a:ext cx="91440" cy="21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753600" y="5267517"/>
            <a:ext cx="91440" cy="2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845040" y="5269943"/>
            <a:ext cx="91440" cy="26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936480" y="5272625"/>
            <a:ext cx="91440" cy="29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0027920" y="5275561"/>
            <a:ext cx="91440" cy="318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0119360" y="5278744"/>
            <a:ext cx="91440" cy="34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0210800" y="5282168"/>
            <a:ext cx="91440" cy="3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0302240" y="5285827"/>
            <a:ext cx="91440" cy="38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0393680" y="5289715"/>
            <a:ext cx="91440" cy="41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485120" y="5293824"/>
            <a:ext cx="91440" cy="4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576560" y="5298147"/>
            <a:ext cx="91440" cy="45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668000" y="5302675"/>
            <a:ext cx="91440" cy="47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759440" y="5307401"/>
            <a:ext cx="91440" cy="49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850880" y="5312316"/>
            <a:ext cx="91440" cy="5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942320" y="5317410"/>
            <a:ext cx="91440" cy="52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1033760" y="5322675"/>
            <a:ext cx="91440" cy="5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1125200" y="5328101"/>
            <a:ext cx="91440" cy="55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1216640" y="5333677"/>
            <a:ext cx="91440" cy="57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1308080" y="5339394"/>
            <a:ext cx="91440" cy="5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1399520" y="5345241"/>
            <a:ext cx="91440" cy="596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09600" y="5632648"/>
            <a:ext cx="91440" cy="17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701040" y="5634350"/>
            <a:ext cx="91440" cy="14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92480" y="5635781"/>
            <a:ext cx="91440" cy="1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83920" y="5636937"/>
            <a:ext cx="91440" cy="8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75360" y="5637816"/>
            <a:ext cx="91440" cy="6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66800" y="5638418"/>
            <a:ext cx="91440" cy="3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158240" y="5638740"/>
            <a:ext cx="91440" cy="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249680" y="5638545"/>
            <a:ext cx="91440" cy="2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341120" y="5638028"/>
            <a:ext cx="91440" cy="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432560" y="5637233"/>
            <a:ext cx="91440" cy="7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524000" y="5636161"/>
            <a:ext cx="91440" cy="10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615440" y="5634814"/>
            <a:ext cx="91440" cy="13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706880" y="5633194"/>
            <a:ext cx="91440" cy="1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798320" y="5631305"/>
            <a:ext cx="91440" cy="18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889760" y="5629149"/>
            <a:ext cx="91439" cy="2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981199" y="5626732"/>
            <a:ext cx="91441" cy="24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072640" y="5624056"/>
            <a:ext cx="91440" cy="26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164080" y="5621128"/>
            <a:ext cx="91440" cy="2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2255520" y="5617953"/>
            <a:ext cx="91440" cy="3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346960" y="5614535"/>
            <a:ext cx="91440" cy="34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438400" y="5610883"/>
            <a:ext cx="91440" cy="36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529840" y="5607002"/>
            <a:ext cx="91440" cy="38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621280" y="5602899"/>
            <a:ext cx="91440" cy="41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712720" y="5598583"/>
            <a:ext cx="91440" cy="43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804160" y="5594060"/>
            <a:ext cx="91440" cy="4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895600" y="5589340"/>
            <a:ext cx="91440" cy="47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987040" y="5584431"/>
            <a:ext cx="91440" cy="49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078480" y="5579341"/>
            <a:ext cx="91440" cy="5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3169920" y="5574081"/>
            <a:ext cx="91440" cy="52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3261360" y="5568660"/>
            <a:ext cx="91440" cy="54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352800" y="5563088"/>
            <a:ext cx="91440" cy="55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444240" y="5557375"/>
            <a:ext cx="91440" cy="57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535680" y="5551532"/>
            <a:ext cx="91440" cy="58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627120" y="5545569"/>
            <a:ext cx="91440" cy="5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718560" y="5539498"/>
            <a:ext cx="91440" cy="60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3810000" y="5533329"/>
            <a:ext cx="91440" cy="61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3901440" y="5527073"/>
            <a:ext cx="91439" cy="6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992879" y="5520744"/>
            <a:ext cx="91441" cy="63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084320" y="5514351"/>
            <a:ext cx="91440" cy="63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175760" y="5507906"/>
            <a:ext cx="91440" cy="64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267200" y="5501422"/>
            <a:ext cx="91440" cy="64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358640" y="5494911"/>
            <a:ext cx="91440" cy="65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450080" y="5488384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541520" y="5481853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632960" y="5475331"/>
            <a:ext cx="91440" cy="65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724400" y="5468829"/>
            <a:ext cx="91440" cy="65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815840" y="5462359"/>
            <a:ext cx="91440" cy="64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907280" y="5455933"/>
            <a:ext cx="91440" cy="6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998720" y="5449564"/>
            <a:ext cx="91440" cy="63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090160" y="5443262"/>
            <a:ext cx="91440" cy="63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181600" y="5437039"/>
            <a:ext cx="91440" cy="62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273040" y="5430907"/>
            <a:ext cx="91440" cy="61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364480" y="5424877"/>
            <a:ext cx="91440" cy="6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455920" y="5418959"/>
            <a:ext cx="91440" cy="59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547360" y="5413166"/>
            <a:ext cx="91440" cy="5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638800" y="5407507"/>
            <a:ext cx="91440" cy="5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730240" y="5401993"/>
            <a:ext cx="91440" cy="55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821680" y="5396634"/>
            <a:ext cx="91440" cy="53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913120" y="5391440"/>
            <a:ext cx="91440" cy="5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6004560" y="5386420"/>
            <a:ext cx="91440" cy="50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096000" y="5381584"/>
            <a:ext cx="91440" cy="4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6187440" y="5376940"/>
            <a:ext cx="91440" cy="46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278880" y="5372498"/>
            <a:ext cx="91440" cy="44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370320" y="5368264"/>
            <a:ext cx="91440" cy="423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461760" y="5364248"/>
            <a:ext cx="91440" cy="40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553200" y="5360455"/>
            <a:ext cx="91440" cy="3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644640" y="5356894"/>
            <a:ext cx="91440" cy="35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736080" y="5353571"/>
            <a:ext cx="91440" cy="3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827520" y="5350492"/>
            <a:ext cx="91440" cy="3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918960" y="5347663"/>
            <a:ext cx="91440" cy="28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7010400" y="5345088"/>
            <a:ext cx="91440" cy="2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7101840" y="5342773"/>
            <a:ext cx="91440" cy="2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7193280" y="5340721"/>
            <a:ext cx="91440" cy="20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7284720" y="5338937"/>
            <a:ext cx="91440" cy="1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7376160" y="5337424"/>
            <a:ext cx="91439" cy="15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7467599" y="5336184"/>
            <a:ext cx="91441" cy="1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7559040" y="5335221"/>
            <a:ext cx="91440" cy="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7650480" y="5334535"/>
            <a:ext cx="91440" cy="6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7741920" y="5334127"/>
            <a:ext cx="91440" cy="4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7833360" y="5334000"/>
            <a:ext cx="91439" cy="1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7924799" y="5334000"/>
            <a:ext cx="91441" cy="1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8016240" y="5334152"/>
            <a:ext cx="91440" cy="4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8107680" y="5334584"/>
            <a:ext cx="91440" cy="7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8199120" y="5335295"/>
            <a:ext cx="91440" cy="9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8290560" y="5336283"/>
            <a:ext cx="91439" cy="1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8381999" y="5337547"/>
            <a:ext cx="91441" cy="15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8473440" y="5339084"/>
            <a:ext cx="91440" cy="18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8564880" y="5340892"/>
            <a:ext cx="91440" cy="20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8656320" y="5342967"/>
            <a:ext cx="91440" cy="23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8747760" y="5345305"/>
            <a:ext cx="91440" cy="25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8839200" y="5347903"/>
            <a:ext cx="91440" cy="28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930640" y="5350755"/>
            <a:ext cx="91440" cy="31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9022080" y="5353856"/>
            <a:ext cx="91440" cy="33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9113520" y="5357200"/>
            <a:ext cx="91440" cy="3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9204960" y="5360782"/>
            <a:ext cx="91440" cy="38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9296400" y="5364594"/>
            <a:ext cx="91440" cy="4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9387840" y="5368630"/>
            <a:ext cx="91440" cy="42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9479280" y="5372883"/>
            <a:ext cx="91440" cy="44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9570720" y="5377343"/>
            <a:ext cx="91440" cy="4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9662160" y="5382004"/>
            <a:ext cx="91440" cy="48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9753600" y="5386857"/>
            <a:ext cx="91440" cy="5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9845040" y="5391893"/>
            <a:ext cx="91440" cy="52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9936480" y="5397102"/>
            <a:ext cx="91440" cy="5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0027920" y="5402475"/>
            <a:ext cx="91440" cy="5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0119360" y="5408002"/>
            <a:ext cx="91440" cy="56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0210800" y="5413674"/>
            <a:ext cx="91440" cy="58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0302240" y="5419478"/>
            <a:ext cx="91440" cy="5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0393680" y="5425406"/>
            <a:ext cx="91440" cy="60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0485120" y="5431446"/>
            <a:ext cx="91440" cy="6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0576560" y="5437586"/>
            <a:ext cx="91440" cy="62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0668000" y="5443817"/>
            <a:ext cx="91440" cy="63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0759440" y="5450125"/>
            <a:ext cx="91440" cy="63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0850880" y="5456500"/>
            <a:ext cx="91440" cy="64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0942320" y="5462930"/>
            <a:ext cx="91440" cy="6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1033760" y="5469403"/>
            <a:ext cx="91440" cy="65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1125200" y="5475908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1216640" y="5482431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1308080" y="5488962"/>
            <a:ext cx="91440" cy="65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1399520" y="5495488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数字图像的可信身份与实际使用需求。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大背景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图像不仅传递信息，也承载创意、品牌与资产价值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712720"/>
            <a:ext cx="2087880" cy="13258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71272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842260"/>
            <a:ext cx="18135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图像创作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3261360"/>
            <a:ext cx="18135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摄影／设计／生成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291840"/>
            <a:ext cx="57150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91939" y="2423160"/>
            <a:ext cx="1905000" cy="1905000"/>
          </a:xfrm>
          <a:prstGeom prst="ellipse">
            <a:avLst/>
          </a:prstGeom>
          <a:solidFill>
            <a:srgbClr val="133F62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6260" y="3032760"/>
            <a:ext cx="1600200" cy="4907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264"/>
              </a:lnSpc>
              <a:spcAft>
                <a:spcPts val="0"/>
              </a:spcAft>
              <a:defRPr sz="2400" b="1">
                <a:solidFill>
                  <a:srgbClr val="F2F6FB"/>
                </a:solidFill>
                <a:latin typeface="Microsoft YaHei"/>
              </a:defRPr>
            </a:pPr>
            <a:r>
              <a:t>数字图像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7220" y="3528060"/>
            <a:ext cx="1447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可复制 · 易流转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103620" y="2392680"/>
            <a:ext cx="1516380" cy="98298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20000" y="1950720"/>
            <a:ext cx="4061460" cy="9601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620000" y="195072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57159" y="2080260"/>
            <a:ext cx="3787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内容传播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7159" y="2499360"/>
            <a:ext cx="3787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新闻、社交与知识交流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03620" y="3375660"/>
            <a:ext cx="1516380" cy="29718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20000" y="3230880"/>
            <a:ext cx="4061460" cy="9601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620000" y="32308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57159" y="3360420"/>
            <a:ext cx="3787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创意表达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7159" y="3779520"/>
            <a:ext cx="3787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设计、艺术与数字文创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03620" y="3375660"/>
            <a:ext cx="1516380" cy="157734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20000" y="4511040"/>
            <a:ext cx="4061460" cy="9601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620000" y="451104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7159" y="4640580"/>
            <a:ext cx="3787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商业使用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7159" y="5059680"/>
            <a:ext cx="3787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品牌营销与素材交付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740" y="4998720"/>
            <a:ext cx="5257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EED175"/>
                </a:solidFill>
                <a:latin typeface="Microsoft YaHei"/>
              </a:defRPr>
            </a:pPr>
            <a:r>
              <a:t>价值依赖使用，使用需要可信线索。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来源身份，是图像价值被可靠使用的重要基础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核心矛盾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画面可以完整保留，来源说明却可能在传播中脱落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3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2381250"/>
            <a:ext cx="1691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0580" y="4061460"/>
            <a:ext cx="1920240" cy="335280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780" y="4107179"/>
            <a:ext cx="17678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092B4A"/>
                </a:solidFill>
                <a:latin typeface="Microsoft YaHei"/>
              </a:defRPr>
            </a:pPr>
            <a:r>
              <a:t>来源：拾光设计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2F6FB"/>
                </a:solidFill>
                <a:latin typeface="Microsoft YaHei"/>
              </a:defRPr>
            </a:pPr>
            <a:r>
              <a:t>创作者交付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图片＋署名＋使用说明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580" y="238125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82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2F6FB"/>
                </a:solidFill>
                <a:latin typeface="Microsoft YaHei"/>
              </a:defRPr>
            </a:pPr>
            <a:r>
              <a:t>群聊／平台转发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图片被另存、改名或编辑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97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381250"/>
            <a:ext cx="169164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249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2F6FB"/>
                </a:solidFill>
                <a:latin typeface="Microsoft YaHei"/>
              </a:defRPr>
            </a:pPr>
            <a:r>
              <a:t>再次收到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49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可见内容，难核对来处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23260" y="3154680"/>
            <a:ext cx="91440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261860" y="3154680"/>
            <a:ext cx="91440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4400" y="171450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1080" y="176022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来源说明未随图保留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需要让可核验的身份线索进入图像本身，而非只依赖附件说明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需求分析 · 问题剖析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真正的断点，发生在“制作—交付—再次使用”的责任交接处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80260"/>
            <a:ext cx="3467100" cy="19354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0802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2098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制作端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6289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署名与身份在交付说明中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EED175"/>
                </a:solidFill>
                <a:latin typeface="Microsoft YaHei"/>
              </a:defRPr>
            </a:pPr>
            <a:r>
              <a:t>需求：身份随图保留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08120" y="2910840"/>
            <a:ext cx="30480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1500" y="2080260"/>
            <a:ext cx="3467100" cy="19354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381500" y="20802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18660" y="22098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交付端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660" y="26289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多个合作方持有相似版本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EED175"/>
                </a:solidFill>
                <a:latin typeface="Microsoft YaHei"/>
              </a:defRPr>
            </a:pPr>
            <a:r>
              <a:t>需求：统一作品与批次登记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94320" y="2910840"/>
            <a:ext cx="30480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7699" y="2080260"/>
            <a:ext cx="3467100" cy="19354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67699" y="20802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04860" y="22098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使用端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860" y="26289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再次收到图片时缺少材料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EED175"/>
                </a:solidFill>
                <a:latin typeface="Microsoft YaHei"/>
              </a:defRPr>
            </a:pPr>
            <a:r>
              <a:t>需求：直接上传并关联线索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" y="4533900"/>
            <a:ext cx="107823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2F6FB"/>
                </a:solidFill>
                <a:latin typeface="Microsoft YaHei"/>
              </a:defRPr>
            </a:pPr>
            <a:r>
              <a:t>核心用户：品牌设计／店铺运营／审核人员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" y="5021580"/>
            <a:ext cx="107823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3D4E3"/>
                </a:solidFill>
                <a:latin typeface="Microsoft YaHei"/>
              </a:defRPr>
            </a:pPr>
            <a:r>
              <a:t>关键约束：图片观感、低操作成本、授权材料与隐私边界。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需求来自交接任务，技术选型围绕交接中的信息断点展开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需求分析 · 调研方法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访谈问清真实经历，任务观察检验实际操作成本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49780"/>
            <a:ext cx="3467100" cy="21793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04978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17932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样本与角色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59842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设计3人／运营3人／审核2人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C3D4E3"/>
                </a:solidFill>
                <a:latin typeface="Microsoft YaHei"/>
              </a:defRPr>
            </a:pPr>
            <a:r>
              <a:t>覆盖生成、交付和再次使用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049780"/>
            <a:ext cx="3467100" cy="21793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81500" y="20497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18660" y="217932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访谈与案例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660" y="259842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追问最近一次真实交付经历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C3D4E3"/>
                </a:solidFill>
                <a:latin typeface="Microsoft YaHei"/>
              </a:defRPr>
            </a:pPr>
            <a:r>
              <a:t>保留匿名原话与材料出处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7699" y="2049780"/>
            <a:ext cx="3467100" cy="21793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67699" y="204978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04860" y="217932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任务对照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860" y="259842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人工追问 ↔ 系统核验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01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C3D4E3"/>
                </a:solidFill>
                <a:latin typeface="Microsoft YaHei"/>
              </a:defRPr>
            </a:pPr>
            <a:r>
              <a:t>同图同任务，记录正确与用时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" y="4709160"/>
            <a:ext cx="107442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" y="4754880"/>
            <a:ext cx="1053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调研输出：真实案例 → 痛点频次／严重度 → 功能优先级 → 验收条件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" y="5280660"/>
            <a:ext cx="10744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2F6FB"/>
                </a:solidFill>
                <a:latin typeface="Microsoft YaHei"/>
              </a:defRPr>
            </a:pPr>
            <a:r>
              <a:t>避免只问“是否需要保护”，重点观察“现在怎样找来源、在哪里卡住”。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调研方案以可追查记录为证据，问卷意愿不能替代真实任务表现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需求分析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把用户的疑问，转化为可实现、可验收的系统要求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299" y="2004060"/>
            <a:ext cx="3505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EED175"/>
                </a:solidFill>
                <a:latin typeface="Microsoft YaHei"/>
              </a:defRPr>
            </a:pPr>
            <a:r>
              <a:t>用户疑问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436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EED175"/>
                </a:solidFill>
                <a:latin typeface="Microsoft YaHei"/>
              </a:defRPr>
            </a:pPr>
            <a:r>
              <a:t>系统要求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EED175"/>
                </a:solidFill>
                <a:latin typeface="Microsoft YaHei"/>
              </a:defRPr>
            </a:pPr>
            <a:r>
              <a:t>验收关注点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299" y="2552700"/>
            <a:ext cx="35052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69748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加标识会不会影响图片？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4360" y="255270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66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生成保护＋前后对照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5270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视觉质量与局部细节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299" y="3261360"/>
            <a:ext cx="35052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40614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收到图片后怎么找到来源？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4360" y="326136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866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直接上传＋恢复编号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6136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390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匹配正确率与无法确认率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299" y="3970020"/>
            <a:ext cx="35052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411480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这个结果能不能直接使用？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4360" y="397002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866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登记展示＋授权辅助检查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002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信息完整性与复核提示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299" y="4678680"/>
            <a:ext cx="35052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82346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图片太多，能否重复查阅？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4360" y="467868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866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素材与核验记录统一管理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678680"/>
            <a:ext cx="34671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390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任务耗时与记录可追查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访谈与任务观察 → 需求优先级 → 功能设计 → 验收指标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验证场景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用一张电商营销图，贯穿生成、交付与再次核验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73580"/>
            <a:ext cx="3467100" cy="5334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品牌／设计方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4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980" y="2895600"/>
            <a:ext cx="1539240" cy="153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49680" y="4351020"/>
            <a:ext cx="1767840" cy="335280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396740"/>
            <a:ext cx="16154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092B4A"/>
                </a:solidFill>
                <a:latin typeface="Microsoft YaHei"/>
              </a:defRPr>
            </a:pPr>
            <a:r>
              <a:t>作品编号：TS-001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3D4E3"/>
                </a:solidFill>
                <a:latin typeface="Microsoft YaHei"/>
              </a:defRPr>
            </a:pPr>
            <a:r>
              <a:t>制作与交付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15740" y="3459480"/>
            <a:ext cx="28956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500" y="1973580"/>
            <a:ext cx="3467100" cy="5334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合作／传播方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16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180" y="2895600"/>
            <a:ext cx="1539240" cy="1539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39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3D4E3"/>
                </a:solidFill>
                <a:latin typeface="Microsoft YaHei"/>
              </a:defRPr>
            </a:pPr>
            <a:r>
              <a:t>接收与再次传播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01940" y="3459480"/>
            <a:ext cx="28956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7699" y="1973580"/>
            <a:ext cx="3467100" cy="5334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01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运营／审核方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8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380" y="2895600"/>
            <a:ext cx="1539240" cy="1539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201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3D4E3"/>
                </a:solidFill>
                <a:latin typeface="Microsoft YaHei"/>
              </a:defRPr>
            </a:pPr>
            <a:r>
              <a:t>收到图片并决定使用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2900" y="5356860"/>
            <a:ext cx="3352800" cy="327660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9579" y="5402580"/>
            <a:ext cx="31394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092B4A"/>
                </a:solidFill>
                <a:latin typeface="Microsoft YaHei"/>
              </a:defRPr>
            </a:pPr>
            <a:r>
              <a:t>上传收到的图 → 查找来源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用户不必知道图片经历过哪些处理，也能发起来源查找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现有方案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单一保护方式，难以覆盖传播后的完整核验任务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87880"/>
            <a:ext cx="1905000" cy="41910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217932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92B4A"/>
                </a:solidFill>
                <a:latin typeface="Microsoft YaHei"/>
              </a:defRPr>
            </a:pPr>
            <a:r>
              <a:t>现有方式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7460" y="2087880"/>
            <a:ext cx="3581400" cy="41910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9380" y="217932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92B4A"/>
                </a:solidFill>
                <a:latin typeface="Microsoft YaHei"/>
              </a:defRPr>
            </a:pPr>
            <a:r>
              <a:t>能够解决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0" y="2087880"/>
            <a:ext cx="5448300" cy="41910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320" y="217932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92B4A"/>
                </a:solidFill>
                <a:latin typeface="Microsoft YaHei"/>
              </a:defRPr>
            </a:pPr>
            <a:r>
              <a:t>传播后仍存在的缺口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99" y="2514600"/>
            <a:ext cx="1905000" cy="70866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" y="268224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可见署名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7460" y="2514600"/>
            <a:ext cx="3581400" cy="70866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9380" y="268224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直接展示作者或品牌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2514600"/>
            <a:ext cx="5448300" cy="70866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320" y="268224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可能被覆盖或裁掉，也会占用画面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246120"/>
            <a:ext cx="1905000" cy="708660"/>
          </a:xfrm>
          <a:prstGeom prst="rect">
            <a:avLst/>
          </a:prstGeom>
          <a:solidFill>
            <a:srgbClr val="092B4A"/>
          </a:solidFill>
          <a:ln>
            <a:solidFill>
              <a:srgbClr val="09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341376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元数据／文件名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7460" y="3246120"/>
            <a:ext cx="3581400" cy="708660"/>
          </a:xfrm>
          <a:prstGeom prst="rect">
            <a:avLst/>
          </a:prstGeom>
          <a:solidFill>
            <a:srgbClr val="092B4A"/>
          </a:solidFill>
          <a:ln>
            <a:solidFill>
              <a:srgbClr val="09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9380" y="341376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保存创建与来源说明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8400" y="3246120"/>
            <a:ext cx="5448300" cy="708660"/>
          </a:xfrm>
          <a:prstGeom prst="rect">
            <a:avLst/>
          </a:prstGeom>
          <a:solidFill>
            <a:srgbClr val="092B4A"/>
          </a:solidFill>
          <a:ln>
            <a:solidFill>
              <a:srgbClr val="09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320" y="341376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信息可能在平台转发、改名时丢失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299" y="3977639"/>
            <a:ext cx="1905000" cy="70866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414528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相似图检索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37460" y="3977639"/>
            <a:ext cx="3581400" cy="70866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9380" y="414528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找到相似内容与候选作品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8400" y="3977639"/>
            <a:ext cx="5448300" cy="70866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0320" y="414528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2F6FB"/>
                </a:solidFill>
                <a:latin typeface="Microsoft YaHei"/>
              </a:defRPr>
            </a:pPr>
            <a:r>
              <a:t>相似不等于来源一致，更不等于有效授权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709160"/>
            <a:ext cx="1905000" cy="708660"/>
          </a:xfrm>
          <a:prstGeom prst="rect">
            <a:avLst/>
          </a:prstGeom>
          <a:solidFill>
            <a:srgbClr val="092B4A"/>
          </a:solidFill>
          <a:ln>
            <a:solidFill>
              <a:srgbClr val="09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" y="487680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2F6FB"/>
                </a:solidFill>
                <a:latin typeface="Microsoft YaHei"/>
              </a:defRPr>
            </a:pPr>
            <a:r>
              <a:t>隐形水印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37460" y="4709160"/>
            <a:ext cx="3581400" cy="708660"/>
          </a:xfrm>
          <a:prstGeom prst="rect">
            <a:avLst/>
          </a:prstGeom>
          <a:solidFill>
            <a:srgbClr val="092B4A"/>
          </a:solidFill>
          <a:ln>
            <a:solidFill>
              <a:srgbClr val="09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9380" y="487680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2F6FB"/>
                </a:solidFill>
                <a:latin typeface="Microsoft YaHei"/>
              </a:defRPr>
            </a:pPr>
            <a:r>
              <a:t>在图像中保存可检测信号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8400" y="4709160"/>
            <a:ext cx="5448300" cy="708660"/>
          </a:xfrm>
          <a:prstGeom prst="rect">
            <a:avLst/>
          </a:prstGeom>
          <a:solidFill>
            <a:srgbClr val="092B4A"/>
          </a:solidFill>
          <a:ln>
            <a:solidFill>
              <a:srgbClr val="09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0320" y="487680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2F6FB"/>
                </a:solidFill>
                <a:latin typeface="Microsoft YaHei"/>
              </a:defRPr>
            </a:pPr>
            <a:r>
              <a:t>仍需登记关联、误检控制与失败复核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图溯的切入点：把图像中的标识与登记、核验和复核流程连接起来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创新与壁垒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把研究方法转化为可使用、可复查的可信传播流程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81199"/>
            <a:ext cx="11201400" cy="70104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2141220"/>
            <a:ext cx="107442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2F6FB"/>
                </a:solidFill>
                <a:latin typeface="Microsoft YaHei"/>
              </a:defRPr>
            </a:pPr>
            <a:r>
              <a:t>研究基础：球形水印的编码、噪声构造与反演恢复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9800" y="2682240"/>
            <a:ext cx="0" cy="46482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95299" y="3147060"/>
            <a:ext cx="3467100" cy="1882139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95299" y="31470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2460" y="32766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流程融合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" y="36957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从生成、交付到再次核验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难点：算法与登记一致关联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2682240"/>
            <a:ext cx="0" cy="46482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81500" y="3147060"/>
            <a:ext cx="3467100" cy="1882139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381500" y="31470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18660" y="32766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低门槛核验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660" y="36957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收到图片后直接上传查询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难点：误检、冲突和无法确认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82200" y="2682240"/>
            <a:ext cx="0" cy="46482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67699" y="3147060"/>
            <a:ext cx="3467100" cy="1882139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67699" y="31470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04860" y="32766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可追查管理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860" y="36957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署名声明与核验记录衔接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01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难点：签名、隐私与记录安全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" y="538734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3D4E3"/>
                </a:solidFill>
                <a:latin typeface="Microsoft YaHei"/>
              </a:defRPr>
            </a:pPr>
            <a:r>
              <a:t>应用贡献围绕任务闭环展开，技术壁垒由稳定运行与严格验证积累。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场景融合与工程能力，需要用用户任务和真实数据证明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02  总体架构设计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77240" y="1897380"/>
            <a:ext cx="3421380" cy="3055620"/>
          </a:xfrm>
          <a:prstGeom prst="rect">
            <a:avLst/>
          </a:prstGeom>
          <a:solidFill>
            <a:srgbClr val="164B70"/>
          </a:solidFill>
          <a:ln>
            <a:solidFill>
              <a:srgbClr val="C6A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6320" y="2186940"/>
            <a:ext cx="2903220" cy="6705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36320" y="218694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3480" y="2316480"/>
            <a:ext cx="2628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生成与保护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6320" y="3093720"/>
            <a:ext cx="2903220" cy="6705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36320" y="309372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73480" y="3223260"/>
            <a:ext cx="2628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匿名登记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6320" y="4000500"/>
            <a:ext cx="2903220" cy="6705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36320" y="40005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73480" y="4130040"/>
            <a:ext cx="2628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来源核验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4120" y="2857500"/>
            <a:ext cx="0" cy="23622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84120" y="3764279"/>
            <a:ext cx="0" cy="236221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95800" y="2095499"/>
            <a:ext cx="0" cy="2941321"/>
          </a:xfrm>
          <a:prstGeom prst="line">
            <a:avLst/>
          </a:prstGeom>
          <a:ln w="22859">
            <a:solidFill>
              <a:srgbClr val="D1B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90160" y="2674620"/>
            <a:ext cx="627888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EFD79A"/>
                </a:solidFill>
                <a:latin typeface="Microsoft YaHei"/>
              </a:defRPr>
            </a:pPr>
            <a:r>
              <a:t>总体架构设计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1120" y="3589020"/>
            <a:ext cx="61112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8E5EE"/>
                </a:solidFill>
                <a:latin typeface="Microsoft YaHei"/>
              </a:defRPr>
            </a:pPr>
            <a:r>
              <a:t>从算法服务到用户操作的系统组织。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" y="5376952"/>
            <a:ext cx="91440" cy="62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1040" y="5383178"/>
            <a:ext cx="91440" cy="6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2480" y="5389313"/>
            <a:ext cx="91440" cy="603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920" y="5395346"/>
            <a:ext cx="91440" cy="5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5360" y="5401267"/>
            <a:ext cx="91440" cy="57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6800" y="5407064"/>
            <a:ext cx="91440" cy="56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58240" y="5412727"/>
            <a:ext cx="91440" cy="5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9680" y="5418245"/>
            <a:ext cx="91440" cy="53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41120" y="5423609"/>
            <a:ext cx="91440" cy="5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32560" y="5428808"/>
            <a:ext cx="91440" cy="50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24000" y="5433833"/>
            <a:ext cx="91440" cy="48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15440" y="5438675"/>
            <a:ext cx="91440" cy="46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06880" y="5443325"/>
            <a:ext cx="91440" cy="44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98320" y="5447773"/>
            <a:ext cx="91440" cy="4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89760" y="5452013"/>
            <a:ext cx="91439" cy="40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81199" y="5456036"/>
            <a:ext cx="91441" cy="37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72640" y="5459835"/>
            <a:ext cx="91440" cy="35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64080" y="5463403"/>
            <a:ext cx="91440" cy="33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55520" y="5466733"/>
            <a:ext cx="91440" cy="30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46960" y="5469820"/>
            <a:ext cx="91440" cy="28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38400" y="5472657"/>
            <a:ext cx="91440" cy="2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529840" y="5475239"/>
            <a:ext cx="91440" cy="2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21280" y="5477562"/>
            <a:ext cx="91440" cy="20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12720" y="5479621"/>
            <a:ext cx="91440" cy="179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04160" y="5481413"/>
            <a:ext cx="91440" cy="15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95600" y="5482934"/>
            <a:ext cx="91440" cy="12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7040" y="5484182"/>
            <a:ext cx="91440" cy="9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8480" y="5485154"/>
            <a:ext cx="91440" cy="6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69920" y="5485848"/>
            <a:ext cx="91440" cy="4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61360" y="5486264"/>
            <a:ext cx="91440" cy="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352800" y="5486255"/>
            <a:ext cx="91440" cy="1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444240" y="5485832"/>
            <a:ext cx="91440" cy="4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535680" y="5485129"/>
            <a:ext cx="91440" cy="7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627120" y="5484149"/>
            <a:ext cx="91440" cy="98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718560" y="5482893"/>
            <a:ext cx="91440" cy="1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10000" y="5481364"/>
            <a:ext cx="91440" cy="1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901440" y="5479564"/>
            <a:ext cx="91439" cy="18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992879" y="5477497"/>
            <a:ext cx="91441" cy="20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084320" y="5475166"/>
            <a:ext cx="91440" cy="2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75760" y="5472576"/>
            <a:ext cx="91440" cy="2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267200" y="5469732"/>
            <a:ext cx="91440" cy="28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58640" y="5466638"/>
            <a:ext cx="91440" cy="3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450080" y="5463301"/>
            <a:ext cx="91440" cy="33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541520" y="5459726"/>
            <a:ext cx="91440" cy="3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632960" y="5455921"/>
            <a:ext cx="91440" cy="38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724400" y="5451891"/>
            <a:ext cx="91440" cy="4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815840" y="5447645"/>
            <a:ext cx="91440" cy="4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907280" y="5443190"/>
            <a:ext cx="91440" cy="44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998720" y="5438535"/>
            <a:ext cx="91440" cy="46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090160" y="5433688"/>
            <a:ext cx="91440" cy="4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181600" y="5428657"/>
            <a:ext cx="91440" cy="50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273040" y="5423453"/>
            <a:ext cx="91440" cy="52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364480" y="5418085"/>
            <a:ext cx="91440" cy="53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455920" y="5412562"/>
            <a:ext cx="91440" cy="5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547360" y="5406895"/>
            <a:ext cx="91440" cy="56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638800" y="5401094"/>
            <a:ext cx="91440" cy="58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30240" y="5395170"/>
            <a:ext cx="91440" cy="59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821680" y="5389133"/>
            <a:ext cx="91440" cy="60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913120" y="5382995"/>
            <a:ext cx="91440" cy="61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004560" y="5376767"/>
            <a:ext cx="91440" cy="6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096000" y="5370461"/>
            <a:ext cx="91440" cy="630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187440" y="5364088"/>
            <a:ext cx="91440" cy="6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278880" y="5357659"/>
            <a:ext cx="91440" cy="64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70320" y="5351187"/>
            <a:ext cx="91440" cy="64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461760" y="5344684"/>
            <a:ext cx="91440" cy="6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553200" y="5338161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4640" y="5331630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736080" y="5325103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827520" y="5318593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918960" y="5312111"/>
            <a:ext cx="91440" cy="6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010400" y="5305670"/>
            <a:ext cx="91440" cy="644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101840" y="5299280"/>
            <a:ext cx="91440" cy="63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193280" y="5292954"/>
            <a:ext cx="91440" cy="63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284720" y="5286704"/>
            <a:ext cx="91440" cy="62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376160" y="5280540"/>
            <a:ext cx="91439" cy="61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467599" y="5274475"/>
            <a:ext cx="91441" cy="60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559040" y="5268519"/>
            <a:ext cx="91440" cy="59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50480" y="5262683"/>
            <a:ext cx="91440" cy="5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741920" y="5256978"/>
            <a:ext cx="91440" cy="57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833360" y="5251414"/>
            <a:ext cx="91439" cy="55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924799" y="5246003"/>
            <a:ext cx="91441" cy="5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016240" y="5240752"/>
            <a:ext cx="91440" cy="5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107680" y="5235673"/>
            <a:ext cx="91440" cy="5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199120" y="5230775"/>
            <a:ext cx="91440" cy="48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290560" y="5226066"/>
            <a:ext cx="91439" cy="47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381999" y="5221556"/>
            <a:ext cx="91441" cy="4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473440" y="5217252"/>
            <a:ext cx="91440" cy="43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564880" y="5213162"/>
            <a:ext cx="91440" cy="4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656320" y="5209294"/>
            <a:ext cx="91440" cy="38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747760" y="5205655"/>
            <a:ext cx="91440" cy="36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839200" y="5202252"/>
            <a:ext cx="91440" cy="34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930640" y="5199091"/>
            <a:ext cx="91440" cy="31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022080" y="5196178"/>
            <a:ext cx="91440" cy="29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113520" y="5193517"/>
            <a:ext cx="91440" cy="2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204960" y="5191115"/>
            <a:ext cx="91440" cy="24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96400" y="5188975"/>
            <a:ext cx="91440" cy="2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387840" y="5187102"/>
            <a:ext cx="91440" cy="18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479280" y="5185498"/>
            <a:ext cx="91440" cy="16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570720" y="5184167"/>
            <a:ext cx="91440" cy="1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662160" y="5183111"/>
            <a:ext cx="91440" cy="10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753600" y="5182332"/>
            <a:ext cx="91440" cy="7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845040" y="5181832"/>
            <a:ext cx="91440" cy="5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936480" y="5181611"/>
            <a:ext cx="91440" cy="2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027920" y="5181611"/>
            <a:ext cx="91440" cy="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19360" y="5181670"/>
            <a:ext cx="91440" cy="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210800" y="5182009"/>
            <a:ext cx="91440" cy="6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302240" y="5182627"/>
            <a:ext cx="91440" cy="8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393680" y="5183523"/>
            <a:ext cx="91440" cy="11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485120" y="5184695"/>
            <a:ext cx="91440" cy="14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576560" y="5186141"/>
            <a:ext cx="91440" cy="17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668000" y="5187859"/>
            <a:ext cx="91440" cy="19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759440" y="5189846"/>
            <a:ext cx="91440" cy="2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850880" y="5192097"/>
            <a:ext cx="91440" cy="25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942320" y="5194609"/>
            <a:ext cx="91440" cy="27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1033760" y="5197376"/>
            <a:ext cx="91440" cy="301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1125200" y="5200395"/>
            <a:ext cx="91440" cy="3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1216640" y="5203659"/>
            <a:ext cx="91440" cy="3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1308080" y="5207162"/>
            <a:ext cx="91440" cy="37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1399520" y="5210898"/>
            <a:ext cx="91440" cy="3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09600" y="5517997"/>
            <a:ext cx="91440" cy="45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01040" y="5522513"/>
            <a:ext cx="91440" cy="43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92480" y="5526823"/>
            <a:ext cx="91440" cy="40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83920" y="5530920"/>
            <a:ext cx="91440" cy="38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75360" y="5534794"/>
            <a:ext cx="91440" cy="36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66800" y="5538440"/>
            <a:ext cx="91440" cy="3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158240" y="5541850"/>
            <a:ext cx="91440" cy="31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249680" y="5545018"/>
            <a:ext cx="91440" cy="2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341120" y="5547939"/>
            <a:ext cx="91440" cy="26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432560" y="5550607"/>
            <a:ext cx="91440" cy="2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524000" y="5553017"/>
            <a:ext cx="91440" cy="2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615440" y="5555164"/>
            <a:ext cx="91440" cy="18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706880" y="5557046"/>
            <a:ext cx="91440" cy="1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798320" y="5558658"/>
            <a:ext cx="91440" cy="1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889760" y="5559997"/>
            <a:ext cx="91439" cy="10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981199" y="5561061"/>
            <a:ext cx="91441" cy="7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072640" y="5561848"/>
            <a:ext cx="91440" cy="5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164080" y="5562356"/>
            <a:ext cx="91440" cy="2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255520" y="5562535"/>
            <a:ext cx="91440" cy="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346960" y="5562204"/>
            <a:ext cx="91440" cy="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438400" y="5561594"/>
            <a:ext cx="91440" cy="6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529840" y="5560707"/>
            <a:ext cx="91440" cy="8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621280" y="5559542"/>
            <a:ext cx="91440" cy="11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712720" y="5558104"/>
            <a:ext cx="91440" cy="14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804160" y="5556394"/>
            <a:ext cx="91440" cy="17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2895600" y="5554416"/>
            <a:ext cx="91440" cy="197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2987040" y="5552172"/>
            <a:ext cx="91440" cy="22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078480" y="5549668"/>
            <a:ext cx="91440" cy="25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169920" y="5546908"/>
            <a:ext cx="91440" cy="27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261360" y="5543897"/>
            <a:ext cx="91440" cy="30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352800" y="5540640"/>
            <a:ext cx="91440" cy="32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444240" y="5537144"/>
            <a:ext cx="91440" cy="34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535680" y="5533414"/>
            <a:ext cx="91440" cy="37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627120" y="5529459"/>
            <a:ext cx="91440" cy="39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718560" y="5525284"/>
            <a:ext cx="91440" cy="4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810000" y="5520898"/>
            <a:ext cx="91440" cy="43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3901440" y="5516308"/>
            <a:ext cx="91439" cy="4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3992879" y="5511524"/>
            <a:ext cx="91441" cy="4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084320" y="5506554"/>
            <a:ext cx="91440" cy="49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4175760" y="5501407"/>
            <a:ext cx="91440" cy="5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267200" y="5496092"/>
            <a:ext cx="91440" cy="5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4358640" y="5490619"/>
            <a:ext cx="91440" cy="5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4450080" y="5484999"/>
            <a:ext cx="91440" cy="5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4541520" y="5479242"/>
            <a:ext cx="91440" cy="57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4632960" y="5473357"/>
            <a:ext cx="91440" cy="588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4724400" y="5467357"/>
            <a:ext cx="91440" cy="60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4815840" y="5461252"/>
            <a:ext cx="91440" cy="61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4907280" y="5455053"/>
            <a:ext cx="91440" cy="6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4998720" y="5448771"/>
            <a:ext cx="91440" cy="62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5090160" y="5442419"/>
            <a:ext cx="91440" cy="63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5181600" y="5436008"/>
            <a:ext cx="91440" cy="6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5273040" y="5429549"/>
            <a:ext cx="91440" cy="64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5364480" y="5423054"/>
            <a:ext cx="91440" cy="64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5455920" y="5416536"/>
            <a:ext cx="91440" cy="6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5547360" y="5410007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5638800" y="5403478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5730240" y="5396961"/>
            <a:ext cx="91440" cy="6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5821680" y="5390468"/>
            <a:ext cx="91440" cy="64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5913120" y="5384012"/>
            <a:ext cx="91440" cy="64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004560" y="5377603"/>
            <a:ext cx="91440" cy="64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096000" y="5371255"/>
            <a:ext cx="91440" cy="63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187440" y="5364978"/>
            <a:ext cx="91440" cy="62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278880" y="5358784"/>
            <a:ext cx="91440" cy="6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370320" y="5352685"/>
            <a:ext cx="91440" cy="60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461760" y="5346691"/>
            <a:ext cx="91440" cy="59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553200" y="5340814"/>
            <a:ext cx="91440" cy="58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6644640" y="5335064"/>
            <a:ext cx="91440" cy="57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6736080" y="5329452"/>
            <a:ext cx="91440" cy="5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827520" y="5323989"/>
            <a:ext cx="91440" cy="54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918960" y="5318684"/>
            <a:ext cx="91440" cy="53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010400" y="5313547"/>
            <a:ext cx="91440" cy="51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101840" y="5308587"/>
            <a:ext cx="91440" cy="49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193280" y="5303814"/>
            <a:ext cx="91440" cy="47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284720" y="5299237"/>
            <a:ext cx="91440" cy="45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376160" y="5294863"/>
            <a:ext cx="91439" cy="43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467599" y="5290701"/>
            <a:ext cx="91441" cy="41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7559040" y="5286758"/>
            <a:ext cx="91440" cy="39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7650480" y="5283042"/>
            <a:ext cx="91440" cy="37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7741920" y="5279560"/>
            <a:ext cx="91440" cy="3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7833360" y="5276318"/>
            <a:ext cx="91439" cy="32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7924799" y="5273321"/>
            <a:ext cx="91441" cy="29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016240" y="5270576"/>
            <a:ext cx="91440" cy="27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107680" y="5268087"/>
            <a:ext cx="91440" cy="24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8199120" y="5265859"/>
            <a:ext cx="91440" cy="2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8290560" y="5263897"/>
            <a:ext cx="91439" cy="1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8381999" y="5262202"/>
            <a:ext cx="91441" cy="16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473440" y="5260780"/>
            <a:ext cx="91440" cy="14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8564880" y="5259632"/>
            <a:ext cx="91440" cy="11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8656320" y="5258761"/>
            <a:ext cx="91440" cy="8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8747760" y="5258168"/>
            <a:ext cx="91440" cy="5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8839200" y="5257854"/>
            <a:ext cx="91440" cy="3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8930640" y="5257819"/>
            <a:ext cx="91440" cy="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022080" y="5257819"/>
            <a:ext cx="91440" cy="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9113520" y="5258065"/>
            <a:ext cx="91440" cy="5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9204960" y="5258590"/>
            <a:ext cx="91440" cy="8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9296400" y="5259393"/>
            <a:ext cx="91440" cy="10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9387840" y="5260474"/>
            <a:ext cx="91440" cy="13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479280" y="5261829"/>
            <a:ext cx="91440" cy="16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570720" y="5263457"/>
            <a:ext cx="91440" cy="18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9662160" y="5265354"/>
            <a:ext cx="91440" cy="21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9753600" y="5267517"/>
            <a:ext cx="91440" cy="2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9845040" y="5269943"/>
            <a:ext cx="91440" cy="26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9936480" y="5272625"/>
            <a:ext cx="91440" cy="29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027920" y="5275561"/>
            <a:ext cx="91440" cy="318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119360" y="5278744"/>
            <a:ext cx="91440" cy="34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10800" y="5282168"/>
            <a:ext cx="91440" cy="3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02240" y="5285827"/>
            <a:ext cx="91440" cy="38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93680" y="5289715"/>
            <a:ext cx="91440" cy="41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485120" y="5293824"/>
            <a:ext cx="91440" cy="4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576560" y="5298147"/>
            <a:ext cx="91440" cy="45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668000" y="5302675"/>
            <a:ext cx="91440" cy="47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759440" y="5307401"/>
            <a:ext cx="91440" cy="49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850880" y="5312316"/>
            <a:ext cx="91440" cy="5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942320" y="5317410"/>
            <a:ext cx="91440" cy="52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1033760" y="5322675"/>
            <a:ext cx="91440" cy="5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1125200" y="5328101"/>
            <a:ext cx="91440" cy="55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1216640" y="5333677"/>
            <a:ext cx="91440" cy="57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1308080" y="5339394"/>
            <a:ext cx="91440" cy="5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1399520" y="5345241"/>
            <a:ext cx="91440" cy="596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09600" y="5632648"/>
            <a:ext cx="91440" cy="17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701040" y="5634350"/>
            <a:ext cx="91440" cy="14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792480" y="5635781"/>
            <a:ext cx="91440" cy="1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883920" y="5636937"/>
            <a:ext cx="91440" cy="8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75360" y="5637816"/>
            <a:ext cx="91440" cy="6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66800" y="5638418"/>
            <a:ext cx="91440" cy="3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158240" y="5638740"/>
            <a:ext cx="91440" cy="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249680" y="5638545"/>
            <a:ext cx="91440" cy="2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341120" y="5638028"/>
            <a:ext cx="91440" cy="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432560" y="5637233"/>
            <a:ext cx="91440" cy="7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524000" y="5636161"/>
            <a:ext cx="91440" cy="10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615440" y="5634814"/>
            <a:ext cx="91440" cy="13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706880" y="5633194"/>
            <a:ext cx="91440" cy="1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798320" y="5631305"/>
            <a:ext cx="91440" cy="18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889760" y="5629149"/>
            <a:ext cx="91439" cy="2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981199" y="5626732"/>
            <a:ext cx="91441" cy="24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072640" y="5624056"/>
            <a:ext cx="91440" cy="26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164080" y="5621128"/>
            <a:ext cx="91440" cy="2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2255520" y="5617953"/>
            <a:ext cx="91440" cy="3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2346960" y="5614535"/>
            <a:ext cx="91440" cy="34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2438400" y="5610883"/>
            <a:ext cx="91440" cy="36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2529840" y="5607002"/>
            <a:ext cx="91440" cy="38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2621280" y="5602899"/>
            <a:ext cx="91440" cy="41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2712720" y="5598583"/>
            <a:ext cx="91440" cy="43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2804160" y="5594060"/>
            <a:ext cx="91440" cy="4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2895600" y="5589340"/>
            <a:ext cx="91440" cy="47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2987040" y="5584431"/>
            <a:ext cx="91440" cy="49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078480" y="5579341"/>
            <a:ext cx="91440" cy="5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169920" y="5574081"/>
            <a:ext cx="91440" cy="52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3261360" y="5568660"/>
            <a:ext cx="91440" cy="54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352800" y="5563088"/>
            <a:ext cx="91440" cy="55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3444240" y="5557375"/>
            <a:ext cx="91440" cy="57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3535680" y="5551532"/>
            <a:ext cx="91440" cy="58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3627120" y="5545569"/>
            <a:ext cx="91440" cy="5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3718560" y="5539498"/>
            <a:ext cx="91440" cy="60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3810000" y="5533329"/>
            <a:ext cx="91440" cy="61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3901440" y="5527073"/>
            <a:ext cx="91439" cy="6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3992879" y="5520744"/>
            <a:ext cx="91441" cy="63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084320" y="5514351"/>
            <a:ext cx="91440" cy="63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4175760" y="5507906"/>
            <a:ext cx="91440" cy="64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4267200" y="5501422"/>
            <a:ext cx="91440" cy="64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358640" y="5494911"/>
            <a:ext cx="91440" cy="65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450080" y="5488384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541520" y="5481853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4632960" y="5475331"/>
            <a:ext cx="91440" cy="65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4724400" y="5468829"/>
            <a:ext cx="91440" cy="65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4815840" y="5462359"/>
            <a:ext cx="91440" cy="64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4907280" y="5455933"/>
            <a:ext cx="91440" cy="6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4998720" y="5449564"/>
            <a:ext cx="91440" cy="63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090160" y="5443262"/>
            <a:ext cx="91440" cy="63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181600" y="5437039"/>
            <a:ext cx="91440" cy="62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273040" y="5430907"/>
            <a:ext cx="91440" cy="61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5364480" y="5424877"/>
            <a:ext cx="91440" cy="6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5455920" y="5418959"/>
            <a:ext cx="91440" cy="59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5547360" y="5413166"/>
            <a:ext cx="91440" cy="5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5638800" y="5407507"/>
            <a:ext cx="91440" cy="5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5730240" y="5401993"/>
            <a:ext cx="91440" cy="55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5821680" y="5396634"/>
            <a:ext cx="91440" cy="53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5913120" y="5391440"/>
            <a:ext cx="91440" cy="5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004560" y="5386420"/>
            <a:ext cx="91440" cy="50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096000" y="5381584"/>
            <a:ext cx="91440" cy="4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187440" y="5376940"/>
            <a:ext cx="91440" cy="46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278880" y="5372498"/>
            <a:ext cx="91440" cy="44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370320" y="5368264"/>
            <a:ext cx="91440" cy="423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461760" y="5364248"/>
            <a:ext cx="91440" cy="40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6553200" y="5360455"/>
            <a:ext cx="91440" cy="3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644640" y="5356894"/>
            <a:ext cx="91440" cy="35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736080" y="5353571"/>
            <a:ext cx="91440" cy="3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827520" y="5350492"/>
            <a:ext cx="91440" cy="3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918960" y="5347663"/>
            <a:ext cx="91440" cy="28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7010400" y="5345088"/>
            <a:ext cx="91440" cy="2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7101840" y="5342773"/>
            <a:ext cx="91440" cy="2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7193280" y="5340721"/>
            <a:ext cx="91440" cy="20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284720" y="5338937"/>
            <a:ext cx="91440" cy="1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376160" y="5337424"/>
            <a:ext cx="91439" cy="15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7467599" y="5336184"/>
            <a:ext cx="91441" cy="1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7559040" y="5335221"/>
            <a:ext cx="91440" cy="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7650480" y="5334535"/>
            <a:ext cx="91440" cy="6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7741920" y="5334127"/>
            <a:ext cx="91440" cy="4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7833360" y="5334000"/>
            <a:ext cx="91439" cy="1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7924799" y="5334000"/>
            <a:ext cx="91441" cy="1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016240" y="5334152"/>
            <a:ext cx="91440" cy="4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8107680" y="5334584"/>
            <a:ext cx="91440" cy="7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199120" y="5335295"/>
            <a:ext cx="91440" cy="9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290560" y="5336283"/>
            <a:ext cx="91439" cy="1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8381999" y="5337547"/>
            <a:ext cx="91441" cy="15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8473440" y="5339084"/>
            <a:ext cx="91440" cy="18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8564880" y="5340892"/>
            <a:ext cx="91440" cy="20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8656320" y="5342967"/>
            <a:ext cx="91440" cy="23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8747760" y="5345305"/>
            <a:ext cx="91440" cy="25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8839200" y="5347903"/>
            <a:ext cx="91440" cy="28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8930640" y="5350755"/>
            <a:ext cx="91440" cy="31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9022080" y="5353856"/>
            <a:ext cx="91440" cy="33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9113520" y="5357200"/>
            <a:ext cx="91440" cy="3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9204960" y="5360782"/>
            <a:ext cx="91440" cy="38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9296400" y="5364594"/>
            <a:ext cx="91440" cy="4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9387840" y="5368630"/>
            <a:ext cx="91440" cy="42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9479280" y="5372883"/>
            <a:ext cx="91440" cy="44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9570720" y="5377343"/>
            <a:ext cx="91440" cy="4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9662160" y="5382004"/>
            <a:ext cx="91440" cy="48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9753600" y="5386857"/>
            <a:ext cx="91440" cy="5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9845040" y="5391893"/>
            <a:ext cx="91440" cy="52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9936480" y="5397102"/>
            <a:ext cx="91440" cy="5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0027920" y="5402475"/>
            <a:ext cx="91440" cy="5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0119360" y="5408002"/>
            <a:ext cx="91440" cy="56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0210800" y="5413674"/>
            <a:ext cx="91440" cy="58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0302240" y="5419478"/>
            <a:ext cx="91440" cy="5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0393680" y="5425406"/>
            <a:ext cx="91440" cy="60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0485120" y="5431446"/>
            <a:ext cx="91440" cy="6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0576560" y="5437586"/>
            <a:ext cx="91440" cy="62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0668000" y="5443817"/>
            <a:ext cx="91440" cy="63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0759440" y="5450125"/>
            <a:ext cx="91440" cy="63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0850880" y="5456500"/>
            <a:ext cx="91440" cy="64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0942320" y="5462930"/>
            <a:ext cx="91440" cy="6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1033760" y="5469403"/>
            <a:ext cx="91440" cy="65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11125200" y="5475908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11216640" y="5482431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11308080" y="5488962"/>
            <a:ext cx="91440" cy="65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11399520" y="5495488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TextBox 379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从算法服务到用户操作的系统组织。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总体方案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生成侧建立身份，接收侧恢复身份，登记层连接两端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126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80" y="19583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生成与交付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99" y="470916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80" y="475488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接收与核验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3600" y="1889760"/>
            <a:ext cx="2705100" cy="10972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133600" y="18897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70760" y="201930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用户描述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0760" y="243840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画面与制作需求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8760" y="1889760"/>
            <a:ext cx="2705100" cy="10972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318760" y="18897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55920" y="201930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身份嵌入＋生成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5920" y="243840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匿名编号 → 潜在噪声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6360" y="1889760"/>
            <a:ext cx="2705100" cy="10972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976360" y="18897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13520" y="201930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交付图片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3520" y="243840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下载并发布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22520" y="2362200"/>
            <a:ext cx="28956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145780" y="2362200"/>
            <a:ext cx="69342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5800" y="3360420"/>
            <a:ext cx="4457700" cy="100584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495800" y="336042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32960" y="3489960"/>
            <a:ext cx="41833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匿名来源登记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960" y="3909060"/>
            <a:ext cx="41833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作品编号／项目声明／署名／核验历史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67500" y="2987040"/>
            <a:ext cx="0" cy="37338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133600" y="4678680"/>
            <a:ext cx="2705100" cy="10972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133600" y="46786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70760" y="480822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收到图片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0760" y="522732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上传待核验图像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18760" y="4678680"/>
            <a:ext cx="2705100" cy="10972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318760" y="46786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55920" y="480822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反演＋恢复消息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5920" y="522732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生成身份 → 匿名编号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6360" y="4678680"/>
            <a:ext cx="2705100" cy="10972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976360" y="46786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13520" y="480822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显示来源线索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3520" y="522732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有效匹配／人工复核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922520" y="5173980"/>
            <a:ext cx="28956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145780" y="5173980"/>
            <a:ext cx="69342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6667500" y="4366260"/>
            <a:ext cx="0" cy="31242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63200" y="2987040"/>
            <a:ext cx="0" cy="1691640"/>
          </a:xfrm>
          <a:prstGeom prst="line">
            <a:avLst/>
          </a:prstGeom>
          <a:ln w="22859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97340" y="3535680"/>
            <a:ext cx="24384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网络传播</a:t>
            </a:r>
          </a:p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压缩／转发／编辑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从图像到登记的关联闭环，是方案的应用核心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产品原型 · 图片保护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登记、署名与交付效果，在一个页面完成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tect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820" y="2084070"/>
            <a:ext cx="690372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2042160"/>
            <a:ext cx="13716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2087880"/>
            <a:ext cx="1158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处理前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2042160"/>
            <a:ext cx="13716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9680" y="2087880"/>
            <a:ext cx="1158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处理后</a:t>
            </a:r>
          </a:p>
        </p:txBody>
      </p:sp>
      <p:sp>
        <p:nvSpPr>
          <p:cNvPr id="13" name="Oval 12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登记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填写项目与署名</a:t>
            </a:r>
          </a:p>
        </p:txBody>
      </p:sp>
      <p:sp>
        <p:nvSpPr>
          <p:cNvPr id="17" name="Oval 16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保护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按实际方式处理图片</a:t>
            </a:r>
          </a:p>
        </p:txBody>
      </p:sp>
      <p:sp>
        <p:nvSpPr>
          <p:cNvPr id="21" name="Oval 20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前后对照并下载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用户看到的是处理效果和交付图，算法细节保留在技术层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产品原型 · 图片溯源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上传收到的图片，直接查看可关联的来源线索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004060"/>
            <a:ext cx="5669280" cy="35433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上传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无需回忆传播过程</a:t>
            </a:r>
          </a:p>
        </p:txBody>
      </p:sp>
      <p:sp>
        <p:nvSpPr>
          <p:cNvPr id="13" name="Oval 12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关联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恢复有效标识后查找记录</a:t>
            </a:r>
          </a:p>
        </p:txBody>
      </p:sp>
      <p:sp>
        <p:nvSpPr>
          <p:cNvPr id="17" name="Oval 16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复核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结合原图与授权材料核对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查找入口简单，结果保持可核对、可复查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产品原型 · 素材与记录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把素材登记与核验历史放在同一条工作路径里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004060"/>
            <a:ext cx="5669280" cy="35433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查看登记信息与交付图</a:t>
            </a:r>
          </a:p>
        </p:txBody>
      </p:sp>
      <p:sp>
        <p:nvSpPr>
          <p:cNvPr id="13" name="Oval 12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追查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回看历史核验与异常</a:t>
            </a:r>
          </a:p>
        </p:txBody>
      </p:sp>
      <p:sp>
        <p:nvSpPr>
          <p:cNvPr id="17" name="Oval 16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B4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留存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导出记录并补充业务材料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让一次检测成为可以再次查阅的业务记录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可行性 · 部署与资源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网页、任务服务与模型环境分离，按实际负载逐步接入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71700"/>
            <a:ext cx="2743200" cy="12877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7170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301240"/>
            <a:ext cx="24688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浏览器入口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720340"/>
            <a:ext cx="2468880" cy="5529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图片保护／素材与记录／图片溯</a:t>
            </a:r>
          </a:p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52800" y="2705100"/>
            <a:ext cx="48006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2399" y="2171700"/>
            <a:ext cx="3200400" cy="12877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962399" y="217170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9560" y="2301240"/>
            <a:ext cx="2926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任务与登记服务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9560" y="2720340"/>
            <a:ext cx="2926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HTTP接口／任务状态／异常提示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2340" y="2705100"/>
            <a:ext cx="45720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6700" y="2171700"/>
            <a:ext cx="3810000" cy="12877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886700" y="21717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23860" y="2301240"/>
            <a:ext cx="3535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模型执行环境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3860" y="2720340"/>
            <a:ext cx="35356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独立Python worker／权重／签名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2399" y="4084320"/>
            <a:ext cx="3200400" cy="11506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962399" y="408432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99560" y="4213860"/>
            <a:ext cx="2926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原型存储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9560" y="4632960"/>
            <a:ext cx="2926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JSON登记＋图片文件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62600" y="3459480"/>
            <a:ext cx="0" cy="624840"/>
          </a:xfrm>
          <a:prstGeom prst="line">
            <a:avLst/>
          </a:prstGeom>
          <a:ln w="1524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7700" y="4130040"/>
            <a:ext cx="29337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3D4E3"/>
                </a:solidFill>
                <a:latin typeface="Microsoft YaHei"/>
              </a:defRPr>
            </a:pPr>
            <a:r>
              <a:t>轻量原型：CPU可运行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3D4E3"/>
                </a:solidFill>
                <a:latin typeface="Microsoft YaHei"/>
              </a:defRPr>
            </a:pPr>
            <a:r>
              <a:t>论文主线：GPU生成与反演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9099" y="4130040"/>
            <a:ext cx="34671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3D4E3"/>
                </a:solidFill>
                <a:latin typeface="Microsoft YaHei"/>
              </a:defRPr>
            </a:pPr>
            <a:r>
              <a:t>正式接入条件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3D4E3"/>
                </a:solidFill>
                <a:latin typeface="Microsoft YaHei"/>
              </a:defRPr>
            </a:pPr>
            <a:r>
              <a:t>鉴权、签名保护、备份与并发验证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资源需求随模型与任务规模确定，部署前以实测确认容量和成本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03  系统设计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77240" y="1897380"/>
            <a:ext cx="3421380" cy="3055620"/>
          </a:xfrm>
          <a:prstGeom prst="rect">
            <a:avLst/>
          </a:prstGeom>
          <a:solidFill>
            <a:srgbClr val="164B70"/>
          </a:solidFill>
          <a:ln>
            <a:solidFill>
              <a:srgbClr val="C6A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55420" y="2263140"/>
            <a:ext cx="2057400" cy="20574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75510" y="2263140"/>
            <a:ext cx="617220" cy="20574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46326" y="2263140"/>
            <a:ext cx="1275588" cy="20574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5420" y="2983230"/>
            <a:ext cx="2057400" cy="617220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55420" y="2654046"/>
            <a:ext cx="2057400" cy="1275588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6840" y="4526280"/>
            <a:ext cx="24384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编码 · 映射 · 恢复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95800" y="2095499"/>
            <a:ext cx="0" cy="2941321"/>
          </a:xfrm>
          <a:prstGeom prst="line">
            <a:avLst/>
          </a:prstGeom>
          <a:ln w="22859">
            <a:solidFill>
              <a:srgbClr val="D1B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90160" y="2674620"/>
            <a:ext cx="627888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EFD79A"/>
                </a:solidFill>
                <a:latin typeface="Microsoft YaHei"/>
              </a:defRPr>
            </a:pPr>
            <a:r>
              <a:t>系统设计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1120" y="3589020"/>
            <a:ext cx="61112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8E5EE"/>
                </a:solidFill>
                <a:latin typeface="Microsoft YaHei"/>
              </a:defRPr>
            </a:pPr>
            <a:r>
              <a:t>编码、签名、反演与匿名登记。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5376952"/>
            <a:ext cx="91440" cy="62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1040" y="5383178"/>
            <a:ext cx="91440" cy="6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2480" y="5389313"/>
            <a:ext cx="91440" cy="603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3920" y="5395346"/>
            <a:ext cx="91440" cy="5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5360" y="5401267"/>
            <a:ext cx="91440" cy="57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6800" y="5407064"/>
            <a:ext cx="91440" cy="56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8240" y="5412727"/>
            <a:ext cx="91440" cy="5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9680" y="5418245"/>
            <a:ext cx="91440" cy="53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41120" y="5423609"/>
            <a:ext cx="91440" cy="5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32560" y="5428808"/>
            <a:ext cx="91440" cy="50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24000" y="5433833"/>
            <a:ext cx="91440" cy="48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15440" y="5438675"/>
            <a:ext cx="91440" cy="46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06880" y="5443325"/>
            <a:ext cx="91440" cy="44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98320" y="5447773"/>
            <a:ext cx="91440" cy="4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89760" y="5452013"/>
            <a:ext cx="91439" cy="40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81199" y="5456036"/>
            <a:ext cx="91441" cy="37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72640" y="5459835"/>
            <a:ext cx="91440" cy="35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64080" y="5463403"/>
            <a:ext cx="91440" cy="33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55520" y="5466733"/>
            <a:ext cx="91440" cy="30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46960" y="5469820"/>
            <a:ext cx="91440" cy="28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38400" y="5472657"/>
            <a:ext cx="91440" cy="2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529840" y="5475239"/>
            <a:ext cx="91440" cy="2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21280" y="5477562"/>
            <a:ext cx="91440" cy="20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12720" y="5479621"/>
            <a:ext cx="91440" cy="179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804160" y="5481413"/>
            <a:ext cx="91440" cy="15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95600" y="5482934"/>
            <a:ext cx="91440" cy="12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87040" y="5484182"/>
            <a:ext cx="91440" cy="9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78480" y="5485154"/>
            <a:ext cx="91440" cy="6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169920" y="5485848"/>
            <a:ext cx="91440" cy="4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261360" y="5486264"/>
            <a:ext cx="91440" cy="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352800" y="5486255"/>
            <a:ext cx="91440" cy="1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444240" y="5485832"/>
            <a:ext cx="91440" cy="4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535680" y="5485129"/>
            <a:ext cx="91440" cy="7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627120" y="5484149"/>
            <a:ext cx="91440" cy="98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718560" y="5482893"/>
            <a:ext cx="91440" cy="1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810000" y="5481364"/>
            <a:ext cx="91440" cy="1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01440" y="5479564"/>
            <a:ext cx="91439" cy="18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92879" y="5477497"/>
            <a:ext cx="91441" cy="20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084320" y="5475166"/>
            <a:ext cx="91440" cy="2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175760" y="5472576"/>
            <a:ext cx="91440" cy="2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267200" y="5469732"/>
            <a:ext cx="91440" cy="28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358640" y="5466638"/>
            <a:ext cx="91440" cy="3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450080" y="5463301"/>
            <a:ext cx="91440" cy="33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541520" y="5459726"/>
            <a:ext cx="91440" cy="3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632960" y="5455921"/>
            <a:ext cx="91440" cy="38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724400" y="5451891"/>
            <a:ext cx="91440" cy="4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815840" y="5447645"/>
            <a:ext cx="91440" cy="4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907280" y="5443190"/>
            <a:ext cx="91440" cy="44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998720" y="5438535"/>
            <a:ext cx="91440" cy="46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090160" y="5433688"/>
            <a:ext cx="91440" cy="4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181600" y="5428657"/>
            <a:ext cx="91440" cy="50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273040" y="5423453"/>
            <a:ext cx="91440" cy="52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364480" y="5418085"/>
            <a:ext cx="91440" cy="53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455920" y="5412562"/>
            <a:ext cx="91440" cy="5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547360" y="5406895"/>
            <a:ext cx="91440" cy="56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638800" y="5401094"/>
            <a:ext cx="91440" cy="58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30240" y="5395170"/>
            <a:ext cx="91440" cy="59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821680" y="5389133"/>
            <a:ext cx="91440" cy="60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913120" y="5382995"/>
            <a:ext cx="91440" cy="61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004560" y="5376767"/>
            <a:ext cx="91440" cy="6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096000" y="5370461"/>
            <a:ext cx="91440" cy="630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187440" y="5364088"/>
            <a:ext cx="91440" cy="6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278880" y="5357659"/>
            <a:ext cx="91440" cy="64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370320" y="5351187"/>
            <a:ext cx="91440" cy="64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61760" y="5344684"/>
            <a:ext cx="91440" cy="6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53200" y="5338161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44640" y="5331630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736080" y="5325103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827520" y="5318593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918960" y="5312111"/>
            <a:ext cx="91440" cy="6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010400" y="5305670"/>
            <a:ext cx="91440" cy="644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101840" y="5299280"/>
            <a:ext cx="91440" cy="63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193280" y="5292954"/>
            <a:ext cx="91440" cy="63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284720" y="5286704"/>
            <a:ext cx="91440" cy="62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376160" y="5280540"/>
            <a:ext cx="91439" cy="61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467599" y="5274475"/>
            <a:ext cx="91441" cy="60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559040" y="5268519"/>
            <a:ext cx="91440" cy="59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650480" y="5262683"/>
            <a:ext cx="91440" cy="5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741920" y="5256978"/>
            <a:ext cx="91440" cy="57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833360" y="5251414"/>
            <a:ext cx="91439" cy="55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924799" y="5246003"/>
            <a:ext cx="91441" cy="5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016240" y="5240752"/>
            <a:ext cx="91440" cy="5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107680" y="5235673"/>
            <a:ext cx="91440" cy="5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199120" y="5230775"/>
            <a:ext cx="91440" cy="48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290560" y="5226066"/>
            <a:ext cx="91439" cy="47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381999" y="5221556"/>
            <a:ext cx="91441" cy="4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473440" y="5217252"/>
            <a:ext cx="91440" cy="43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564880" y="5213162"/>
            <a:ext cx="91440" cy="4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656320" y="5209294"/>
            <a:ext cx="91440" cy="38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747760" y="5205655"/>
            <a:ext cx="91440" cy="36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839200" y="5202252"/>
            <a:ext cx="91440" cy="34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930640" y="5199091"/>
            <a:ext cx="91440" cy="31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022080" y="5196178"/>
            <a:ext cx="91440" cy="29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113520" y="5193517"/>
            <a:ext cx="91440" cy="2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04960" y="5191115"/>
            <a:ext cx="91440" cy="24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296400" y="5188975"/>
            <a:ext cx="91440" cy="2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387840" y="5187102"/>
            <a:ext cx="91440" cy="18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479280" y="5185498"/>
            <a:ext cx="91440" cy="16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570720" y="5184167"/>
            <a:ext cx="91440" cy="1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662160" y="5183111"/>
            <a:ext cx="91440" cy="10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753600" y="5182332"/>
            <a:ext cx="91440" cy="7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845040" y="5181832"/>
            <a:ext cx="91440" cy="5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936480" y="5181611"/>
            <a:ext cx="91440" cy="2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027920" y="5181611"/>
            <a:ext cx="91440" cy="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119360" y="5181670"/>
            <a:ext cx="91440" cy="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210800" y="5182009"/>
            <a:ext cx="91440" cy="6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302240" y="5182627"/>
            <a:ext cx="91440" cy="8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393680" y="5183523"/>
            <a:ext cx="91440" cy="11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485120" y="5184695"/>
            <a:ext cx="91440" cy="14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576560" y="5186141"/>
            <a:ext cx="91440" cy="17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668000" y="5187859"/>
            <a:ext cx="91440" cy="19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759440" y="5189846"/>
            <a:ext cx="91440" cy="2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850880" y="5192097"/>
            <a:ext cx="91440" cy="25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942320" y="5194609"/>
            <a:ext cx="91440" cy="27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033760" y="5197376"/>
            <a:ext cx="91440" cy="301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1125200" y="5200395"/>
            <a:ext cx="91440" cy="3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216640" y="5203659"/>
            <a:ext cx="91440" cy="3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1308080" y="5207162"/>
            <a:ext cx="91440" cy="37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1399520" y="5210898"/>
            <a:ext cx="91440" cy="3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09600" y="5517997"/>
            <a:ext cx="91440" cy="45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01040" y="5522513"/>
            <a:ext cx="91440" cy="43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92480" y="5526823"/>
            <a:ext cx="91440" cy="40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920" y="5530920"/>
            <a:ext cx="91440" cy="38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75360" y="5534794"/>
            <a:ext cx="91440" cy="36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66800" y="5538440"/>
            <a:ext cx="91440" cy="3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158240" y="5541850"/>
            <a:ext cx="91440" cy="31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249680" y="5545018"/>
            <a:ext cx="91440" cy="2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341120" y="5547939"/>
            <a:ext cx="91440" cy="26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432560" y="5550607"/>
            <a:ext cx="91440" cy="2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524000" y="5553017"/>
            <a:ext cx="91440" cy="2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615440" y="5555164"/>
            <a:ext cx="91440" cy="18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706880" y="5557046"/>
            <a:ext cx="91440" cy="1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798320" y="5558658"/>
            <a:ext cx="91440" cy="1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889760" y="5559997"/>
            <a:ext cx="91439" cy="10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981199" y="5561061"/>
            <a:ext cx="91441" cy="7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072640" y="5561848"/>
            <a:ext cx="91440" cy="5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2164080" y="5562356"/>
            <a:ext cx="91440" cy="2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255520" y="5562535"/>
            <a:ext cx="91440" cy="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346960" y="5562204"/>
            <a:ext cx="91440" cy="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438400" y="5561594"/>
            <a:ext cx="91440" cy="6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529840" y="5560707"/>
            <a:ext cx="91440" cy="8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621280" y="5559542"/>
            <a:ext cx="91440" cy="11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712720" y="5558104"/>
            <a:ext cx="91440" cy="14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804160" y="5556394"/>
            <a:ext cx="91440" cy="17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895600" y="5554416"/>
            <a:ext cx="91440" cy="197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987040" y="5552172"/>
            <a:ext cx="91440" cy="22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78480" y="5549668"/>
            <a:ext cx="91440" cy="25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169920" y="5546908"/>
            <a:ext cx="91440" cy="27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261360" y="5543897"/>
            <a:ext cx="91440" cy="30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352800" y="5540640"/>
            <a:ext cx="91440" cy="32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444240" y="5537144"/>
            <a:ext cx="91440" cy="34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535680" y="5533414"/>
            <a:ext cx="91440" cy="37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627120" y="5529459"/>
            <a:ext cx="91440" cy="39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718560" y="5525284"/>
            <a:ext cx="91440" cy="4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810000" y="5520898"/>
            <a:ext cx="91440" cy="43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901440" y="5516308"/>
            <a:ext cx="91439" cy="4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992879" y="5511524"/>
            <a:ext cx="91441" cy="4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084320" y="5506554"/>
            <a:ext cx="91440" cy="49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175760" y="5501407"/>
            <a:ext cx="91440" cy="5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267200" y="5496092"/>
            <a:ext cx="91440" cy="5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358640" y="5490619"/>
            <a:ext cx="91440" cy="5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450080" y="5484999"/>
            <a:ext cx="91440" cy="5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541520" y="5479242"/>
            <a:ext cx="91440" cy="57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4632960" y="5473357"/>
            <a:ext cx="91440" cy="588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724400" y="5467357"/>
            <a:ext cx="91440" cy="60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4815840" y="5461252"/>
            <a:ext cx="91440" cy="61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4907280" y="5455053"/>
            <a:ext cx="91440" cy="6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4998720" y="5448771"/>
            <a:ext cx="91440" cy="62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090160" y="5442419"/>
            <a:ext cx="91440" cy="63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181600" y="5436008"/>
            <a:ext cx="91440" cy="6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273040" y="5429549"/>
            <a:ext cx="91440" cy="64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5364480" y="5423054"/>
            <a:ext cx="91440" cy="64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5455920" y="5416536"/>
            <a:ext cx="91440" cy="6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5547360" y="5410007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5638800" y="5403478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5730240" y="5396961"/>
            <a:ext cx="91440" cy="6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5821680" y="5390468"/>
            <a:ext cx="91440" cy="64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5913120" y="5384012"/>
            <a:ext cx="91440" cy="64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004560" y="5377603"/>
            <a:ext cx="91440" cy="64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096000" y="5371255"/>
            <a:ext cx="91440" cy="63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187440" y="5364978"/>
            <a:ext cx="91440" cy="62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278880" y="5358784"/>
            <a:ext cx="91440" cy="6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370320" y="5352685"/>
            <a:ext cx="91440" cy="60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461760" y="5346691"/>
            <a:ext cx="91440" cy="59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553200" y="5340814"/>
            <a:ext cx="91440" cy="58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644640" y="5335064"/>
            <a:ext cx="91440" cy="57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736080" y="5329452"/>
            <a:ext cx="91440" cy="5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827520" y="5323989"/>
            <a:ext cx="91440" cy="54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918960" y="5318684"/>
            <a:ext cx="91440" cy="53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010400" y="5313547"/>
            <a:ext cx="91440" cy="51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101840" y="5308587"/>
            <a:ext cx="91440" cy="49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193280" y="5303814"/>
            <a:ext cx="91440" cy="47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284720" y="5299237"/>
            <a:ext cx="91440" cy="45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376160" y="5294863"/>
            <a:ext cx="91439" cy="43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467599" y="5290701"/>
            <a:ext cx="91441" cy="41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559040" y="5286758"/>
            <a:ext cx="91440" cy="39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650480" y="5283042"/>
            <a:ext cx="91440" cy="37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741920" y="5279560"/>
            <a:ext cx="91440" cy="3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833360" y="5276318"/>
            <a:ext cx="91439" cy="32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924799" y="5273321"/>
            <a:ext cx="91441" cy="29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016240" y="5270576"/>
            <a:ext cx="91440" cy="27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8107680" y="5268087"/>
            <a:ext cx="91440" cy="24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199120" y="5265859"/>
            <a:ext cx="91440" cy="2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290560" y="5263897"/>
            <a:ext cx="91439" cy="1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381999" y="5262202"/>
            <a:ext cx="91441" cy="16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473440" y="5260780"/>
            <a:ext cx="91440" cy="14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564880" y="5259632"/>
            <a:ext cx="91440" cy="11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8656320" y="5258761"/>
            <a:ext cx="91440" cy="8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8747760" y="5258168"/>
            <a:ext cx="91440" cy="5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8839200" y="5257854"/>
            <a:ext cx="91440" cy="3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930640" y="5257819"/>
            <a:ext cx="91440" cy="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022080" y="5257819"/>
            <a:ext cx="91440" cy="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113520" y="5258065"/>
            <a:ext cx="91440" cy="5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204960" y="5258590"/>
            <a:ext cx="91440" cy="8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296400" y="5259393"/>
            <a:ext cx="91440" cy="10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387840" y="5260474"/>
            <a:ext cx="91440" cy="13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479280" y="5261829"/>
            <a:ext cx="91440" cy="16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9570720" y="5263457"/>
            <a:ext cx="91440" cy="18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9662160" y="5265354"/>
            <a:ext cx="91440" cy="21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9753600" y="5267517"/>
            <a:ext cx="91440" cy="2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9845040" y="5269943"/>
            <a:ext cx="91440" cy="26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936480" y="5272625"/>
            <a:ext cx="91440" cy="29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027920" y="5275561"/>
            <a:ext cx="91440" cy="318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119360" y="5278744"/>
            <a:ext cx="91440" cy="34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210800" y="5282168"/>
            <a:ext cx="91440" cy="3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302240" y="5285827"/>
            <a:ext cx="91440" cy="38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393680" y="5289715"/>
            <a:ext cx="91440" cy="41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485120" y="5293824"/>
            <a:ext cx="91440" cy="4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576560" y="5298147"/>
            <a:ext cx="91440" cy="45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668000" y="5302675"/>
            <a:ext cx="91440" cy="47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759440" y="5307401"/>
            <a:ext cx="91440" cy="49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850880" y="5312316"/>
            <a:ext cx="91440" cy="5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942320" y="5317410"/>
            <a:ext cx="91440" cy="52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1033760" y="5322675"/>
            <a:ext cx="91440" cy="5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1125200" y="5328101"/>
            <a:ext cx="91440" cy="55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1216640" y="5333677"/>
            <a:ext cx="91440" cy="57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1308080" y="5339394"/>
            <a:ext cx="91440" cy="5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1399520" y="5345241"/>
            <a:ext cx="91440" cy="596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09600" y="5632648"/>
            <a:ext cx="91440" cy="17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701040" y="5634350"/>
            <a:ext cx="91440" cy="14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2480" y="5635781"/>
            <a:ext cx="91440" cy="1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83920" y="5636937"/>
            <a:ext cx="91440" cy="8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75360" y="5637816"/>
            <a:ext cx="91440" cy="6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66800" y="5638418"/>
            <a:ext cx="91440" cy="3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158240" y="5638740"/>
            <a:ext cx="91440" cy="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249680" y="5638545"/>
            <a:ext cx="91440" cy="2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341120" y="5638028"/>
            <a:ext cx="91440" cy="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432560" y="5637233"/>
            <a:ext cx="91440" cy="7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524000" y="5636161"/>
            <a:ext cx="91440" cy="10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615440" y="5634814"/>
            <a:ext cx="91440" cy="13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706880" y="5633194"/>
            <a:ext cx="91440" cy="1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798320" y="5631305"/>
            <a:ext cx="91440" cy="18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889760" y="5629149"/>
            <a:ext cx="91439" cy="2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981199" y="5626732"/>
            <a:ext cx="91441" cy="24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072640" y="5624056"/>
            <a:ext cx="91440" cy="26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164080" y="5621128"/>
            <a:ext cx="91440" cy="2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255520" y="5617953"/>
            <a:ext cx="91440" cy="3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346960" y="5614535"/>
            <a:ext cx="91440" cy="34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438400" y="5610883"/>
            <a:ext cx="91440" cy="36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529840" y="5607002"/>
            <a:ext cx="91440" cy="38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621280" y="5602899"/>
            <a:ext cx="91440" cy="41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2712720" y="5598583"/>
            <a:ext cx="91440" cy="43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2804160" y="5594060"/>
            <a:ext cx="91440" cy="4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2895600" y="5589340"/>
            <a:ext cx="91440" cy="47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2987040" y="5584431"/>
            <a:ext cx="91440" cy="49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078480" y="5579341"/>
            <a:ext cx="91440" cy="5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169920" y="5574081"/>
            <a:ext cx="91440" cy="52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261360" y="5568660"/>
            <a:ext cx="91440" cy="54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3352800" y="5563088"/>
            <a:ext cx="91440" cy="55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3444240" y="5557375"/>
            <a:ext cx="91440" cy="57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535680" y="5551532"/>
            <a:ext cx="91440" cy="58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627120" y="5545569"/>
            <a:ext cx="91440" cy="5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3718560" y="5539498"/>
            <a:ext cx="91440" cy="60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810000" y="5533329"/>
            <a:ext cx="91440" cy="61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3901440" y="5527073"/>
            <a:ext cx="91439" cy="6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3992879" y="5520744"/>
            <a:ext cx="91441" cy="63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084320" y="5514351"/>
            <a:ext cx="91440" cy="63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175760" y="5507906"/>
            <a:ext cx="91440" cy="64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267200" y="5501422"/>
            <a:ext cx="91440" cy="64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358640" y="5494911"/>
            <a:ext cx="91440" cy="65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450080" y="5488384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541520" y="5481853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4632960" y="5475331"/>
            <a:ext cx="91440" cy="65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4724400" y="5468829"/>
            <a:ext cx="91440" cy="65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815840" y="5462359"/>
            <a:ext cx="91440" cy="64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907280" y="5455933"/>
            <a:ext cx="91440" cy="6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998720" y="5449564"/>
            <a:ext cx="91440" cy="63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090160" y="5443262"/>
            <a:ext cx="91440" cy="63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181600" y="5437039"/>
            <a:ext cx="91440" cy="62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273040" y="5430907"/>
            <a:ext cx="91440" cy="61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364480" y="5424877"/>
            <a:ext cx="91440" cy="6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455920" y="5418959"/>
            <a:ext cx="91440" cy="59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547360" y="5413166"/>
            <a:ext cx="91440" cy="5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638800" y="5407507"/>
            <a:ext cx="91440" cy="5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730240" y="5401993"/>
            <a:ext cx="91440" cy="55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5821680" y="5396634"/>
            <a:ext cx="91440" cy="53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5913120" y="5391440"/>
            <a:ext cx="91440" cy="5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004560" y="5386420"/>
            <a:ext cx="91440" cy="50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096000" y="5381584"/>
            <a:ext cx="91440" cy="4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187440" y="5376940"/>
            <a:ext cx="91440" cy="46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278880" y="5372498"/>
            <a:ext cx="91440" cy="44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370320" y="5368264"/>
            <a:ext cx="91440" cy="423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461760" y="5364248"/>
            <a:ext cx="91440" cy="40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553200" y="5360455"/>
            <a:ext cx="91440" cy="3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644640" y="5356894"/>
            <a:ext cx="91440" cy="35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736080" y="5353571"/>
            <a:ext cx="91440" cy="3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827520" y="5350492"/>
            <a:ext cx="91440" cy="3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918960" y="5347663"/>
            <a:ext cx="91440" cy="28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7010400" y="5345088"/>
            <a:ext cx="91440" cy="2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7101840" y="5342773"/>
            <a:ext cx="91440" cy="2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7193280" y="5340721"/>
            <a:ext cx="91440" cy="20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7284720" y="5338937"/>
            <a:ext cx="91440" cy="1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7376160" y="5337424"/>
            <a:ext cx="91439" cy="15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7467599" y="5336184"/>
            <a:ext cx="91441" cy="1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7559040" y="5335221"/>
            <a:ext cx="91440" cy="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7650480" y="5334535"/>
            <a:ext cx="91440" cy="6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741920" y="5334127"/>
            <a:ext cx="91440" cy="4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833360" y="5334000"/>
            <a:ext cx="91439" cy="1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7924799" y="5334000"/>
            <a:ext cx="91441" cy="1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8016240" y="5334152"/>
            <a:ext cx="91440" cy="4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8107680" y="5334584"/>
            <a:ext cx="91440" cy="7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8199120" y="5335295"/>
            <a:ext cx="91440" cy="9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8290560" y="5336283"/>
            <a:ext cx="91439" cy="1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8381999" y="5337547"/>
            <a:ext cx="91441" cy="15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473440" y="5339084"/>
            <a:ext cx="91440" cy="18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8564880" y="5340892"/>
            <a:ext cx="91440" cy="20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656320" y="5342967"/>
            <a:ext cx="91440" cy="23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747760" y="5345305"/>
            <a:ext cx="91440" cy="25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8839200" y="5347903"/>
            <a:ext cx="91440" cy="28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8930640" y="5350755"/>
            <a:ext cx="91440" cy="31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9022080" y="5353856"/>
            <a:ext cx="91440" cy="33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9113520" y="5357200"/>
            <a:ext cx="91440" cy="3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9204960" y="5360782"/>
            <a:ext cx="91440" cy="38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9296400" y="5364594"/>
            <a:ext cx="91440" cy="4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9387840" y="5368630"/>
            <a:ext cx="91440" cy="42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9479280" y="5372883"/>
            <a:ext cx="91440" cy="44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9570720" y="5377343"/>
            <a:ext cx="91440" cy="4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9662160" y="5382004"/>
            <a:ext cx="91440" cy="48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9753600" y="5386857"/>
            <a:ext cx="91440" cy="5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9845040" y="5391893"/>
            <a:ext cx="91440" cy="52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9936480" y="5397102"/>
            <a:ext cx="91440" cy="5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0027920" y="5402475"/>
            <a:ext cx="91440" cy="5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0119360" y="5408002"/>
            <a:ext cx="91440" cy="56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0210800" y="5413674"/>
            <a:ext cx="91440" cy="58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0302240" y="5419478"/>
            <a:ext cx="91440" cy="5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0393680" y="5425406"/>
            <a:ext cx="91440" cy="60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0485120" y="5431446"/>
            <a:ext cx="91440" cy="6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0576560" y="5437586"/>
            <a:ext cx="91440" cy="62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0668000" y="5443817"/>
            <a:ext cx="91440" cy="63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0759440" y="5450125"/>
            <a:ext cx="91440" cy="63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0850880" y="5456500"/>
            <a:ext cx="91440" cy="64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0942320" y="5462930"/>
            <a:ext cx="91440" cy="6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1033760" y="5469403"/>
            <a:ext cx="91440" cy="65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1125200" y="5475908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1216640" y="5482431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1308080" y="5488962"/>
            <a:ext cx="91440" cy="65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1399520" y="5495488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编码、签名、反演与匿名登记。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技术选型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球形水印，适配“生成时标记、传播后核验”的需求</a:t>
            </a:r>
          </a:p>
        </p:txBody>
      </p:sp>
      <p:sp>
        <p:nvSpPr>
          <p:cNvPr id="7" name="Oval 6"/>
          <p:cNvSpPr/>
          <p:nvPr/>
        </p:nvSpPr>
        <p:spPr>
          <a:xfrm>
            <a:off x="5143500" y="2514600"/>
            <a:ext cx="1905000" cy="19050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10250" y="2514600"/>
            <a:ext cx="571500" cy="19050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450" y="2514600"/>
            <a:ext cx="1181100" cy="19050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43500" y="3181350"/>
            <a:ext cx="1905000" cy="571500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43500" y="2876550"/>
            <a:ext cx="1905000" cy="1181100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3060" y="3238500"/>
            <a:ext cx="14859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2F6FB"/>
                </a:solidFill>
                <a:latin typeface="Microsoft YaHei"/>
              </a:defRPr>
            </a:pPr>
            <a:r>
              <a:t>球形水印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194560" y="2415540"/>
            <a:ext cx="3901440" cy="105156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" y="1958340"/>
            <a:ext cx="3581400" cy="10591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94360" y="195834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08788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生成先验适配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0698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将身份映射到扩散模型潜在噪声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6000" y="2415540"/>
            <a:ext cx="3505200" cy="105156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01000" y="1958340"/>
            <a:ext cx="3581400" cy="10591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001000" y="195834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38160" y="208788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质量保护目标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50698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兼顾标识嵌入与生成内容观感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194560" y="3467100"/>
            <a:ext cx="3901440" cy="151638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60" y="4526280"/>
            <a:ext cx="3581400" cy="10591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94360" y="45262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65582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生成端集成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依托预训练生成模型构建路线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467100"/>
            <a:ext cx="3505200" cy="151638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01000" y="4526280"/>
            <a:ext cx="3581400" cy="10591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001000" y="45262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38160" y="465582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传播后恢复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07492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通过反演与逆变换恢复消息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选型围绕场景需求展开，最终效果由统一测试验证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技术路线 · 生成端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作品身份 → 球面映射 → 扩散图像生成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43100"/>
            <a:ext cx="1120140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2087880"/>
            <a:ext cx="10942320" cy="23469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571500" y="4960620"/>
            <a:ext cx="0" cy="655320"/>
          </a:xfrm>
          <a:prstGeom prst="line">
            <a:avLst/>
          </a:prstGeom>
          <a:ln w="3048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身份编码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匿名编号／重复与填充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42460" y="4960620"/>
            <a:ext cx="0" cy="655320"/>
          </a:xfrm>
          <a:prstGeom prst="line">
            <a:avLst/>
          </a:prstGeom>
          <a:ln w="3048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0248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噪声构造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可逆混合／旋转与半径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13420" y="4960620"/>
            <a:ext cx="0" cy="655320"/>
          </a:xfrm>
          <a:prstGeom prst="line">
            <a:avLst/>
          </a:prstGeom>
          <a:ln w="3048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7344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模型生成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44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噪声进入预训练扩散模型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在生成环节嵌入可恢复身份，而不依赖外部文件名或说明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技术路线 · 核验端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传播图像 → 反演与消息恢复 → 来源关联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882139"/>
            <a:ext cx="11201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981199"/>
            <a:ext cx="6667500" cy="1722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5299" y="4320540"/>
            <a:ext cx="2514600" cy="11658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95299" y="432054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24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图像输入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86100" y="4800600"/>
            <a:ext cx="2057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4320540"/>
            <a:ext cx="2514600" cy="11658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390900" y="4320540"/>
            <a:ext cx="685799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280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恢复消息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80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反演＋逆变换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1700" y="4800600"/>
            <a:ext cx="2057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6500" y="4320540"/>
            <a:ext cx="2514600" cy="11658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286500" y="432054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236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来源关联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36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匹配有效登记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7300" y="4800600"/>
            <a:ext cx="2057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2100" y="4320540"/>
            <a:ext cx="2514600" cy="11658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182100" y="432054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192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人工检查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92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材料与异常复核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原研究方法承担消息恢复，应用设计承担登记关联和复核任务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系统设计 · 水印签名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固定签名连接生成与提取，避免逐图维护加密密钥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18360"/>
            <a:ext cx="3771900" cy="226314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183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247900"/>
            <a:ext cx="3497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二进制变换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667000"/>
            <a:ext cx="3497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重复消息与随机填充的可逆混合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" y="3459480"/>
            <a:ext cx="33528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EED175"/>
                </a:solidFill>
                <a:latin typeface="Microsoft YaHei"/>
              </a:defRPr>
            </a:pPr>
            <a:r>
              <a:t>输入比特 → 混合比特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799" y="2118360"/>
            <a:ext cx="3771900" cy="226314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924799" y="21183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61960" y="2247900"/>
            <a:ext cx="3497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正交变换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1960" y="2667000"/>
            <a:ext cx="3497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归一化后的旋转与可逆恢复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3459480"/>
            <a:ext cx="33528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EED175"/>
                </a:solidFill>
                <a:latin typeface="Microsoft YaHei"/>
              </a:defRPr>
            </a:pPr>
            <a:r>
              <a:t>单位球面 → 旋转噪声</a:t>
            </a:r>
          </a:p>
        </p:txBody>
      </p:sp>
      <p:sp>
        <p:nvSpPr>
          <p:cNvPr id="17" name="Oval 16"/>
          <p:cNvSpPr/>
          <p:nvPr/>
        </p:nvSpPr>
        <p:spPr>
          <a:xfrm>
            <a:off x="5181600" y="2331720"/>
            <a:ext cx="1828800" cy="18288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1680" y="2331720"/>
            <a:ext cx="548640" cy="18288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29072" y="2331720"/>
            <a:ext cx="1133856" cy="18288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81600" y="2971800"/>
            <a:ext cx="1828800" cy="548640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81600" y="2679192"/>
            <a:ext cx="1828800" cy="1133856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389120" y="3177540"/>
            <a:ext cx="5867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193280" y="3177540"/>
            <a:ext cx="59436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90700" y="5067300"/>
            <a:ext cx="86106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97380" y="5113020"/>
            <a:ext cx="8397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生成端使用签名嵌入；核验端使用同一签名执行逆过程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签名、登记与访问权限需要独立管理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系统设计 · 匿名登记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图像中承载短标识，业务材料在受控登记中关联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362200"/>
            <a:ext cx="2781300" cy="13258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36220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491740"/>
            <a:ext cx="25069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图像标识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910840"/>
            <a:ext cx="25069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作品编号，不写入手机号等信息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06140" y="2910840"/>
            <a:ext cx="52578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1939" y="2080260"/>
            <a:ext cx="3733799" cy="214122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91939" y="20802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29100" y="2209800"/>
            <a:ext cx="3459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来源登记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9100" y="2628900"/>
            <a:ext cx="3459480" cy="5529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项目声明／署名／生成信息</a:t>
            </a:r>
          </a:p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对应的核验历史与异常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40040" y="2910840"/>
            <a:ext cx="5486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2362200"/>
            <a:ext cx="3048000" cy="13258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641080" y="23622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0" y="2491740"/>
            <a:ext cx="2773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业务核对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910840"/>
            <a:ext cx="27736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使用范围、期限与证明材料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937760"/>
            <a:ext cx="106299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EED175"/>
                </a:solidFill>
                <a:latin typeface="Microsoft YaHei"/>
              </a:defRPr>
            </a:pPr>
            <a:r>
              <a:t>最小化登记 → 有效标识关联 → 异常复核 → 可再次查阅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身份关联提供线索，授权有效性仍需核对原始业务材料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项目实施 · 里程碑与协作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用阶段验收和明确交付物，连接算法、产品与验证工作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65020"/>
            <a:ext cx="1524000" cy="60198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740" y="220980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3600" y="2065020"/>
            <a:ext cx="2247900" cy="60198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5040" y="220980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负责角色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8660" y="2065020"/>
            <a:ext cx="3771900" cy="60198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20980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阶段交付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2960" y="2065020"/>
            <a:ext cx="3253740" cy="60198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0" y="220980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验收门槛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299" y="2727960"/>
            <a:ext cx="15240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740" y="287274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原型闭环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3600" y="2727960"/>
            <a:ext cx="2247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5040" y="287274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产品＋验证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8660" y="2727960"/>
            <a:ext cx="3771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0100" y="287274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交互、登记、记录与错误语义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2960" y="2727960"/>
            <a:ext cx="325374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4400" y="287274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接口与工作流检查通过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299" y="3390900"/>
            <a:ext cx="15240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740" y="353568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模型接通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3600" y="3390900"/>
            <a:ext cx="2247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5040" y="353568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算法＋产品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8660" y="3390900"/>
            <a:ext cx="3771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0100" y="353568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生成／反演命令、配置与日志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42960" y="3390900"/>
            <a:ext cx="325374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4400" y="353568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独立样张可复现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053840"/>
            <a:ext cx="15240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740" y="419862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统一评测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3600" y="4053840"/>
            <a:ext cx="2247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5040" y="419862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算法＋验证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8660" y="4053840"/>
            <a:ext cx="3771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0100" y="419862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正负样本、参数与失败案例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2960" y="4053840"/>
            <a:ext cx="325374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4400" y="419862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质量／恢复／误检齐全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299" y="4716780"/>
            <a:ext cx="15240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6740" y="486156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业务试点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3600" y="4716780"/>
            <a:ext cx="2247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5040" y="486156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产品＋验证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8660" y="4716780"/>
            <a:ext cx="377190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0100" y="486156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用户任务记录与匿名反馈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42960" y="4716780"/>
            <a:ext cx="3253740" cy="60198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4400" y="486156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同任务对照＋问题闭环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每阶段保留配置、日志、问题单和验收记录，避免只有计划没有交付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04  业务流程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77240" y="1897380"/>
            <a:ext cx="3421380" cy="3055620"/>
          </a:xfrm>
          <a:prstGeom prst="rect">
            <a:avLst/>
          </a:prstGeom>
          <a:solidFill>
            <a:srgbClr val="164B70"/>
          </a:solidFill>
          <a:ln>
            <a:solidFill>
              <a:srgbClr val="C6A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411730"/>
            <a:ext cx="3192780" cy="1996439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495800" y="2095499"/>
            <a:ext cx="0" cy="2941321"/>
          </a:xfrm>
          <a:prstGeom prst="line">
            <a:avLst/>
          </a:prstGeom>
          <a:ln w="22859">
            <a:solidFill>
              <a:srgbClr val="D1B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90160" y="2674620"/>
            <a:ext cx="627888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EFD79A"/>
                </a:solidFill>
                <a:latin typeface="Microsoft YaHei"/>
              </a:defRPr>
            </a:pPr>
            <a:r>
              <a:t>业务流程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1120" y="3589020"/>
            <a:ext cx="61112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8E5EE"/>
                </a:solidFill>
                <a:latin typeface="Microsoft YaHei"/>
              </a:defRPr>
            </a:pPr>
            <a:r>
              <a:t>从交付到再次核验的完整应用闭环。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5376952"/>
            <a:ext cx="91440" cy="62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1040" y="5383178"/>
            <a:ext cx="91440" cy="6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2480" y="5389313"/>
            <a:ext cx="91440" cy="603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3920" y="5395346"/>
            <a:ext cx="91440" cy="5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5360" y="5401267"/>
            <a:ext cx="91440" cy="57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6800" y="5407064"/>
            <a:ext cx="91440" cy="56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58240" y="5412727"/>
            <a:ext cx="91440" cy="5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49680" y="5418245"/>
            <a:ext cx="91440" cy="53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41120" y="5423609"/>
            <a:ext cx="91440" cy="5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32560" y="5428808"/>
            <a:ext cx="91440" cy="50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24000" y="5433833"/>
            <a:ext cx="91440" cy="48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15440" y="5438675"/>
            <a:ext cx="91440" cy="46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06880" y="5443325"/>
            <a:ext cx="91440" cy="44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98320" y="5447773"/>
            <a:ext cx="91440" cy="4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89760" y="5452013"/>
            <a:ext cx="91439" cy="40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1199" y="5456036"/>
            <a:ext cx="91441" cy="37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72640" y="5459835"/>
            <a:ext cx="91440" cy="35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64080" y="5463403"/>
            <a:ext cx="91440" cy="33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55520" y="5466733"/>
            <a:ext cx="91440" cy="30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46960" y="5469820"/>
            <a:ext cx="91440" cy="28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438400" y="5472657"/>
            <a:ext cx="91440" cy="2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29840" y="5475239"/>
            <a:ext cx="91440" cy="2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21280" y="5477562"/>
            <a:ext cx="91440" cy="20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12720" y="5479621"/>
            <a:ext cx="91440" cy="179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04160" y="5481413"/>
            <a:ext cx="91440" cy="15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95600" y="5482934"/>
            <a:ext cx="91440" cy="12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87040" y="5484182"/>
            <a:ext cx="91440" cy="9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078480" y="5485154"/>
            <a:ext cx="91440" cy="6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169920" y="5485848"/>
            <a:ext cx="91440" cy="4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61360" y="5486264"/>
            <a:ext cx="91440" cy="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52800" y="5486255"/>
            <a:ext cx="91440" cy="1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444240" y="5485832"/>
            <a:ext cx="91440" cy="4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35680" y="5485129"/>
            <a:ext cx="91440" cy="7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27120" y="5484149"/>
            <a:ext cx="91440" cy="98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718560" y="5482893"/>
            <a:ext cx="91440" cy="1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810000" y="5481364"/>
            <a:ext cx="91440" cy="1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901440" y="5479564"/>
            <a:ext cx="91439" cy="18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92879" y="5477497"/>
            <a:ext cx="91441" cy="20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84320" y="5475166"/>
            <a:ext cx="91440" cy="2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75760" y="5472576"/>
            <a:ext cx="91440" cy="2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67200" y="5469732"/>
            <a:ext cx="91440" cy="28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58640" y="5466638"/>
            <a:ext cx="91440" cy="3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50080" y="5463301"/>
            <a:ext cx="91440" cy="33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41520" y="5459726"/>
            <a:ext cx="91440" cy="3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32960" y="5455921"/>
            <a:ext cx="91440" cy="38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24400" y="5451891"/>
            <a:ext cx="91440" cy="4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815840" y="5447645"/>
            <a:ext cx="91440" cy="4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907280" y="5443190"/>
            <a:ext cx="91440" cy="44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998720" y="5438535"/>
            <a:ext cx="91440" cy="46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090160" y="5433688"/>
            <a:ext cx="91440" cy="4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181600" y="5428657"/>
            <a:ext cx="91440" cy="50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273040" y="5423453"/>
            <a:ext cx="91440" cy="52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64480" y="5418085"/>
            <a:ext cx="91440" cy="53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455920" y="5412562"/>
            <a:ext cx="91440" cy="5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547360" y="5406895"/>
            <a:ext cx="91440" cy="56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38800" y="5401094"/>
            <a:ext cx="91440" cy="58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730240" y="5395170"/>
            <a:ext cx="91440" cy="59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821680" y="5389133"/>
            <a:ext cx="91440" cy="60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13120" y="5382995"/>
            <a:ext cx="91440" cy="61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004560" y="5376767"/>
            <a:ext cx="91440" cy="6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096000" y="5370461"/>
            <a:ext cx="91440" cy="630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187440" y="5364088"/>
            <a:ext cx="91440" cy="6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278880" y="5357659"/>
            <a:ext cx="91440" cy="64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370320" y="5351187"/>
            <a:ext cx="91440" cy="64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461760" y="5344684"/>
            <a:ext cx="91440" cy="6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553200" y="5338161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4640" y="5331630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736080" y="5325103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827520" y="5318593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918960" y="5312111"/>
            <a:ext cx="91440" cy="6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010400" y="5305670"/>
            <a:ext cx="91440" cy="644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101840" y="5299280"/>
            <a:ext cx="91440" cy="63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193280" y="5292954"/>
            <a:ext cx="91440" cy="63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284720" y="5286704"/>
            <a:ext cx="91440" cy="62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376160" y="5280540"/>
            <a:ext cx="91439" cy="61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467599" y="5274475"/>
            <a:ext cx="91441" cy="60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559040" y="5268519"/>
            <a:ext cx="91440" cy="59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650480" y="5262683"/>
            <a:ext cx="91440" cy="5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741920" y="5256978"/>
            <a:ext cx="91440" cy="57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33360" y="5251414"/>
            <a:ext cx="91439" cy="55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924799" y="5246003"/>
            <a:ext cx="91441" cy="5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016240" y="5240752"/>
            <a:ext cx="91440" cy="5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107680" y="5235673"/>
            <a:ext cx="91440" cy="5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199120" y="5230775"/>
            <a:ext cx="91440" cy="48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290560" y="5226066"/>
            <a:ext cx="91439" cy="47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381999" y="5221556"/>
            <a:ext cx="91441" cy="4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73440" y="5217252"/>
            <a:ext cx="91440" cy="43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564880" y="5213162"/>
            <a:ext cx="91440" cy="4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656320" y="5209294"/>
            <a:ext cx="91440" cy="38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747760" y="5205655"/>
            <a:ext cx="91440" cy="36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839200" y="5202252"/>
            <a:ext cx="91440" cy="34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930640" y="5199091"/>
            <a:ext cx="91440" cy="31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22080" y="5196178"/>
            <a:ext cx="91440" cy="29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113520" y="5193517"/>
            <a:ext cx="91440" cy="2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204960" y="5191115"/>
            <a:ext cx="91440" cy="24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296400" y="5188975"/>
            <a:ext cx="91440" cy="2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387840" y="5187102"/>
            <a:ext cx="91440" cy="18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479280" y="5185498"/>
            <a:ext cx="91440" cy="16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570720" y="5184167"/>
            <a:ext cx="91440" cy="1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662160" y="5183111"/>
            <a:ext cx="91440" cy="10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753600" y="5182332"/>
            <a:ext cx="91440" cy="7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845040" y="5181832"/>
            <a:ext cx="91440" cy="5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936480" y="5181611"/>
            <a:ext cx="91440" cy="2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027920" y="5181611"/>
            <a:ext cx="91440" cy="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119360" y="5181670"/>
            <a:ext cx="91440" cy="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210800" y="5182009"/>
            <a:ext cx="91440" cy="6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302240" y="5182627"/>
            <a:ext cx="91440" cy="8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393680" y="5183523"/>
            <a:ext cx="91440" cy="11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485120" y="5184695"/>
            <a:ext cx="91440" cy="14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576560" y="5186141"/>
            <a:ext cx="91440" cy="17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668000" y="5187859"/>
            <a:ext cx="91440" cy="19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759440" y="5189846"/>
            <a:ext cx="91440" cy="2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850880" y="5192097"/>
            <a:ext cx="91440" cy="25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942320" y="5194609"/>
            <a:ext cx="91440" cy="27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033760" y="5197376"/>
            <a:ext cx="91440" cy="301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125200" y="5200395"/>
            <a:ext cx="91440" cy="3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1216640" y="5203659"/>
            <a:ext cx="91440" cy="3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1308080" y="5207162"/>
            <a:ext cx="91440" cy="37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399520" y="5210898"/>
            <a:ext cx="91440" cy="3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09600" y="5517997"/>
            <a:ext cx="91440" cy="45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01040" y="5522513"/>
            <a:ext cx="91440" cy="43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92480" y="5526823"/>
            <a:ext cx="91440" cy="40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83920" y="5530920"/>
            <a:ext cx="91440" cy="38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75360" y="5534794"/>
            <a:ext cx="91440" cy="36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66800" y="5538440"/>
            <a:ext cx="91440" cy="3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158240" y="5541850"/>
            <a:ext cx="91440" cy="31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249680" y="5545018"/>
            <a:ext cx="91440" cy="2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341120" y="5547939"/>
            <a:ext cx="91440" cy="26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432560" y="5550607"/>
            <a:ext cx="91440" cy="2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524000" y="5553017"/>
            <a:ext cx="91440" cy="2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615440" y="5555164"/>
            <a:ext cx="91440" cy="18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706880" y="5557046"/>
            <a:ext cx="91440" cy="1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798320" y="5558658"/>
            <a:ext cx="91440" cy="1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889760" y="5559997"/>
            <a:ext cx="91439" cy="10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981199" y="5561061"/>
            <a:ext cx="91441" cy="7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072640" y="5561848"/>
            <a:ext cx="91440" cy="5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164080" y="5562356"/>
            <a:ext cx="91440" cy="2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255520" y="5562535"/>
            <a:ext cx="91440" cy="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346960" y="5562204"/>
            <a:ext cx="91440" cy="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38400" y="5561594"/>
            <a:ext cx="91440" cy="6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529840" y="5560707"/>
            <a:ext cx="91440" cy="8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621280" y="5559542"/>
            <a:ext cx="91440" cy="11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712720" y="5558104"/>
            <a:ext cx="91440" cy="14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804160" y="5556394"/>
            <a:ext cx="91440" cy="17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95600" y="5554416"/>
            <a:ext cx="91440" cy="197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987040" y="5552172"/>
            <a:ext cx="91440" cy="22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3078480" y="5549668"/>
            <a:ext cx="91440" cy="25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3169920" y="5546908"/>
            <a:ext cx="91440" cy="27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3261360" y="5543897"/>
            <a:ext cx="91440" cy="30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352800" y="5540640"/>
            <a:ext cx="91440" cy="32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444240" y="5537144"/>
            <a:ext cx="91440" cy="34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535680" y="5533414"/>
            <a:ext cx="91440" cy="37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627120" y="5529459"/>
            <a:ext cx="91440" cy="39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718560" y="5525284"/>
            <a:ext cx="91440" cy="4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810000" y="5520898"/>
            <a:ext cx="91440" cy="43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901440" y="5516308"/>
            <a:ext cx="91439" cy="4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992879" y="5511524"/>
            <a:ext cx="91441" cy="4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084320" y="5506554"/>
            <a:ext cx="91440" cy="49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175760" y="5501407"/>
            <a:ext cx="91440" cy="5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267200" y="5496092"/>
            <a:ext cx="91440" cy="5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358640" y="5490619"/>
            <a:ext cx="91440" cy="5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450080" y="5484999"/>
            <a:ext cx="91440" cy="5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541520" y="5479242"/>
            <a:ext cx="91440" cy="57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632960" y="5473357"/>
            <a:ext cx="91440" cy="588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724400" y="5467357"/>
            <a:ext cx="91440" cy="60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815840" y="5461252"/>
            <a:ext cx="91440" cy="61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907280" y="5455053"/>
            <a:ext cx="91440" cy="6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998720" y="5448771"/>
            <a:ext cx="91440" cy="62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090160" y="5442419"/>
            <a:ext cx="91440" cy="63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5181600" y="5436008"/>
            <a:ext cx="91440" cy="6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5273040" y="5429549"/>
            <a:ext cx="91440" cy="64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364480" y="5423054"/>
            <a:ext cx="91440" cy="64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5455920" y="5416536"/>
            <a:ext cx="91440" cy="6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547360" y="5410007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638800" y="5403478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730240" y="5396961"/>
            <a:ext cx="91440" cy="6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5821680" y="5390468"/>
            <a:ext cx="91440" cy="64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5913120" y="5384012"/>
            <a:ext cx="91440" cy="64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004560" y="5377603"/>
            <a:ext cx="91440" cy="64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096000" y="5371255"/>
            <a:ext cx="91440" cy="63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187440" y="5364978"/>
            <a:ext cx="91440" cy="62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278880" y="5358784"/>
            <a:ext cx="91440" cy="6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370320" y="5352685"/>
            <a:ext cx="91440" cy="60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461760" y="5346691"/>
            <a:ext cx="91440" cy="59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553200" y="5340814"/>
            <a:ext cx="91440" cy="58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4640" y="5335064"/>
            <a:ext cx="91440" cy="57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736080" y="5329452"/>
            <a:ext cx="91440" cy="5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827520" y="5323989"/>
            <a:ext cx="91440" cy="54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918960" y="5318684"/>
            <a:ext cx="91440" cy="53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7010400" y="5313547"/>
            <a:ext cx="91440" cy="51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7101840" y="5308587"/>
            <a:ext cx="91440" cy="49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7193280" y="5303814"/>
            <a:ext cx="91440" cy="47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7284720" y="5299237"/>
            <a:ext cx="91440" cy="45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376160" y="5294863"/>
            <a:ext cx="91439" cy="43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467599" y="5290701"/>
            <a:ext cx="91441" cy="41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559040" y="5286758"/>
            <a:ext cx="91440" cy="39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650480" y="5283042"/>
            <a:ext cx="91440" cy="37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741920" y="5279560"/>
            <a:ext cx="91440" cy="3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833360" y="5276318"/>
            <a:ext cx="91439" cy="32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924799" y="5273321"/>
            <a:ext cx="91441" cy="29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8016240" y="5270576"/>
            <a:ext cx="91440" cy="27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8107680" y="5268087"/>
            <a:ext cx="91440" cy="24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8199120" y="5265859"/>
            <a:ext cx="91440" cy="2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290560" y="5263897"/>
            <a:ext cx="91439" cy="1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8381999" y="5262202"/>
            <a:ext cx="91441" cy="16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473440" y="5260780"/>
            <a:ext cx="91440" cy="14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8564880" y="5259632"/>
            <a:ext cx="91440" cy="11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656320" y="5258761"/>
            <a:ext cx="91440" cy="8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747760" y="5258168"/>
            <a:ext cx="91440" cy="5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839200" y="5257854"/>
            <a:ext cx="91440" cy="3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930640" y="5257819"/>
            <a:ext cx="91440" cy="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9022080" y="5257819"/>
            <a:ext cx="91440" cy="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9113520" y="5258065"/>
            <a:ext cx="91440" cy="5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9204960" y="5258590"/>
            <a:ext cx="91440" cy="8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296400" y="5259393"/>
            <a:ext cx="91440" cy="10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387840" y="5260474"/>
            <a:ext cx="91440" cy="13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479280" y="5261829"/>
            <a:ext cx="91440" cy="16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570720" y="5263457"/>
            <a:ext cx="91440" cy="18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662160" y="5265354"/>
            <a:ext cx="91440" cy="21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753600" y="5267517"/>
            <a:ext cx="91440" cy="2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845040" y="5269943"/>
            <a:ext cx="91440" cy="26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936480" y="5272625"/>
            <a:ext cx="91440" cy="29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0027920" y="5275561"/>
            <a:ext cx="91440" cy="318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0119360" y="5278744"/>
            <a:ext cx="91440" cy="34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0210800" y="5282168"/>
            <a:ext cx="91440" cy="3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0302240" y="5285827"/>
            <a:ext cx="91440" cy="38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0393680" y="5289715"/>
            <a:ext cx="91440" cy="41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485120" y="5293824"/>
            <a:ext cx="91440" cy="4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576560" y="5298147"/>
            <a:ext cx="91440" cy="45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668000" y="5302675"/>
            <a:ext cx="91440" cy="47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759440" y="5307401"/>
            <a:ext cx="91440" cy="49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850880" y="5312316"/>
            <a:ext cx="91440" cy="5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942320" y="5317410"/>
            <a:ext cx="91440" cy="52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1033760" y="5322675"/>
            <a:ext cx="91440" cy="5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1125200" y="5328101"/>
            <a:ext cx="91440" cy="55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1216640" y="5333677"/>
            <a:ext cx="91440" cy="57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1308080" y="5339394"/>
            <a:ext cx="91440" cy="5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1399520" y="5345241"/>
            <a:ext cx="91440" cy="596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09600" y="5632648"/>
            <a:ext cx="91440" cy="17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701040" y="5634350"/>
            <a:ext cx="91440" cy="14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92480" y="5635781"/>
            <a:ext cx="91440" cy="1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83920" y="5636937"/>
            <a:ext cx="91440" cy="8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75360" y="5637816"/>
            <a:ext cx="91440" cy="6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66800" y="5638418"/>
            <a:ext cx="91440" cy="3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158240" y="5638740"/>
            <a:ext cx="91440" cy="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249680" y="5638545"/>
            <a:ext cx="91440" cy="2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341120" y="5638028"/>
            <a:ext cx="91440" cy="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432560" y="5637233"/>
            <a:ext cx="91440" cy="7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524000" y="5636161"/>
            <a:ext cx="91440" cy="10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615440" y="5634814"/>
            <a:ext cx="91440" cy="13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706880" y="5633194"/>
            <a:ext cx="91440" cy="1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798320" y="5631305"/>
            <a:ext cx="91440" cy="18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889760" y="5629149"/>
            <a:ext cx="91439" cy="2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981199" y="5626732"/>
            <a:ext cx="91441" cy="24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072640" y="5624056"/>
            <a:ext cx="91440" cy="26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164080" y="5621128"/>
            <a:ext cx="91440" cy="2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2255520" y="5617953"/>
            <a:ext cx="91440" cy="3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346960" y="5614535"/>
            <a:ext cx="91440" cy="34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438400" y="5610883"/>
            <a:ext cx="91440" cy="36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529840" y="5607002"/>
            <a:ext cx="91440" cy="38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621280" y="5602899"/>
            <a:ext cx="91440" cy="41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712720" y="5598583"/>
            <a:ext cx="91440" cy="43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804160" y="5594060"/>
            <a:ext cx="91440" cy="4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895600" y="5589340"/>
            <a:ext cx="91440" cy="47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987040" y="5584431"/>
            <a:ext cx="91440" cy="49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078480" y="5579341"/>
            <a:ext cx="91440" cy="5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3169920" y="5574081"/>
            <a:ext cx="91440" cy="52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3261360" y="5568660"/>
            <a:ext cx="91440" cy="54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352800" y="5563088"/>
            <a:ext cx="91440" cy="55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444240" y="5557375"/>
            <a:ext cx="91440" cy="57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535680" y="5551532"/>
            <a:ext cx="91440" cy="58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627120" y="5545569"/>
            <a:ext cx="91440" cy="5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718560" y="5539498"/>
            <a:ext cx="91440" cy="60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3810000" y="5533329"/>
            <a:ext cx="91440" cy="61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3901440" y="5527073"/>
            <a:ext cx="91439" cy="6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992879" y="5520744"/>
            <a:ext cx="91441" cy="63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084320" y="5514351"/>
            <a:ext cx="91440" cy="63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175760" y="5507906"/>
            <a:ext cx="91440" cy="64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267200" y="5501422"/>
            <a:ext cx="91440" cy="64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358640" y="5494911"/>
            <a:ext cx="91440" cy="65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450080" y="5488384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541520" y="5481853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632960" y="5475331"/>
            <a:ext cx="91440" cy="65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724400" y="5468829"/>
            <a:ext cx="91440" cy="65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815840" y="5462359"/>
            <a:ext cx="91440" cy="64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907280" y="5455933"/>
            <a:ext cx="91440" cy="6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998720" y="5449564"/>
            <a:ext cx="91440" cy="63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090160" y="5443262"/>
            <a:ext cx="91440" cy="63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181600" y="5437039"/>
            <a:ext cx="91440" cy="62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273040" y="5430907"/>
            <a:ext cx="91440" cy="61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364480" y="5424877"/>
            <a:ext cx="91440" cy="6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455920" y="5418959"/>
            <a:ext cx="91440" cy="59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547360" y="5413166"/>
            <a:ext cx="91440" cy="5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638800" y="5407507"/>
            <a:ext cx="91440" cy="5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730240" y="5401993"/>
            <a:ext cx="91440" cy="55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821680" y="5396634"/>
            <a:ext cx="91440" cy="53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913120" y="5391440"/>
            <a:ext cx="91440" cy="5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6004560" y="5386420"/>
            <a:ext cx="91440" cy="50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096000" y="5381584"/>
            <a:ext cx="91440" cy="4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6187440" y="5376940"/>
            <a:ext cx="91440" cy="46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278880" y="5372498"/>
            <a:ext cx="91440" cy="44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370320" y="5368264"/>
            <a:ext cx="91440" cy="423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461760" y="5364248"/>
            <a:ext cx="91440" cy="40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553200" y="5360455"/>
            <a:ext cx="91440" cy="3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644640" y="5356894"/>
            <a:ext cx="91440" cy="35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736080" y="5353571"/>
            <a:ext cx="91440" cy="3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827520" y="5350492"/>
            <a:ext cx="91440" cy="3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918960" y="5347663"/>
            <a:ext cx="91440" cy="28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7010400" y="5345088"/>
            <a:ext cx="91440" cy="2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7101840" y="5342773"/>
            <a:ext cx="91440" cy="2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7193280" y="5340721"/>
            <a:ext cx="91440" cy="20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7284720" y="5338937"/>
            <a:ext cx="91440" cy="1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7376160" y="5337424"/>
            <a:ext cx="91439" cy="15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7467599" y="5336184"/>
            <a:ext cx="91441" cy="1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7559040" y="5335221"/>
            <a:ext cx="91440" cy="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7650480" y="5334535"/>
            <a:ext cx="91440" cy="6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7741920" y="5334127"/>
            <a:ext cx="91440" cy="4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7833360" y="5334000"/>
            <a:ext cx="91439" cy="1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7924799" y="5334000"/>
            <a:ext cx="91441" cy="1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8016240" y="5334152"/>
            <a:ext cx="91440" cy="4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8107680" y="5334584"/>
            <a:ext cx="91440" cy="7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8199120" y="5335295"/>
            <a:ext cx="91440" cy="9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8290560" y="5336283"/>
            <a:ext cx="91439" cy="1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8381999" y="5337547"/>
            <a:ext cx="91441" cy="15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8473440" y="5339084"/>
            <a:ext cx="91440" cy="18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8564880" y="5340892"/>
            <a:ext cx="91440" cy="20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8656320" y="5342967"/>
            <a:ext cx="91440" cy="23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8747760" y="5345305"/>
            <a:ext cx="91440" cy="25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8839200" y="5347903"/>
            <a:ext cx="91440" cy="28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930640" y="5350755"/>
            <a:ext cx="91440" cy="31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9022080" y="5353856"/>
            <a:ext cx="91440" cy="33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9113520" y="5357200"/>
            <a:ext cx="91440" cy="3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9204960" y="5360782"/>
            <a:ext cx="91440" cy="38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9296400" y="5364594"/>
            <a:ext cx="91440" cy="4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9387840" y="5368630"/>
            <a:ext cx="91440" cy="42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9479280" y="5372883"/>
            <a:ext cx="91440" cy="44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9570720" y="5377343"/>
            <a:ext cx="91440" cy="4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9662160" y="5382004"/>
            <a:ext cx="91440" cy="48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9753600" y="5386857"/>
            <a:ext cx="91440" cy="5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9845040" y="5391893"/>
            <a:ext cx="91440" cy="52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9936480" y="5397102"/>
            <a:ext cx="91440" cy="5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0027920" y="5402475"/>
            <a:ext cx="91440" cy="5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0119360" y="5408002"/>
            <a:ext cx="91440" cy="56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0210800" y="5413674"/>
            <a:ext cx="91440" cy="58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0302240" y="5419478"/>
            <a:ext cx="91440" cy="5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0393680" y="5425406"/>
            <a:ext cx="91440" cy="60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0485120" y="5431446"/>
            <a:ext cx="91440" cy="6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0576560" y="5437586"/>
            <a:ext cx="91440" cy="62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0668000" y="5443817"/>
            <a:ext cx="91440" cy="63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0759440" y="5450125"/>
            <a:ext cx="91440" cy="63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0850880" y="5456500"/>
            <a:ext cx="91440" cy="64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0942320" y="5462930"/>
            <a:ext cx="91440" cy="6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1033760" y="5469403"/>
            <a:ext cx="91440" cy="65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1125200" y="5475908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1216640" y="5482431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1308080" y="5488962"/>
            <a:ext cx="91440" cy="65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1399520" y="5495488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从交付到再次核验的完整应用闭环。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业务落地 · 操作闭环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一次交付建立身份，一次上传启动来源核验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94560"/>
            <a:ext cx="2057400" cy="15087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945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设计制作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描述生成或上传保护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EED17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8420" y="2811780"/>
            <a:ext cx="14478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1300" y="2194560"/>
            <a:ext cx="2057400" cy="15087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781300" y="21945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18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品牌交付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8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登记编号＋留存交付图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3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EED17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4420" y="2811780"/>
            <a:ext cx="14478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7300" y="2194560"/>
            <a:ext cx="2057400" cy="15087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67300" y="21945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04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网络传播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4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转发／压缩／改名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9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EED17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0420" y="2811780"/>
            <a:ext cx="14478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53299" y="2194560"/>
            <a:ext cx="2057400" cy="15087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353299" y="21945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0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运营核验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5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EED17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56420" y="2811780"/>
            <a:ext cx="14478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39300" y="2194560"/>
            <a:ext cx="2057400" cy="150876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639300" y="21945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76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人工复核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6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核对署名与授权材料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1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EED17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" y="4686300"/>
            <a:ext cx="107442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正常：有效编号 → 来源登记 → 人工确认使用依据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" y="520446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3D4E3"/>
                </a:solidFill>
                <a:latin typeface="Microsoft YaHei"/>
              </a:defRPr>
            </a:pPr>
            <a:r>
              <a:t>异常：无匹配／冲突／服务错误 → 不作确权结论 → 补充原图与材料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业务使用结果是“有线索可核对”，而非自动判定侵权或许可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应用验证 · 场景案例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同一批样张，在“压缩、裁剪、未标记”下走向不同处理结果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被压缩后收到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ual-compr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70" y="2438400"/>
            <a:ext cx="2042160" cy="2042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EED175"/>
                </a:solidFill>
                <a:latin typeface="Microsoft YaHei"/>
              </a:defRPr>
            </a:pPr>
            <a:r>
              <a:t>24/24 找回登记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查看来源声明，再核对授权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被大幅裁剪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0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ual-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970" y="2438400"/>
            <a:ext cx="2042160" cy="2042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196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EED175"/>
                </a:solidFill>
                <a:latin typeface="Microsoft YaHei"/>
              </a:defRPr>
            </a:pPr>
            <a:r>
              <a:t>0/24 恢复标识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保留无法确认，补充原图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收到无水印图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7699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ctual-unmar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170" y="2438400"/>
            <a:ext cx="2042160" cy="2042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058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EED175"/>
                </a:solidFill>
                <a:latin typeface="Microsoft YaHei"/>
              </a:defRPr>
            </a:pPr>
            <a:r>
              <a:t>24/24 未关联登记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人工查找，不推断权属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落地价值体现在“下一步怎么处理”，不只是返回一个技术分数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测试方案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用质量、恢复、误检与任务效率共同评价方案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B4A"/>
                </a:solidFill>
                <a:latin typeface="Microsoft YaHei"/>
              </a:defRPr>
            </a:pPr>
            <a:r>
              <a:t>视觉质量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750820"/>
            <a:ext cx="2514600" cy="1363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95299" y="275082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24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图像观感与局部细节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图像指标＋盲评观察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9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B4A"/>
                </a:solidFill>
                <a:latin typeface="Microsoft YaHei"/>
              </a:defRPr>
            </a:pPr>
            <a:r>
              <a:t>标识恢复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2750820"/>
            <a:ext cx="2514600" cy="1363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390900" y="2750820"/>
            <a:ext cx="685799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80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原图与传播后图像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80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消息恢复率＋匹配情况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B4A"/>
                </a:solidFill>
                <a:latin typeface="Microsoft YaHei"/>
              </a:defRPr>
            </a:pPr>
            <a:r>
              <a:t>错误控制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6500" y="2750820"/>
            <a:ext cx="2514600" cy="1363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286500" y="275082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236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无水印与错误签名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误检率＋冲突与异常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21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16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B4A"/>
                </a:solidFill>
                <a:latin typeface="Microsoft YaHei"/>
              </a:defRPr>
            </a:pPr>
            <a:r>
              <a:t>使用效率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2100" y="2750820"/>
            <a:ext cx="2514600" cy="1363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182100" y="275082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192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人工追问与系统查找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92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任务耗时＋正确判断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" y="4610100"/>
            <a:ext cx="108204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2F6FB"/>
                </a:solidFill>
                <a:latin typeface="Microsoft YaHei"/>
              </a:defRPr>
            </a:pPr>
            <a:r>
              <a:t>传播条件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32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原始交付图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9654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322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轻度／明显压缩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444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尺寸缩小一半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7898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566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20200" y="509016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513588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2F6FB"/>
                </a:solidFill>
                <a:latin typeface="Microsoft YaHei"/>
              </a:defRPr>
            </a:pPr>
            <a:r>
              <a:t>重绘等失败条件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同时记录成功、失败与无法确认，让验证覆盖真实使用边界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测试与验证 · 受控试验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让结果同时呈现“可以恢复”与“暂时失效”的条件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95499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原图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3700" y="2133600"/>
            <a:ext cx="6248400" cy="27432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33700" y="2133600"/>
            <a:ext cx="6248400" cy="27432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8800" y="2095499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432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轻度压缩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3700" y="2781300"/>
            <a:ext cx="6248400" cy="27432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3700" y="2781300"/>
            <a:ext cx="6248400" cy="27432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8800" y="27432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3909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明显压缩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3700" y="3429000"/>
            <a:ext cx="6248400" cy="27432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3700" y="3429000"/>
            <a:ext cx="6248400" cy="27432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8800" y="33909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0386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尺寸减半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3700" y="4076699"/>
            <a:ext cx="6248400" cy="27432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33700" y="4076699"/>
            <a:ext cx="6248400" cy="27432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8800" y="40386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6863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33700" y="4724400"/>
            <a:ext cx="6248400" cy="27432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8800" y="46863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2F6FB"/>
                </a:solidFill>
                <a:latin typeface="Microsoft YaHei"/>
              </a:defRPr>
            </a:pPr>
            <a:r>
              <a:t>0 / 24 找回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" y="5501640"/>
            <a:ext cx="108204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24张自绘设计样张 · 当前内置轻量方法 · 仅说明本次受控条件表现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裁剪样本未恢复，系统应保留“无法确认”并引导人工复核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测试与验证 · 可靠性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不误导用户的失败提示，与成功检出同样重要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EED175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工作流检查通过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覆盖处理、持久化与错误语义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EED175"/>
                </a:solidFill>
                <a:latin typeface="Microsoft YaHei"/>
              </a:defRPr>
            </a:pPr>
            <a:r>
              <a:t>24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无水印样张未关联登记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受控小样本，不推断零误检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999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EED175"/>
                </a:solidFill>
                <a:latin typeface="Microsoft YaHei"/>
              </a:defRPr>
            </a:pPr>
            <a:r>
              <a:t>0.28秒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999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本地查询中位耗时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999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24条登记规模，不代表线上性能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" y="4777740"/>
            <a:ext cx="0" cy="655320"/>
          </a:xfrm>
          <a:prstGeom prst="line">
            <a:avLst/>
          </a:prstGeom>
          <a:ln w="3048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服务出错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显示未完成，不输出“未检出”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57700" y="4777740"/>
            <a:ext cx="0" cy="655320"/>
          </a:xfrm>
          <a:prstGeom prst="line">
            <a:avLst/>
          </a:prstGeom>
          <a:ln w="3048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177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登记冲突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输出需复核，不强行归属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3900" y="4777740"/>
            <a:ext cx="0" cy="655320"/>
          </a:xfrm>
          <a:prstGeom prst="line">
            <a:avLst/>
          </a:prstGeom>
          <a:ln w="30480">
            <a:solidFill>
              <a:srgbClr val="EED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F6FB"/>
                </a:solidFill>
                <a:latin typeface="Microsoft YaHei"/>
              </a:defRPr>
            </a:pPr>
            <a:r>
              <a:t>持久化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3D4E3"/>
                </a:solidFill>
                <a:latin typeface="Microsoft YaHei"/>
              </a:defRPr>
            </a:pPr>
            <a:r>
              <a:t>可回看登记与核验记录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正确区分成功、无匹配、冲突与服务错误，保护后续使用决策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成果展示 · 工程证据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用界面、原始记录和测试结果展示可复查进展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50720"/>
            <a:ext cx="70485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049780"/>
            <a:ext cx="5387340" cy="3368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24799" y="1965960"/>
            <a:ext cx="3764279" cy="137160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924799" y="19659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61960" y="2095499"/>
            <a:ext cx="34899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可复查原始记录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1960" y="2514600"/>
            <a:ext cx="34899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样本／条件／状态／正确性／耗时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4799" y="3649980"/>
            <a:ext cx="3764279" cy="1866899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924799" y="364998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61960" y="3779520"/>
            <a:ext cx="34899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软件与场景测试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960" y="4198620"/>
            <a:ext cx="3489960" cy="5529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13项工作流检查</a:t>
            </a:r>
          </a:p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120次正样本查询＋24次负样本查询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工程输出对应可查看的证据，而不是借用其他团队成果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实际落地 · 试点设计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嵌入品牌现有交付流程，逐步取得真实用户效果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57400"/>
            <a:ext cx="3467100" cy="20497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05740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18694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入组与资料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60604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一个合法营销素材批次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授权确认／去标识／留存原图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057400"/>
            <a:ext cx="3467100" cy="20497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81500" y="20574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18660" y="218694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接入与使用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660" y="260604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3—5名设计、运营或审核用户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制作、交付、再次核验全过程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7699" y="2057400"/>
            <a:ext cx="3467100" cy="20497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67699" y="205740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04860" y="218694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前后对照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860" y="260604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同任务比较人工与系统方式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记录正确率、耗时和异常处理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" y="4625340"/>
            <a:ext cx="10668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2F6FB"/>
                </a:solidFill>
                <a:latin typeface="Microsoft YaHei"/>
              </a:defRPr>
            </a:pPr>
            <a:r>
              <a:t>试点材料：流程截图、样本清单、任务记录、匿名反馈、失败案例与改进前后对照。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" y="5242560"/>
            <a:ext cx="10668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3D4E3"/>
                </a:solidFill>
                <a:latin typeface="Microsoft YaHei"/>
              </a:defRPr>
            </a:pPr>
            <a:r>
              <a:t>进入常态使用的条件：核验稳定、画质可接受、材料可核对、失败可处理。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试点应证明是否减少来源追问成本，而非只证明界面能够打开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05  总结与未来挑战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77240" y="1897380"/>
            <a:ext cx="3421380" cy="3055620"/>
          </a:xfrm>
          <a:prstGeom prst="rect">
            <a:avLst/>
          </a:prstGeom>
          <a:solidFill>
            <a:srgbClr val="164B70"/>
          </a:solidFill>
          <a:ln>
            <a:solidFill>
              <a:srgbClr val="C6A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9180" y="2232660"/>
            <a:ext cx="2773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EED175"/>
                </a:solidFill>
                <a:latin typeface="Microsoft YaHei"/>
              </a:defRPr>
            </a:pPr>
            <a:r>
              <a:t>恢复与失败边界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660" y="2880360"/>
            <a:ext cx="272034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2F6FB"/>
                </a:solidFill>
                <a:latin typeface="Microsoft YaHei"/>
              </a:defRPr>
            </a:pPr>
            <a:r>
              <a:t>24/24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660" y="3535680"/>
            <a:ext cx="27203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3D4E3"/>
                </a:solidFill>
                <a:latin typeface="Microsoft YaHei"/>
              </a:defRPr>
            </a:pPr>
            <a:r>
              <a:t>压缩样张找回登记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660" y="4061460"/>
            <a:ext cx="272034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EED175"/>
                </a:solidFill>
                <a:latin typeface="Microsoft YaHei"/>
              </a:defRPr>
            </a:pPr>
            <a:r>
              <a:t>0/24  裁剪恢复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95800" y="2095499"/>
            <a:ext cx="0" cy="2941321"/>
          </a:xfrm>
          <a:prstGeom prst="line">
            <a:avLst/>
          </a:prstGeom>
          <a:ln w="22859">
            <a:solidFill>
              <a:srgbClr val="D1B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90160" y="2674620"/>
            <a:ext cx="627888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EFD79A"/>
                </a:solidFill>
                <a:latin typeface="Microsoft YaHei"/>
              </a:defRPr>
            </a:pPr>
            <a:r>
              <a:t>总结与未来挑战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1120" y="3589020"/>
            <a:ext cx="61112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8E5EE"/>
                </a:solidFill>
                <a:latin typeface="Microsoft YaHei"/>
              </a:defRPr>
            </a:pPr>
            <a:r>
              <a:t>应用收益、开放问题和进一步验证。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5376952"/>
            <a:ext cx="91440" cy="62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1040" y="5383178"/>
            <a:ext cx="91440" cy="6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2480" y="5389313"/>
            <a:ext cx="91440" cy="603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3920" y="5395346"/>
            <a:ext cx="91440" cy="5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360" y="5401267"/>
            <a:ext cx="91440" cy="57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6800" y="5407064"/>
            <a:ext cx="91440" cy="56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" y="5412727"/>
            <a:ext cx="91440" cy="5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9680" y="5418245"/>
            <a:ext cx="91440" cy="53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41120" y="5423609"/>
            <a:ext cx="91440" cy="5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32560" y="5428808"/>
            <a:ext cx="91440" cy="50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4000" y="5433833"/>
            <a:ext cx="91440" cy="48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15440" y="5438675"/>
            <a:ext cx="91440" cy="46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06880" y="5443325"/>
            <a:ext cx="91440" cy="44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98320" y="5447773"/>
            <a:ext cx="91440" cy="4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89760" y="5452013"/>
            <a:ext cx="91439" cy="40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81199" y="5456036"/>
            <a:ext cx="91441" cy="37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72640" y="5459835"/>
            <a:ext cx="91440" cy="35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64080" y="5463403"/>
            <a:ext cx="91440" cy="33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55520" y="5466733"/>
            <a:ext cx="91440" cy="30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46960" y="5469820"/>
            <a:ext cx="91440" cy="28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38400" y="5472657"/>
            <a:ext cx="91440" cy="2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529840" y="5475239"/>
            <a:ext cx="91440" cy="2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621280" y="5477562"/>
            <a:ext cx="91440" cy="20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12720" y="5479621"/>
            <a:ext cx="91440" cy="179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04160" y="5481413"/>
            <a:ext cx="91440" cy="15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95600" y="5482934"/>
            <a:ext cx="91440" cy="12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87040" y="5484182"/>
            <a:ext cx="91440" cy="9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78480" y="5485154"/>
            <a:ext cx="91440" cy="6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169920" y="5485848"/>
            <a:ext cx="91440" cy="4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61360" y="5486264"/>
            <a:ext cx="91440" cy="1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352800" y="5486255"/>
            <a:ext cx="91440" cy="1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44240" y="5485832"/>
            <a:ext cx="91440" cy="4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535680" y="5485129"/>
            <a:ext cx="91440" cy="7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627120" y="5484149"/>
            <a:ext cx="91440" cy="98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718560" y="5482893"/>
            <a:ext cx="91440" cy="1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810000" y="5481364"/>
            <a:ext cx="91440" cy="1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901440" y="5479564"/>
            <a:ext cx="91439" cy="18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92879" y="5477497"/>
            <a:ext cx="91441" cy="20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084320" y="5475166"/>
            <a:ext cx="91440" cy="2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175760" y="5472576"/>
            <a:ext cx="91440" cy="2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267200" y="5469732"/>
            <a:ext cx="91440" cy="28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58640" y="5466638"/>
            <a:ext cx="91440" cy="3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50080" y="5463301"/>
            <a:ext cx="91440" cy="33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41520" y="5459726"/>
            <a:ext cx="91440" cy="3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632960" y="5455921"/>
            <a:ext cx="91440" cy="38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724400" y="5451891"/>
            <a:ext cx="91440" cy="4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815840" y="5447645"/>
            <a:ext cx="91440" cy="4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907280" y="5443190"/>
            <a:ext cx="91440" cy="44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998720" y="5438535"/>
            <a:ext cx="91440" cy="46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090160" y="5433688"/>
            <a:ext cx="91440" cy="4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181600" y="5428657"/>
            <a:ext cx="91440" cy="50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273040" y="5423453"/>
            <a:ext cx="91440" cy="52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364480" y="5418085"/>
            <a:ext cx="91440" cy="53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455920" y="5412562"/>
            <a:ext cx="91440" cy="5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547360" y="5406895"/>
            <a:ext cx="91440" cy="56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638800" y="5401094"/>
            <a:ext cx="91440" cy="58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730240" y="5395170"/>
            <a:ext cx="91440" cy="59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821680" y="5389133"/>
            <a:ext cx="91440" cy="60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913120" y="5382995"/>
            <a:ext cx="91440" cy="61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004560" y="5376767"/>
            <a:ext cx="91440" cy="6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096000" y="5370461"/>
            <a:ext cx="91440" cy="630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187440" y="5364088"/>
            <a:ext cx="91440" cy="6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278880" y="5357659"/>
            <a:ext cx="91440" cy="64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370320" y="5351187"/>
            <a:ext cx="91440" cy="64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461760" y="5344684"/>
            <a:ext cx="91440" cy="6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553200" y="5338161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644640" y="5331630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736080" y="5325103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827520" y="5318593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918960" y="5312111"/>
            <a:ext cx="91440" cy="6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010400" y="5305670"/>
            <a:ext cx="91440" cy="644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101840" y="5299280"/>
            <a:ext cx="91440" cy="63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193280" y="5292954"/>
            <a:ext cx="91440" cy="63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284720" y="5286704"/>
            <a:ext cx="91440" cy="62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376160" y="5280540"/>
            <a:ext cx="91439" cy="61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467599" y="5274475"/>
            <a:ext cx="91441" cy="60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559040" y="5268519"/>
            <a:ext cx="91440" cy="59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650480" y="5262683"/>
            <a:ext cx="91440" cy="5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741920" y="5256978"/>
            <a:ext cx="91440" cy="57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833360" y="5251414"/>
            <a:ext cx="91439" cy="55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924799" y="5246003"/>
            <a:ext cx="91441" cy="5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016240" y="5240752"/>
            <a:ext cx="91440" cy="5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107680" y="5235673"/>
            <a:ext cx="91440" cy="5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199120" y="5230775"/>
            <a:ext cx="91440" cy="48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290560" y="5226066"/>
            <a:ext cx="91439" cy="47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381999" y="5221556"/>
            <a:ext cx="91441" cy="4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473440" y="5217252"/>
            <a:ext cx="91440" cy="43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564880" y="5213162"/>
            <a:ext cx="91440" cy="4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656320" y="5209294"/>
            <a:ext cx="91440" cy="38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747760" y="5205655"/>
            <a:ext cx="91440" cy="36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839200" y="5202252"/>
            <a:ext cx="91440" cy="34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930640" y="5199091"/>
            <a:ext cx="91440" cy="31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022080" y="5196178"/>
            <a:ext cx="91440" cy="29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13520" y="5193517"/>
            <a:ext cx="91440" cy="2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204960" y="5191115"/>
            <a:ext cx="91440" cy="24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296400" y="5188975"/>
            <a:ext cx="91440" cy="2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387840" y="5187102"/>
            <a:ext cx="91440" cy="18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479280" y="5185498"/>
            <a:ext cx="91440" cy="16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570720" y="5184167"/>
            <a:ext cx="91440" cy="1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662160" y="5183111"/>
            <a:ext cx="91440" cy="10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753600" y="5182332"/>
            <a:ext cx="91440" cy="7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845040" y="5181832"/>
            <a:ext cx="91440" cy="5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936480" y="5181611"/>
            <a:ext cx="91440" cy="2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027920" y="5181611"/>
            <a:ext cx="91440" cy="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119360" y="5181670"/>
            <a:ext cx="91440" cy="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210800" y="5182009"/>
            <a:ext cx="91440" cy="6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302240" y="5182627"/>
            <a:ext cx="91440" cy="8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393680" y="5183523"/>
            <a:ext cx="91440" cy="11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485120" y="5184695"/>
            <a:ext cx="91440" cy="14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576560" y="5186141"/>
            <a:ext cx="91440" cy="17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668000" y="5187859"/>
            <a:ext cx="91440" cy="19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759440" y="5189846"/>
            <a:ext cx="91440" cy="225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850880" y="5192097"/>
            <a:ext cx="91440" cy="25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942320" y="5194609"/>
            <a:ext cx="91440" cy="276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1033760" y="5197376"/>
            <a:ext cx="91440" cy="301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125200" y="5200395"/>
            <a:ext cx="91440" cy="3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216640" y="5203659"/>
            <a:ext cx="91440" cy="35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1308080" y="5207162"/>
            <a:ext cx="91440" cy="37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399520" y="5210898"/>
            <a:ext cx="91440" cy="3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09600" y="5517997"/>
            <a:ext cx="91440" cy="45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01040" y="5522513"/>
            <a:ext cx="91440" cy="43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92480" y="5526823"/>
            <a:ext cx="91440" cy="40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83920" y="5530920"/>
            <a:ext cx="91440" cy="38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75360" y="5534794"/>
            <a:ext cx="91440" cy="36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66800" y="5538440"/>
            <a:ext cx="91440" cy="3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158240" y="5541850"/>
            <a:ext cx="91440" cy="31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249680" y="5545018"/>
            <a:ext cx="91440" cy="29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341120" y="5547939"/>
            <a:ext cx="91440" cy="266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432560" y="5550607"/>
            <a:ext cx="91440" cy="24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524000" y="5553017"/>
            <a:ext cx="91440" cy="2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615440" y="5555164"/>
            <a:ext cx="91440" cy="18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706880" y="5557046"/>
            <a:ext cx="91440" cy="1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798320" y="5558658"/>
            <a:ext cx="91440" cy="133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889760" y="5559997"/>
            <a:ext cx="91439" cy="10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981199" y="5561061"/>
            <a:ext cx="91441" cy="7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072640" y="5561848"/>
            <a:ext cx="91440" cy="5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164080" y="5562356"/>
            <a:ext cx="91440" cy="2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255520" y="5562535"/>
            <a:ext cx="91440" cy="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346960" y="5562204"/>
            <a:ext cx="91440" cy="3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438400" y="5561594"/>
            <a:ext cx="91440" cy="6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529840" y="5560707"/>
            <a:ext cx="91440" cy="88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621280" y="5559542"/>
            <a:ext cx="91440" cy="11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712720" y="5558104"/>
            <a:ext cx="91440" cy="14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804160" y="5556394"/>
            <a:ext cx="91440" cy="17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895600" y="5554416"/>
            <a:ext cx="91440" cy="197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987040" y="5552172"/>
            <a:ext cx="91440" cy="22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078480" y="5549668"/>
            <a:ext cx="91440" cy="25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169920" y="5546908"/>
            <a:ext cx="91440" cy="27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261360" y="5543897"/>
            <a:ext cx="91440" cy="30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352800" y="5540640"/>
            <a:ext cx="91440" cy="32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444240" y="5537144"/>
            <a:ext cx="91440" cy="349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535680" y="5533414"/>
            <a:ext cx="91440" cy="37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627120" y="5529459"/>
            <a:ext cx="91440" cy="39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718560" y="5525284"/>
            <a:ext cx="91440" cy="4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810000" y="5520898"/>
            <a:ext cx="91440" cy="43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901440" y="5516308"/>
            <a:ext cx="91439" cy="45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992879" y="5511524"/>
            <a:ext cx="91441" cy="4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084320" y="5506554"/>
            <a:ext cx="91440" cy="49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175760" y="5501407"/>
            <a:ext cx="91440" cy="51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267200" y="5496092"/>
            <a:ext cx="91440" cy="5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358640" y="5490619"/>
            <a:ext cx="91440" cy="5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450080" y="5484999"/>
            <a:ext cx="91440" cy="5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541520" y="5479242"/>
            <a:ext cx="91440" cy="575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632960" y="5473357"/>
            <a:ext cx="91440" cy="588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724400" y="5467357"/>
            <a:ext cx="91440" cy="600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4815840" y="5461252"/>
            <a:ext cx="91440" cy="61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907280" y="5455053"/>
            <a:ext cx="91440" cy="61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4998720" y="5448771"/>
            <a:ext cx="91440" cy="62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090160" y="5442419"/>
            <a:ext cx="91440" cy="63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5181600" y="5436008"/>
            <a:ext cx="91440" cy="64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273040" y="5429549"/>
            <a:ext cx="91440" cy="64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364480" y="5423054"/>
            <a:ext cx="91440" cy="64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455920" y="5416536"/>
            <a:ext cx="91440" cy="65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5547360" y="5410007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5638800" y="5403478"/>
            <a:ext cx="91440" cy="65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5730240" y="5396961"/>
            <a:ext cx="91440" cy="6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5821680" y="5390468"/>
            <a:ext cx="91440" cy="64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5913120" y="5384012"/>
            <a:ext cx="91440" cy="64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004560" y="5377603"/>
            <a:ext cx="91440" cy="64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096000" y="5371255"/>
            <a:ext cx="91440" cy="63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187440" y="5364978"/>
            <a:ext cx="91440" cy="62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278880" y="5358784"/>
            <a:ext cx="91440" cy="6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370320" y="5352685"/>
            <a:ext cx="91440" cy="609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461760" y="5346691"/>
            <a:ext cx="91440" cy="59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553200" y="5340814"/>
            <a:ext cx="91440" cy="58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644640" y="5335064"/>
            <a:ext cx="91440" cy="575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736080" y="5329452"/>
            <a:ext cx="91440" cy="56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827520" y="5323989"/>
            <a:ext cx="91440" cy="54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918960" y="5318684"/>
            <a:ext cx="91440" cy="53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7010400" y="5313547"/>
            <a:ext cx="91440" cy="51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101840" y="5308587"/>
            <a:ext cx="91440" cy="49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193280" y="5303814"/>
            <a:ext cx="91440" cy="47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284720" y="5299237"/>
            <a:ext cx="91440" cy="457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376160" y="5294863"/>
            <a:ext cx="91439" cy="437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467599" y="5290701"/>
            <a:ext cx="91441" cy="41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559040" y="5286758"/>
            <a:ext cx="91440" cy="39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650480" y="5283042"/>
            <a:ext cx="91440" cy="37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741920" y="5279560"/>
            <a:ext cx="91440" cy="34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833360" y="5276318"/>
            <a:ext cx="91439" cy="32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924799" y="5273321"/>
            <a:ext cx="91441" cy="29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016240" y="5270576"/>
            <a:ext cx="91440" cy="27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8107680" y="5268087"/>
            <a:ext cx="91440" cy="24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199120" y="5265859"/>
            <a:ext cx="91440" cy="22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8290560" y="5263897"/>
            <a:ext cx="91439" cy="196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381999" y="5262202"/>
            <a:ext cx="91441" cy="16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473440" y="5260780"/>
            <a:ext cx="91440" cy="14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564880" y="5259632"/>
            <a:ext cx="91440" cy="114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656320" y="5258761"/>
            <a:ext cx="91440" cy="8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747760" y="5258168"/>
            <a:ext cx="91440" cy="5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8839200" y="5257854"/>
            <a:ext cx="91440" cy="3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8930640" y="5257819"/>
            <a:ext cx="91440" cy="3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022080" y="5257819"/>
            <a:ext cx="91440" cy="24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113520" y="5258065"/>
            <a:ext cx="91440" cy="52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204960" y="5258590"/>
            <a:ext cx="91440" cy="8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296400" y="5259393"/>
            <a:ext cx="91440" cy="10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387840" y="5260474"/>
            <a:ext cx="91440" cy="135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479280" y="5261829"/>
            <a:ext cx="91440" cy="16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570720" y="5263457"/>
            <a:ext cx="91440" cy="189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662160" y="5265354"/>
            <a:ext cx="91440" cy="21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9753600" y="5267517"/>
            <a:ext cx="91440" cy="2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9845040" y="5269943"/>
            <a:ext cx="91440" cy="26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9936480" y="5272625"/>
            <a:ext cx="91440" cy="29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0027920" y="5275561"/>
            <a:ext cx="91440" cy="318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0119360" y="5278744"/>
            <a:ext cx="91440" cy="342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210800" y="5282168"/>
            <a:ext cx="91440" cy="3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302240" y="5285827"/>
            <a:ext cx="91440" cy="38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393680" y="5289715"/>
            <a:ext cx="91440" cy="41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485120" y="5293824"/>
            <a:ext cx="91440" cy="4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576560" y="5298147"/>
            <a:ext cx="91440" cy="45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668000" y="5302675"/>
            <a:ext cx="91440" cy="47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759440" y="5307401"/>
            <a:ext cx="91440" cy="49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850880" y="5312316"/>
            <a:ext cx="91440" cy="50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942320" y="5317410"/>
            <a:ext cx="91440" cy="526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1033760" y="5322675"/>
            <a:ext cx="91440" cy="5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1125200" y="5328101"/>
            <a:ext cx="91440" cy="55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1216640" y="5333677"/>
            <a:ext cx="91440" cy="57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1308080" y="5339394"/>
            <a:ext cx="91440" cy="58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1399520" y="5345241"/>
            <a:ext cx="91440" cy="596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609600" y="5632648"/>
            <a:ext cx="91440" cy="17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701040" y="5634350"/>
            <a:ext cx="91440" cy="14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792480" y="5635781"/>
            <a:ext cx="91440" cy="1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83920" y="5636937"/>
            <a:ext cx="91440" cy="8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75360" y="5637816"/>
            <a:ext cx="91440" cy="6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6800" y="5638418"/>
            <a:ext cx="91440" cy="3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158240" y="5638740"/>
            <a:ext cx="91440" cy="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249680" y="5638545"/>
            <a:ext cx="91440" cy="2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341120" y="5638028"/>
            <a:ext cx="91440" cy="5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432560" y="5637233"/>
            <a:ext cx="91440" cy="79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524000" y="5636161"/>
            <a:ext cx="91440" cy="10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615440" y="5634814"/>
            <a:ext cx="91440" cy="134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706880" y="5633194"/>
            <a:ext cx="91440" cy="16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798320" y="5631305"/>
            <a:ext cx="91440" cy="188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889760" y="5629149"/>
            <a:ext cx="91439" cy="21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981199" y="5626732"/>
            <a:ext cx="91441" cy="241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072640" y="5624056"/>
            <a:ext cx="91440" cy="267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164080" y="5621128"/>
            <a:ext cx="91440" cy="2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255520" y="5617953"/>
            <a:ext cx="91440" cy="31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346960" y="5614535"/>
            <a:ext cx="91440" cy="34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438400" y="5610883"/>
            <a:ext cx="91440" cy="36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529840" y="5607002"/>
            <a:ext cx="91440" cy="388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621280" y="5602899"/>
            <a:ext cx="91440" cy="410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712720" y="5598583"/>
            <a:ext cx="91440" cy="43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804160" y="5594060"/>
            <a:ext cx="91440" cy="4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2895600" y="5589340"/>
            <a:ext cx="91440" cy="47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2987040" y="5584431"/>
            <a:ext cx="91440" cy="49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078480" y="5579341"/>
            <a:ext cx="91440" cy="509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169920" y="5574081"/>
            <a:ext cx="91440" cy="52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261360" y="5568660"/>
            <a:ext cx="91440" cy="542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352800" y="5563088"/>
            <a:ext cx="91440" cy="55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444240" y="5557375"/>
            <a:ext cx="91440" cy="57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3535680" y="5551532"/>
            <a:ext cx="91440" cy="584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3627120" y="5545569"/>
            <a:ext cx="91440" cy="5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718560" y="5539498"/>
            <a:ext cx="91440" cy="607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810000" y="5533329"/>
            <a:ext cx="91440" cy="61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3901440" y="5527073"/>
            <a:ext cx="91439" cy="625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992879" y="5520744"/>
            <a:ext cx="91441" cy="63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084320" y="5514351"/>
            <a:ext cx="91440" cy="63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175760" y="5507906"/>
            <a:ext cx="91440" cy="644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267200" y="5501422"/>
            <a:ext cx="91440" cy="64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358640" y="5494911"/>
            <a:ext cx="91440" cy="65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450080" y="5488384"/>
            <a:ext cx="91440" cy="6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541520" y="5481853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632960" y="5475331"/>
            <a:ext cx="91440" cy="652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724400" y="5468829"/>
            <a:ext cx="91440" cy="65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4815840" y="5462359"/>
            <a:ext cx="91440" cy="647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4907280" y="5455933"/>
            <a:ext cx="91440" cy="64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998720" y="5449564"/>
            <a:ext cx="91440" cy="636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090160" y="5443262"/>
            <a:ext cx="91440" cy="630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181600" y="5437039"/>
            <a:ext cx="91440" cy="62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273040" y="5430907"/>
            <a:ext cx="91440" cy="61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364480" y="5424877"/>
            <a:ext cx="91440" cy="60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455920" y="5418959"/>
            <a:ext cx="91440" cy="591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547360" y="5413166"/>
            <a:ext cx="91440" cy="5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638800" y="5407507"/>
            <a:ext cx="91440" cy="56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730240" y="5401993"/>
            <a:ext cx="91440" cy="551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821680" y="5396634"/>
            <a:ext cx="91440" cy="535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913120" y="5391440"/>
            <a:ext cx="91440" cy="519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004560" y="5386420"/>
            <a:ext cx="91440" cy="502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096000" y="5381584"/>
            <a:ext cx="91440" cy="48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187440" y="5376940"/>
            <a:ext cx="91440" cy="46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278880" y="5372498"/>
            <a:ext cx="91440" cy="444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370320" y="5368264"/>
            <a:ext cx="91440" cy="423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461760" y="5364248"/>
            <a:ext cx="91440" cy="401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553200" y="5360455"/>
            <a:ext cx="91440" cy="379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644640" y="5356894"/>
            <a:ext cx="91440" cy="35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736080" y="5353571"/>
            <a:ext cx="91440" cy="33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827520" y="5350492"/>
            <a:ext cx="91440" cy="307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918960" y="5347663"/>
            <a:ext cx="91440" cy="282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7010400" y="5345088"/>
            <a:ext cx="91440" cy="25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7101840" y="5342773"/>
            <a:ext cx="91440" cy="231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7193280" y="5340721"/>
            <a:ext cx="91440" cy="20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7284720" y="5338937"/>
            <a:ext cx="91440" cy="178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7376160" y="5337424"/>
            <a:ext cx="91439" cy="151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7467599" y="5336184"/>
            <a:ext cx="91441" cy="12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7559040" y="5335221"/>
            <a:ext cx="91440" cy="96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7650480" y="5334535"/>
            <a:ext cx="91440" cy="68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7741920" y="5334127"/>
            <a:ext cx="91440" cy="4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7833360" y="5334000"/>
            <a:ext cx="91439" cy="1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7924799" y="5334000"/>
            <a:ext cx="91441" cy="1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8016240" y="5334152"/>
            <a:ext cx="91440" cy="43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8107680" y="5334584"/>
            <a:ext cx="91440" cy="71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8199120" y="5335295"/>
            <a:ext cx="91440" cy="98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8290560" y="5336283"/>
            <a:ext cx="91439" cy="126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8381999" y="5337547"/>
            <a:ext cx="91441" cy="153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8473440" y="5339084"/>
            <a:ext cx="91440" cy="18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8564880" y="5340892"/>
            <a:ext cx="91440" cy="20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656320" y="5342967"/>
            <a:ext cx="91440" cy="233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8747760" y="5345305"/>
            <a:ext cx="91440" cy="259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839200" y="5347903"/>
            <a:ext cx="91440" cy="285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930640" y="5350755"/>
            <a:ext cx="91440" cy="310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9022080" y="5353856"/>
            <a:ext cx="91440" cy="334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9113520" y="5357200"/>
            <a:ext cx="91440" cy="358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9204960" y="5360782"/>
            <a:ext cx="91440" cy="381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9296400" y="5364594"/>
            <a:ext cx="91440" cy="4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9387840" y="5368630"/>
            <a:ext cx="91440" cy="42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9479280" y="5372883"/>
            <a:ext cx="91440" cy="446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9570720" y="5377343"/>
            <a:ext cx="91440" cy="466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9662160" y="5382004"/>
            <a:ext cx="91440" cy="485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9753600" y="5386857"/>
            <a:ext cx="91440" cy="503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9845040" y="5391893"/>
            <a:ext cx="91440" cy="5209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9936480" y="5397102"/>
            <a:ext cx="91440" cy="53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0027920" y="5402475"/>
            <a:ext cx="91440" cy="5527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0119360" y="5408002"/>
            <a:ext cx="91440" cy="5672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0210800" y="5413674"/>
            <a:ext cx="91440" cy="5804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0302240" y="5419478"/>
            <a:ext cx="91440" cy="592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0393680" y="5425406"/>
            <a:ext cx="91440" cy="60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0485120" y="5431446"/>
            <a:ext cx="91440" cy="614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0576560" y="5437586"/>
            <a:ext cx="91440" cy="62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0668000" y="5443817"/>
            <a:ext cx="91440" cy="6308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0759440" y="5450125"/>
            <a:ext cx="91440" cy="637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0850880" y="5456500"/>
            <a:ext cx="91440" cy="643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0942320" y="5462930"/>
            <a:ext cx="91440" cy="647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1033760" y="5469403"/>
            <a:ext cx="91440" cy="6505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1125200" y="5475908"/>
            <a:ext cx="91440" cy="6523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1216640" y="5482431"/>
            <a:ext cx="91440" cy="6531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1308080" y="5488962"/>
            <a:ext cx="91440" cy="6526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1399520" y="5495488"/>
            <a:ext cx="91440" cy="6510"/>
          </a:xfrm>
          <a:prstGeom prst="line">
            <a:avLst/>
          </a:prstGeom>
          <a:ln w="7620">
            <a:solidFill>
              <a:srgbClr val="D0A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应用收益、开放问题和进一步验证。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总结与展望 · 问题改进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把当前薄弱点，转化为有验证门槛的下一步工作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34540"/>
            <a:ext cx="3086100" cy="60960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80" y="218694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当前问题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6660" y="2034540"/>
            <a:ext cx="3733799" cy="60960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3339" y="218694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改进方向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58100" y="2034540"/>
            <a:ext cx="4038600" cy="609600"/>
          </a:xfrm>
          <a:prstGeom prst="rect">
            <a:avLst/>
          </a:prstGeom>
          <a:solidFill>
            <a:srgbClr val="EED175"/>
          </a:solidFill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4780" y="218694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B4A"/>
                </a:solidFill>
                <a:latin typeface="Microsoft YaHei"/>
              </a:defRPr>
            </a:pPr>
            <a:r>
              <a:t>验证门槛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99" y="2712720"/>
            <a:ext cx="30861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980" y="286512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裁剪后无法恢复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6660" y="2712720"/>
            <a:ext cx="3733799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3339" y="286512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验证鲁棒模型与对齐策略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58100" y="2712720"/>
            <a:ext cx="40386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4780" y="286512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同条件恢复＋误检＋画质同时报告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390900"/>
            <a:ext cx="30861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980" y="354330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登记规模与短标识风险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6660" y="3390900"/>
            <a:ext cx="3733799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3339" y="354330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索引、较长标识与冲突分流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8100" y="3390900"/>
            <a:ext cx="40386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64780" y="354330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扩容负载和冲突用例通过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299" y="4069080"/>
            <a:ext cx="30861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980" y="422148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签名与登记安全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6660" y="4069080"/>
            <a:ext cx="3733799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3339" y="422148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受控访问、密钥隔离与备份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58100" y="4069080"/>
            <a:ext cx="40386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64780" y="422148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权限、泄露与恢复演练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747260"/>
            <a:ext cx="30861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980" y="489966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尚缺真实用户成效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56660" y="4747260"/>
            <a:ext cx="3733799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3339" y="489966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完成同任务试用与反馈闭环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58100" y="4747260"/>
            <a:ext cx="4038600" cy="609600"/>
          </a:xfrm>
          <a:prstGeom prst="rect">
            <a:avLst/>
          </a:prstGeom>
          <a:solidFill>
            <a:srgbClr val="133F62"/>
          </a:solidFill>
          <a:ln>
            <a:solidFill>
              <a:srgbClr val="133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64780" y="489966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原始任务记录和可追查改进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以失败分析推动改进，避免把未来能力写成现有能力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应用效果 · 成本收益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把价值落到核对工时、返工次数和接入成本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64080"/>
            <a:ext cx="4114800" cy="123444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6408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293620"/>
            <a:ext cx="3840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可衡量的业务收益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712720"/>
            <a:ext cx="3840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减少来源追问／材料定位／重复登记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299" y="3779520"/>
            <a:ext cx="4114800" cy="14020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95299" y="377952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2460" y="3909060"/>
            <a:ext cx="3840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必须计算的接入成本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" y="4328160"/>
            <a:ext cx="3840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生成与反演算力／存储／维护／人工复核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06340" y="2049780"/>
            <a:ext cx="0" cy="336042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0" y="2209800"/>
            <a:ext cx="6096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2F6FB"/>
                </a:solidFill>
                <a:latin typeface="Microsoft YaHei"/>
              </a:defRPr>
            </a:pPr>
            <a:r>
              <a:t>月节省工时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89860"/>
            <a:ext cx="6096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EED175"/>
                </a:solidFill>
                <a:latin typeface="Microsoft YaHei"/>
              </a:defRPr>
            </a:pPr>
            <a:r>
              <a:t>月核验量 × 单次节省分钟 ÷ 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528060"/>
            <a:ext cx="6096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2F6FB"/>
                </a:solidFill>
                <a:latin typeface="Microsoft YaHei"/>
              </a:defRPr>
            </a:pPr>
            <a:r>
              <a:t>净收益判断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008120"/>
            <a:ext cx="6096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EED175"/>
                </a:solidFill>
                <a:latin typeface="Microsoft YaHei"/>
              </a:defRPr>
            </a:pPr>
            <a:r>
              <a:t>工时价值 − 推理、存储与维护成本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960620"/>
            <a:ext cx="60198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3D4E3"/>
                </a:solidFill>
                <a:latin typeface="Microsoft YaHei"/>
              </a:defRPr>
            </a:pPr>
            <a:r>
              <a:t>以试点的实际耗时与错误处理成本填入，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3D4E3"/>
                </a:solidFill>
                <a:latin typeface="Microsoft YaHei"/>
              </a:defRPr>
            </a:pPr>
            <a:r>
              <a:t>再决定是否值得扩大接入。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先证明能节省真实工作，再判断可持续推广的经济性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应用与落地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以电商验证任务，再向创意、文创和媒体延伸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385060"/>
            <a:ext cx="4114800" cy="22783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385060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" y="2514600"/>
            <a:ext cx="3840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首个验证点：电商营销素材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933700"/>
            <a:ext cx="3840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品牌设计 → 合作交付 → 再次核验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" y="3695700"/>
            <a:ext cx="3733799" cy="67726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C3D4E3"/>
                </a:solidFill>
                <a:latin typeface="Microsoft YaHei"/>
              </a:defRPr>
            </a:pPr>
            <a:r>
              <a:t>观察：来源查找效率</a:t>
            </a:r>
          </a:p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C3D4E3"/>
                </a:solidFill>
                <a:latin typeface="Microsoft YaHei"/>
              </a:defRPr>
            </a:pPr>
            <a:r>
              <a:t>检查：使用声明与复核提示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800600" y="2362200"/>
            <a:ext cx="2567940" cy="114300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8540" y="1943100"/>
            <a:ext cx="4328160" cy="982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368540" y="19431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05700" y="2072640"/>
            <a:ext cx="4053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创意设计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700" y="2491740"/>
            <a:ext cx="4053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署名与素材交付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505200"/>
            <a:ext cx="2567940" cy="15240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68540" y="3238500"/>
            <a:ext cx="4328160" cy="982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68540" y="32385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05700" y="3368040"/>
            <a:ext cx="4053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数字文创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3787140"/>
            <a:ext cx="4053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作品登记与使用线索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3505200"/>
            <a:ext cx="2567940" cy="1447800"/>
          </a:xfrm>
          <a:prstGeom prst="line">
            <a:avLst/>
          </a:prstGeom>
          <a:ln w="15240">
            <a:solidFill>
              <a:srgbClr val="327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68540" y="4533900"/>
            <a:ext cx="4328160" cy="9829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368540" y="453390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05700" y="4663440"/>
            <a:ext cx="4053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媒体传播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5700" y="5082540"/>
            <a:ext cx="4053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生成身份与来源辅助核验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落地成效以试用数据衡量，社会价值围绕可信使用展开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未来规划 · 推广路线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先验证单一业务任务，再扩大模型和应用范围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56660"/>
            <a:ext cx="3352800" cy="15925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09600" y="375666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6760" y="3886200"/>
            <a:ext cx="3078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方法与工程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60" y="4305300"/>
            <a:ext cx="3078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统一样本／独立复现／异常测试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53840" y="4290060"/>
            <a:ext cx="3200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926080"/>
            <a:ext cx="3352800" cy="15925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495800" y="2926080"/>
            <a:ext cx="685800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32960" y="3055620"/>
            <a:ext cx="3078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小规模业务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60" y="3474720"/>
            <a:ext cx="3078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合法素材／用户任务／收益衡量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40040" y="3459480"/>
            <a:ext cx="320040" cy="152400"/>
          </a:xfrm>
          <a:prstGeom prst="rightArrow">
            <a:avLst/>
          </a:prstGeom>
          <a:solidFill>
            <a:srgbClr val="EED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1999" y="2095499"/>
            <a:ext cx="3352800" cy="1592580"/>
          </a:xfrm>
          <a:prstGeom prst="rect">
            <a:avLst/>
          </a:prstGeom>
          <a:solidFill>
            <a:srgbClr val="133F62"/>
          </a:solidFill>
          <a:ln>
            <a:solidFill>
              <a:srgbClr val="32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381999" y="2095499"/>
            <a:ext cx="685801" cy="0"/>
          </a:xfrm>
          <a:prstGeom prst="line">
            <a:avLst/>
          </a:prstGeom>
          <a:ln w="22859">
            <a:solidFill>
              <a:srgbClr val="3AC1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19160" y="2225040"/>
            <a:ext cx="3078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574"/>
                </a:solidFill>
                <a:latin typeface="Microsoft YaHei"/>
              </a:defRPr>
            </a:pPr>
            <a:r>
              <a:t>模型与场景拓展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9160" y="2644140"/>
            <a:ext cx="3078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2F6FB"/>
                </a:solidFill>
                <a:latin typeface="Microsoft YaHei"/>
              </a:defRPr>
            </a:pPr>
            <a:r>
              <a:t>更多模型／业务团队／受控规模化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每一步都有技术与业务验收门槛，不以推广计划代替落地成绩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附录 · 评分覆盖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  <a:r>
              <a:t>七项评分分别对应需求、实现、证据与应用价值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4310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04216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创新性20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900" y="204216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场景任务、差异化与融合应用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0300" y="204216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299" y="246888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56794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需求分析15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900" y="256794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问题剖析、调研设计与需求映射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0300" y="256794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7 /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299" y="299466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09372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可行性20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0900" y="309372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总体架构、方法适配与部署资源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0300" y="309372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13 / 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52044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361950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实施15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0900" y="361950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原型、职责与验收交付物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0300" y="361950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14 / 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299" y="404622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14528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验证10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0900" y="414528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条件、正负样本、失败与复查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0300" y="414528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28 / 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299" y="457200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467106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效果15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0900" y="467106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案例、试点与成本收益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0300" y="467106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27 / 32 / 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5097780"/>
            <a:ext cx="11201400" cy="457200"/>
          </a:xfrm>
          <a:prstGeom prst="rect">
            <a:avLst/>
          </a:prstGeom>
          <a:solidFill>
            <a:srgbClr val="133F62"/>
          </a:solidFill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519684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EED175"/>
                </a:solidFill>
                <a:latin typeface="Microsoft YaHei"/>
              </a:defRPr>
            </a:pPr>
            <a:r>
              <a:t>总结5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900" y="519684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2F6FB"/>
                </a:solidFill>
                <a:latin typeface="Microsoft YaHei"/>
              </a:defRPr>
            </a:pPr>
            <a:r>
              <a:t>开放问题与后续验证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0300" y="519684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C3D4E3"/>
                </a:solidFill>
                <a:latin typeface="Microsoft YaHei"/>
              </a:defRPr>
            </a:pPr>
            <a:r>
              <a:t>34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最高档的论证与证据要求，贯穿场景、方法、验证和落地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solidFill>
            <a:srgbClr val="0A3654"/>
          </a:solidFill>
          <a:ln>
            <a:solidFill>
              <a:srgbClr val="0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" y="190500"/>
            <a:ext cx="11277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DDA3"/>
                </a:solidFill>
                <a:latin typeface="Microsoft YaHei"/>
              </a:defRPr>
            </a:pPr>
            <a:r>
              <a:t>总结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685800"/>
            <a:ext cx="11551920" cy="0"/>
          </a:xfrm>
          <a:prstGeom prst="line">
            <a:avLst/>
          </a:prstGeom>
          <a:ln w="22859">
            <a:solidFill>
              <a:srgbClr val="D1A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82980"/>
            <a:ext cx="11201400" cy="532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90"/>
              </a:lnSpc>
              <a:spcAft>
                <a:spcPts val="0"/>
              </a:spcAft>
              <a:defRPr sz="2640" b="1">
                <a:solidFill>
                  <a:srgbClr val="F2F6FB"/>
                </a:solidFill>
                <a:latin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4840" y="1935480"/>
            <a:ext cx="7239000" cy="127833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465"/>
              </a:lnSpc>
              <a:spcAft>
                <a:spcPts val="0"/>
              </a:spcAft>
              <a:defRPr sz="6959" b="1">
                <a:solidFill>
                  <a:srgbClr val="F5F6FA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180" y="3291840"/>
            <a:ext cx="8267699" cy="11539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243"/>
              </a:lnSpc>
              <a:spcAft>
                <a:spcPts val="0"/>
              </a:spcAft>
              <a:defRPr sz="3120" b="1">
                <a:solidFill>
                  <a:srgbClr val="F1D79B"/>
                </a:solidFill>
                <a:latin typeface="Microsoft YaHei"/>
              </a:defRPr>
            </a:pPr>
            <a:r>
              <a:t>让每一次图像传播</a:t>
            </a:r>
          </a:p>
          <a:p>
            <a:pPr>
              <a:lnSpc>
                <a:spcPts val="4243"/>
              </a:lnSpc>
              <a:spcAft>
                <a:spcPts val="0"/>
              </a:spcAft>
              <a:defRPr sz="3120" b="1">
                <a:solidFill>
                  <a:srgbClr val="F1D79B"/>
                </a:solidFill>
                <a:latin typeface="Microsoft YaHei"/>
              </a:defRPr>
            </a:pPr>
            <a:r>
              <a:t>都保留可核验的身份线索</a:t>
            </a:r>
          </a:p>
        </p:txBody>
      </p:sp>
      <p:sp>
        <p:nvSpPr>
          <p:cNvPr id="9" name="Oval 8"/>
          <p:cNvSpPr/>
          <p:nvPr/>
        </p:nvSpPr>
        <p:spPr>
          <a:xfrm>
            <a:off x="9029700" y="2324100"/>
            <a:ext cx="2209800" cy="22098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03130" y="2324100"/>
            <a:ext cx="662940" cy="22098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9562" y="2324100"/>
            <a:ext cx="1370076" cy="2209800"/>
          </a:xfrm>
          <a:prstGeom prst="ellipse">
            <a:avLst/>
          </a:prstGeom>
          <a:noFill/>
          <a:ln>
            <a:solidFill>
              <a:srgbClr val="EED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29700" y="3097530"/>
            <a:ext cx="2209800" cy="662940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29700" y="2743962"/>
            <a:ext cx="2209800" cy="1370076"/>
          </a:xfrm>
          <a:prstGeom prst="ellipse">
            <a:avLst/>
          </a:prstGeom>
          <a:noFill/>
          <a:ln>
            <a:solidFill>
              <a:srgbClr val="327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95299" y="5951220"/>
            <a:ext cx="11201401" cy="0"/>
          </a:xfrm>
          <a:prstGeom prst="line">
            <a:avLst/>
          </a:prstGeom>
          <a:ln w="7620">
            <a:solidFill>
              <a:srgbClr val="D5B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1980" y="6126480"/>
            <a:ext cx="109728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3D581"/>
                </a:solidFill>
                <a:latin typeface="Microsoft YaHei"/>
              </a:defRPr>
            </a:pPr>
            <a:r>
              <a:t>来源认证 · 可信溯源 · 权益线索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3D4E3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EED175"/>
                </a:solidFill>
                <a:latin typeface="Microsoft YaHe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