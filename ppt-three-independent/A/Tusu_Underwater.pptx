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图溯：面向数字图像可信传播的来源认证与溯源方案。底层技术采用球形水印，配图为原型截图和论文方法示意，不复用其他团队硬件或背书。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本目录与指定参考稿对应。A使用五段学术答辩目录；C使用五段系统设计目录。不是综合三份参考的混合目录。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先从数字图像的广泛价值讲起，不以电商或AIGC限定整个问题。左侧是创作，传播使图像进入多种使用任务，右侧这些任务都依赖一定的来源、署名或授权信息。无市场规模数字。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本页使用程序绘制的原创营销设计样张作为情境道具，不是AI生成照片、不是实测传播案例。演示附带说明与图片分离，并不表示一切转发都会剥离元数据。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电商仅为首个验证点，问题背景不限电商。情境：设计方制作新品图，品牌交付代运营或合作方，再次收到图的运营人员需要找回登记来源并核对使用材料。不是已有真实试点案例。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需求假设：品牌只发图片、合作方改名、运营缺少授权文件会增加核对成本。本页是情境分析，非访谈结论。应用目标是缩短来源追问与材料定位路径，不能自动认定盗用。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调研方案而非完成数据：拟覆盖3名设计、3名运营、2名审核人员。半结构化访谈记录最近一次交付与来源追问，不诱导受访者认可水印。随后同人交叉执行人工查找/图溯核验，顺序随机，保存匿名原话、观察记录、成功/失败与用时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用户需求为基于任务的需求假设，尚非完成访谈的统计结论。拟访谈创作者、运营、审核人员，追问最近一次交付、来源追问过程和画质底线；观察对比人工追问与系统来源查找。不得虚构问卷百分比。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此页为定性任务对比。可见署名、元数据、相似检索、隐形水印各有用途，并不宣称已有水印登记应用不存在。图溯的差异化需在同一用户任务中验证。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底层球形水印算法来自论文，不归为本项目原创。场景创新为主动身份标记与收到图片后的来源查找衔接；应用差异化仍须调研与对比任务支撑。技术难点包括反演恢复、误检、签名管理、登记安全与异常状态。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图溯应用框架图为本项目设计。算法层采用球形水印，登记层与交互层为应用设计。该框架描述目标主路线；现有原型后处理水印路径不能自动视为球形水印生成模型已接通。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选型依据论文方法特性，而非保证其在当前样本绝对最佳。生成先验适配、质量扰动与恢复能力要分别验证。无额外训练不等于无计算成本，提取仍有反演开销。</a:t>
            </a:r>
          </a:p>
          <a:p>
            <a:r>
              <a:t>本版仅模仿参考A的结构与版式，项目资料不来自参考团队。</a:t>
            </a:r>
          </a:p>
          <a:p>
            <a:r>
              <a:t>来源与验证范围：方法依据：Hu et al., Spherical Watermark, ICLR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原图Figure1(b)，重复编码、随机填充、T二进制可逆混合、单位球面归一化、C正交旋转、随机卡方半径，然后进入预训练扩散模型。K=(T,C)需保密。图与方法采用原论文，不是本团队算法原创。</a:t>
            </a:r>
          </a:p>
          <a:p>
            <a:r>
              <a:t>本版仅模仿参考A的结构与版式，项目资料不来自参考团队。</a:t>
            </a:r>
          </a:p>
          <a:p>
            <a:r>
              <a:t>来源与验证范围：Spherical Watermark, ICLR2026, Figure1(b)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上图Figure1(a)展示原方法离线和在线框架。核验经过VAE/扩散反演、C与T逆映射、量化及多数投票。下面应用层将恢复编号关联登记，不把标识检出等同合法授权或事实真实。</a:t>
            </a:r>
          </a:p>
          <a:p>
            <a:r>
              <a:t>本版仅模仿参考A的结构与版式，项目资料不来自参考团队。</a:t>
            </a:r>
          </a:p>
          <a:p>
            <a:r>
              <a:t>来源与验证范围：Spherical Watermark Figure1(a)；应用层为本项目设计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原型实际为Python HTTP服务、独立worker、JSON记录与PNG文件；模型任务单槽串行。球形水印需要独立模型仓库、权重与签名以及兼容GPU环境。未测GPU显存和吞吐，不填配置承诺。多租户鉴权、数据库与密钥托管是正式接入前工作项。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团队协作设计：算法负责人承担模型复现与配置，产品负责人承担接口与交互，验证负责人承担数据、对照实验和需求记录。未提供真实成员履历或协作成效，不编造团队背书。现有原型和13项软件测试有证据，后续模型统一评测与用户试点尚待实施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拟固定提示词、模型、采样步数和分辨率管理。条件包括原始图、JPEG90/JPEG50、缩放50%、中心裁剪70%，并纳入无水印负样本和错误签名。指标报告实际定义及样本数，避免检测TPR与比特准确率混用。访谈与小规模用户任务均未完成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本次实际执行原型API：24张程序自绘640×640设计图，咖啡/文创/家居3类布局；另24张独立无水印样张。内置轻量水印，不是球形水印。5种传播条件共120次正样本来源查询，另24次负样本查询。随机记录ID，原始结果CSV与方法代码随证据材料提供。</a:t>
            </a:r>
          </a:p>
          <a:p>
            <a:r>
              <a:t>本版仅模仿参考A的结构与版式，项目资料不来自参考团队。</a:t>
            </a:r>
          </a:p>
          <a:p>
            <a:r>
              <a:t>来源与验证范围：原始证据：evidence/raw-results.csv；不外推为球形水印成绩或真实商户效果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项实际工作流单元测试通过；包含部分模型链路夹具，不能表示GPU模型运行。另24张无水印图均未关联登记，仅为受控负样本结果。小样本零误匹配不表示总体零误检。任务查询中位耗时为单机本地24条登记扫描，不是公网延迟或生产SLA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为本次前序真实运行的原型。图片保护截图使用可见署名；图片溯源使用内置轻量水印；素材与记录为实际登记页面。这些是交互与工作流证据，不是球形水印推理截图。样张为程序自绘营销设计，不是AI生成场景照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为本次前序真实运行的原型。图片保护截图使用可见署名；图片溯源使用内置轻量水印；素材与记录为实际登记页面。这些是交互与工作流证据，不是球形水印推理截图。样张为程序自绘营销设计，不是AI生成场景照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为本次前序真实运行的原型。图片保护截图使用可见署名；图片溯源使用内置轻量水印；素材与记录为实际登记页面。这些是交互与工作流证据，不是球形水印推理截图。样张为程序自绘营销设计，不是AI生成场景照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本页是24张自绘样张上的受控试验，不是商户上线。内置轻量水印原图/压缩/尺寸减半24/24关联正确，保留宽高70%中心裁剪0/24，24张未加水印负样张均未关联登记。截图与设计样张均来自项目试验。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业务试点计划，尚无签约或已完成访谈。拟先联系一家有合法素材的小型品牌/设计服务团队，选一个完整营销批次；3至5名设计、运营、审核用户。入组许可、数据去标识，人工追问与系统查找交叉执行。验收阈值应由前测与用户共同确定，不虚构完成率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本收益模型为评估方法，非已取得收益。设月任务量M，人工与系统任务时间差Δt，人力小时成本H，则月可节省工时=M*Δt/60，毛节省=M*Δt*H/60；扣除模型推理、存储、维护和复核增量成本。不能将未核实侵权损失、赔偿或营收当项目收入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先选择自有或授权素材，拟邀设计或运营使用者，执行交付与来源查找。比较人工追问和系统核验的任务耗时、正确判断与无法确认。未来拓展场景为计划，不声称已有部署客户、专利、营收或市场份额。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轻量方法裁剪失败，论文主线的真实业务统一评测尚待完成，登记遍历规模、标识冲突、多租户权限与签名管理需进一步验证。改善候选不能保证抗攻击；任何对齐预处理或新模型都需重新测正负样本与质量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仅为内容定位，不代表已取得最高档所需全部实证。访谈、商户试用与球形水印GPU统一评测需独立完成。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总结：图溯以生成式水印与匿名登记连接来源认证、传播后查找与权益辅助核对。底层方法采用球形水印。用户成效与模型统一评测仍需实际完成。</a:t>
            </a:r>
          </a:p>
          <a:p>
            <a:r>
              <a:t>本版仅模仿参考A的结构与版式，项目资料不来自参考团队。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AI＋场景创新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752600"/>
            <a:ext cx="7772400" cy="103997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lnSpc>
                <a:spcPts val="5691"/>
              </a:lnSpc>
              <a:spcAft>
                <a:spcPts val="0"/>
              </a:spcAft>
              <a:defRPr sz="4185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7772400" cy="12576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lnSpc>
                <a:spcPts val="3488"/>
              </a:lnSpc>
              <a:spcAft>
                <a:spcPts val="0"/>
              </a:spcAft>
              <a:defRPr sz="2564" b="1">
                <a:solidFill>
                  <a:srgbClr val="153C85"/>
                </a:solidFill>
                <a:latin typeface="Microsoft YaHei"/>
              </a:defRPr>
            </a:pPr>
            <a:r>
              <a:rPr/>
              <a:t>面向数字图像可信传播的</a:t>
            </a:r>
          </a:p>
          <a:p>
            <a:pPr algn="ctr">
              <a:lnSpc>
                <a:spcPts val="3488"/>
              </a:lnSpc>
              <a:spcAft>
                <a:spcPts val="0"/>
              </a:spcAft>
              <a:defRPr sz="2564" b="1">
                <a:solidFill>
                  <a:srgbClr val="153C85"/>
                </a:solidFill>
                <a:latin typeface="Microsoft YaHei"/>
              </a:defRPr>
            </a:pPr>
            <a:r>
              <a:rPr/>
              <a:t>来源认证与溯源方案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556760"/>
            <a:ext cx="7772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8304E"/>
                </a:solidFill>
                <a:latin typeface="Microsoft YaHei"/>
              </a:defRPr>
            </a:pPr>
            <a:r>
              <a:rPr/>
              <a:t>生成身份可核验 · 图像来源可追查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让图像的身份线索，跟得上内容的传播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汇报提纲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</a:p>
        </p:txBody>
      </p:sp>
      <p:cxnSp>
        <p:nvCxnSpPr>
          <p:cNvPr id="6" name="Connector 5"/>
          <p:cNvCxnSpPr/>
          <p:nvPr/>
        </p:nvCxnSpPr>
        <p:spPr>
          <a:xfrm>
            <a:off x="1211580" y="1866899"/>
            <a:ext cx="0" cy="3741421"/>
          </a:xfrm>
          <a:prstGeom prst="line">
            <a:avLst/>
          </a:prstGeom>
          <a:ln w="30480">
            <a:solidFill>
              <a:srgbClr val="9E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71525" y="3103245"/>
            <a:ext cx="880110" cy="880110"/>
          </a:xfrm>
          <a:prstGeom prst="ellipse">
            <a:avLst/>
          </a:prstGeom>
          <a:noFill/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7255" y="3238500"/>
            <a:ext cx="885825" cy="76017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19"/>
              </a:lnSpc>
              <a:spcAft>
                <a:spcPts val="0"/>
              </a:spcAft>
              <a:defRPr sz="1485" b="1">
                <a:solidFill>
                  <a:srgbClr val="153C85"/>
                </a:solidFill>
                <a:latin typeface="Microsoft YaHei"/>
              </a:defRPr>
            </a:pPr>
            <a:r>
              <a:rPr/>
              <a:t>汇报</a:t>
            </a:r>
          </a:p>
          <a:p>
            <a:pPr>
              <a:lnSpc>
                <a:spcPts val="2019"/>
              </a:lnSpc>
              <a:spcAft>
                <a:spcPts val="0"/>
              </a:spcAft>
              <a:defRPr sz="1485" b="1">
                <a:solidFill>
                  <a:srgbClr val="153C85"/>
                </a:solidFill>
                <a:latin typeface="Microsoft YaHei"/>
              </a:defRPr>
            </a:pPr>
            <a:r>
              <a:rPr/>
              <a:t>提纲</a:t>
            </a:r>
          </a:p>
        </p:txBody>
      </p:sp>
      <p:sp>
        <p:nvSpPr>
          <p:cNvPr id="9" name="Oval 8"/>
          <p:cNvSpPr/>
          <p:nvPr/>
        </p:nvSpPr>
        <p:spPr>
          <a:xfrm>
            <a:off x="2331720" y="2004060"/>
            <a:ext cx="320040" cy="320040"/>
          </a:xfrm>
          <a:prstGeom prst="ellipse">
            <a:avLst/>
          </a:prstGeom>
          <a:solidFill>
            <a:srgbClr val="ECEEF1"/>
          </a:solidFill>
          <a:ln>
            <a:solidFill>
              <a:srgbClr val="A4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400300" y="2011680"/>
            <a:ext cx="3429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153C85"/>
                </a:solidFill>
                <a:latin typeface="Microsoft YaHei"/>
              </a:defRPr>
            </a:pPr>
            <a:r>
              <a:rPr/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1775" y="1920240"/>
            <a:ext cx="5514974" cy="502920"/>
          </a:xfrm>
          <a:prstGeom prst="rect">
            <a:avLst/>
          </a:prstGeom>
          <a:solidFill>
            <a:srgbClr val="E6E8EC"/>
          </a:solidFill>
          <a:ln>
            <a:solidFill>
              <a:srgbClr val="B5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006090" y="2026920"/>
            <a:ext cx="5057775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96"/>
              </a:lnSpc>
              <a:spcAft>
                <a:spcPts val="0"/>
              </a:spcAft>
              <a:defRPr sz="1394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项目与需求背景</a:t>
            </a:r>
          </a:p>
        </p:txBody>
      </p:sp>
      <p:sp>
        <p:nvSpPr>
          <p:cNvPr id="13" name="Oval 12"/>
          <p:cNvSpPr/>
          <p:nvPr/>
        </p:nvSpPr>
        <p:spPr>
          <a:xfrm>
            <a:off x="2331720" y="2720340"/>
            <a:ext cx="320040" cy="320040"/>
          </a:xfrm>
          <a:prstGeom prst="ellipse">
            <a:avLst/>
          </a:prstGeom>
          <a:solidFill>
            <a:srgbClr val="ECEEF1"/>
          </a:solidFill>
          <a:ln>
            <a:solidFill>
              <a:srgbClr val="A4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2400300" y="2727960"/>
            <a:ext cx="3429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153C85"/>
                </a:solidFill>
                <a:latin typeface="Microsoft YaHei"/>
              </a:defRPr>
            </a:pPr>
            <a:r>
              <a:rPr/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71775" y="2636520"/>
            <a:ext cx="5514974" cy="502920"/>
          </a:xfrm>
          <a:prstGeom prst="rect">
            <a:avLst/>
          </a:prstGeom>
          <a:solidFill>
            <a:srgbClr val="E6E8EC"/>
          </a:solidFill>
          <a:ln>
            <a:solidFill>
              <a:srgbClr val="B5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3006090" y="2743200"/>
            <a:ext cx="5057775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96"/>
              </a:lnSpc>
              <a:spcAft>
                <a:spcPts val="0"/>
              </a:spcAft>
              <a:defRPr sz="1394" b="1">
                <a:solidFill>
                  <a:srgbClr val="153C85"/>
                </a:solidFill>
                <a:latin typeface="Microsoft YaHei"/>
              </a:defRPr>
            </a:pPr>
            <a:r>
              <a:rPr/>
              <a:t>研究现状</a:t>
            </a:r>
          </a:p>
        </p:txBody>
      </p:sp>
      <p:sp>
        <p:nvSpPr>
          <p:cNvPr id="17" name="Oval 16"/>
          <p:cNvSpPr/>
          <p:nvPr/>
        </p:nvSpPr>
        <p:spPr>
          <a:xfrm>
            <a:off x="2331720" y="3436620"/>
            <a:ext cx="320040" cy="320040"/>
          </a:xfrm>
          <a:prstGeom prst="ellipse">
            <a:avLst/>
          </a:prstGeom>
          <a:solidFill>
            <a:srgbClr val="ECEEF1"/>
          </a:solidFill>
          <a:ln>
            <a:solidFill>
              <a:srgbClr val="A4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2400300" y="3444240"/>
            <a:ext cx="3429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153C85"/>
                </a:solidFill>
                <a:latin typeface="Microsoft YaHei"/>
              </a:defRPr>
            </a:pPr>
            <a:r>
              <a:rPr/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71775" y="3352800"/>
            <a:ext cx="5514974" cy="502920"/>
          </a:xfrm>
          <a:prstGeom prst="rect">
            <a:avLst/>
          </a:prstGeom>
          <a:solidFill>
            <a:srgbClr val="E6E8EC"/>
          </a:solidFill>
          <a:ln>
            <a:solidFill>
              <a:srgbClr val="B5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3006090" y="3459480"/>
            <a:ext cx="5057775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96"/>
              </a:lnSpc>
              <a:spcAft>
                <a:spcPts val="0"/>
              </a:spcAft>
              <a:defRPr sz="1394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项目内容</a:t>
            </a:r>
          </a:p>
        </p:txBody>
      </p:sp>
      <p:sp>
        <p:nvSpPr>
          <p:cNvPr id="21" name="Oval 20"/>
          <p:cNvSpPr/>
          <p:nvPr/>
        </p:nvSpPr>
        <p:spPr>
          <a:xfrm>
            <a:off x="2331720" y="4152900"/>
            <a:ext cx="320040" cy="320040"/>
          </a:xfrm>
          <a:prstGeom prst="ellipse">
            <a:avLst/>
          </a:prstGeom>
          <a:solidFill>
            <a:srgbClr val="ECEEF1"/>
          </a:solidFill>
          <a:ln>
            <a:solidFill>
              <a:srgbClr val="A4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2400300" y="4160520"/>
            <a:ext cx="3429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153C85"/>
                </a:solidFill>
                <a:latin typeface="Microsoft YaHei"/>
              </a:defRPr>
            </a:pPr>
            <a:r>
              <a:rPr/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71775" y="4069080"/>
            <a:ext cx="5514974" cy="502920"/>
          </a:xfrm>
          <a:prstGeom prst="rect">
            <a:avLst/>
          </a:prstGeom>
          <a:solidFill>
            <a:srgbClr val="E6E8EC"/>
          </a:solidFill>
          <a:ln>
            <a:solidFill>
              <a:srgbClr val="B5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3006090" y="4175760"/>
            <a:ext cx="5057775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96"/>
              </a:lnSpc>
              <a:spcAft>
                <a:spcPts val="0"/>
              </a:spcAft>
              <a:defRPr sz="1394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项目成果</a:t>
            </a:r>
          </a:p>
        </p:txBody>
      </p:sp>
      <p:sp>
        <p:nvSpPr>
          <p:cNvPr id="25" name="Oval 24"/>
          <p:cNvSpPr/>
          <p:nvPr/>
        </p:nvSpPr>
        <p:spPr>
          <a:xfrm>
            <a:off x="2331720" y="4869180"/>
            <a:ext cx="320040" cy="320040"/>
          </a:xfrm>
          <a:prstGeom prst="ellipse">
            <a:avLst/>
          </a:prstGeom>
          <a:solidFill>
            <a:srgbClr val="ECEEF1"/>
          </a:solidFill>
          <a:ln>
            <a:solidFill>
              <a:srgbClr val="A4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2400300" y="4876800"/>
            <a:ext cx="3429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153C85"/>
                </a:solidFill>
                <a:latin typeface="Microsoft YaHei"/>
              </a:defRPr>
            </a:pPr>
            <a:r>
              <a:rPr/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71775" y="4785360"/>
            <a:ext cx="5514974" cy="502920"/>
          </a:xfrm>
          <a:prstGeom prst="rect">
            <a:avLst/>
          </a:prstGeom>
          <a:solidFill>
            <a:srgbClr val="E6E8EC"/>
          </a:solidFill>
          <a:ln>
            <a:solidFill>
              <a:srgbClr val="B5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3006090" y="4892040"/>
            <a:ext cx="5057775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96"/>
              </a:lnSpc>
              <a:spcAft>
                <a:spcPts val="0"/>
              </a:spcAft>
              <a:defRPr sz="1394" b="1">
                <a:solidFill>
                  <a:srgbClr val="153C85"/>
                </a:solidFill>
                <a:latin typeface="Microsoft YaHei"/>
              </a:defRPr>
            </a:pPr>
            <a:r>
              <a:rPr/>
              <a:t>应用前景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从问题与需求出发，以技术、验证和落地支撑方案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项目与需求背景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图像不仅传递信息，也承载创意、品牌与资产价值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474" y="2712720"/>
            <a:ext cx="1565910" cy="13258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Rectangle 6"/>
          <p:cNvSpPr/>
          <p:nvPr/>
        </p:nvSpPr>
        <p:spPr>
          <a:xfrm>
            <a:off x="371474" y="2712720"/>
            <a:ext cx="156591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68630" y="2781300"/>
            <a:ext cx="13716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图像创作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345" y="3261360"/>
            <a:ext cx="136017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摄影／设计／生成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23110" y="3291840"/>
            <a:ext cx="428625" cy="152400"/>
          </a:xfrm>
          <a:prstGeom prst="rightArrow">
            <a:avLst/>
          </a:prstGeom>
          <a:solidFill>
            <a:srgbClr val="153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Oval 10"/>
          <p:cNvSpPr/>
          <p:nvPr/>
        </p:nvSpPr>
        <p:spPr>
          <a:xfrm>
            <a:off x="3068954" y="2661285"/>
            <a:ext cx="1428750" cy="1428750"/>
          </a:xfrm>
          <a:prstGeom prst="ellipse">
            <a:avLst/>
          </a:prstGeom>
          <a:solidFill>
            <a:srgbClr val="F0F3F8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274695" y="3032760"/>
            <a:ext cx="1200150" cy="4907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18304E"/>
                </a:solidFill>
                <a:latin typeface="Microsoft YaHei"/>
              </a:defRPr>
            </a:pPr>
            <a:r>
              <a:rPr/>
              <a:t>数字图像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0415" y="3528060"/>
            <a:ext cx="108585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4E637A"/>
                </a:solidFill>
                <a:latin typeface="Microsoft YaHei"/>
              </a:defRPr>
            </a:pPr>
            <a:r>
              <a:rPr/>
              <a:t>可复制 · 易流转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577715" y="2392680"/>
            <a:ext cx="1137285" cy="982980"/>
          </a:xfrm>
          <a:prstGeom prst="line">
            <a:avLst/>
          </a:prstGeom>
          <a:ln w="15240">
            <a:solidFill>
              <a:srgbClr val="A6B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715000" y="1950720"/>
            <a:ext cx="3046095" cy="96012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Rectangle 15"/>
          <p:cNvSpPr/>
          <p:nvPr/>
        </p:nvSpPr>
        <p:spPr>
          <a:xfrm>
            <a:off x="5715000" y="1950720"/>
            <a:ext cx="304609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812155" y="2019300"/>
            <a:ext cx="285178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内容传播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7869" y="2499360"/>
            <a:ext cx="284035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新闻、社交与知识交流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7715" y="3375660"/>
            <a:ext cx="1137285" cy="297180"/>
          </a:xfrm>
          <a:prstGeom prst="line">
            <a:avLst/>
          </a:prstGeom>
          <a:ln w="15240">
            <a:solidFill>
              <a:srgbClr val="A6B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715000" y="3230880"/>
            <a:ext cx="3046095" cy="96012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Rectangle 20"/>
          <p:cNvSpPr/>
          <p:nvPr/>
        </p:nvSpPr>
        <p:spPr>
          <a:xfrm>
            <a:off x="5715000" y="3230880"/>
            <a:ext cx="304609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812155" y="3299460"/>
            <a:ext cx="285178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创意表达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7869" y="3779520"/>
            <a:ext cx="284035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设计、艺术与数字文创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7715" y="3375660"/>
            <a:ext cx="1137285" cy="1577340"/>
          </a:xfrm>
          <a:prstGeom prst="line">
            <a:avLst/>
          </a:prstGeom>
          <a:ln w="15240">
            <a:solidFill>
              <a:srgbClr val="A6B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715000" y="4511040"/>
            <a:ext cx="3046095" cy="96012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Rectangle 25"/>
          <p:cNvSpPr/>
          <p:nvPr/>
        </p:nvSpPr>
        <p:spPr>
          <a:xfrm>
            <a:off x="5715000" y="4511040"/>
            <a:ext cx="304609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5812155" y="4579620"/>
            <a:ext cx="285178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商业使用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7869" y="5059680"/>
            <a:ext cx="284035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品牌营销与素材交付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055" y="4998720"/>
            <a:ext cx="394335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36"/>
              </a:lnSpc>
              <a:spcAft>
                <a:spcPts val="0"/>
              </a:spcAft>
              <a:defRPr sz="1350" b="1">
                <a:solidFill>
                  <a:srgbClr val="153C85"/>
                </a:solidFill>
                <a:latin typeface="Microsoft YaHei"/>
              </a:defRPr>
            </a:pPr>
            <a:r>
              <a:rPr/>
              <a:t>价值依赖使用，使用需要可信线索。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来源身份，是图像价值被可靠使用的重要基础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项目与需求背景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画面可以完整保留，来源说明却可能在传播中脱落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7225" y="2141220"/>
            <a:ext cx="1371600" cy="2171700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7" name="Picture 6" descr="demo-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2592705"/>
            <a:ext cx="1268730" cy="12687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2935" y="4061460"/>
            <a:ext cx="1440180" cy="335280"/>
          </a:xfrm>
          <a:prstGeom prst="roundRect">
            <a:avLst>
              <a:gd name="adj" fmla="val 8000"/>
            </a:avLst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0085" y="4107179"/>
            <a:ext cx="132588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24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rPr/>
              <a:t>来源：拾光设计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625" y="4632960"/>
            <a:ext cx="19431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40" b="1">
                <a:solidFill>
                  <a:srgbClr val="18304E"/>
                </a:solidFill>
                <a:latin typeface="Microsoft YaHei"/>
              </a:defRPr>
            </a:pPr>
            <a:r>
              <a:rPr/>
              <a:t>创作者交付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625" y="5067300"/>
            <a:ext cx="19431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4E637A"/>
                </a:solidFill>
                <a:latin typeface="Microsoft YaHei"/>
              </a:defRPr>
            </a:pPr>
            <a:r>
              <a:rPr/>
              <a:t>图片＋署名＋使用说明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4750" y="2141220"/>
            <a:ext cx="1371600" cy="2171700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13" name="Picture 12" descr="demo-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185" y="2592705"/>
            <a:ext cx="1268730" cy="12687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86150" y="4632960"/>
            <a:ext cx="19431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40" b="1">
                <a:solidFill>
                  <a:srgbClr val="18304E"/>
                </a:solidFill>
                <a:latin typeface="Microsoft YaHei"/>
              </a:defRPr>
            </a:pPr>
            <a:r>
              <a:rPr/>
              <a:t>群聊／平台转发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6150" y="5067300"/>
            <a:ext cx="19431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4E637A"/>
                </a:solidFill>
                <a:latin typeface="Microsoft YaHei"/>
              </a:defRPr>
            </a:pPr>
            <a:r>
              <a:rPr/>
              <a:t>图片被另存、改名或编辑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2275" y="2141220"/>
            <a:ext cx="1371600" cy="2171700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17" name="Picture 16" descr="demo-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710" y="2592705"/>
            <a:ext cx="1268730" cy="126873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43675" y="4632960"/>
            <a:ext cx="19431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40" b="1">
                <a:solidFill>
                  <a:srgbClr val="18304E"/>
                </a:solidFill>
                <a:latin typeface="Microsoft YaHei"/>
              </a:defRPr>
            </a:pPr>
            <a:r>
              <a:rPr/>
              <a:t>再次收到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3675" y="5067300"/>
            <a:ext cx="19431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4E637A"/>
                </a:solidFill>
                <a:latin typeface="Microsoft YaHei"/>
              </a:defRPr>
            </a:pPr>
            <a:r>
              <a:rPr/>
              <a:t>可见内容，难核对来处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417445" y="3154680"/>
            <a:ext cx="685800" cy="152400"/>
          </a:xfrm>
          <a:prstGeom prst="rightArrow">
            <a:avLst/>
          </a:prstGeom>
          <a:solidFill>
            <a:srgbClr val="153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Right Arrow 20"/>
          <p:cNvSpPr/>
          <p:nvPr/>
        </p:nvSpPr>
        <p:spPr>
          <a:xfrm>
            <a:off x="5446395" y="3154680"/>
            <a:ext cx="685800" cy="152400"/>
          </a:xfrm>
          <a:prstGeom prst="rightArrow">
            <a:avLst/>
          </a:prstGeom>
          <a:solidFill>
            <a:srgbClr val="153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3543300" y="1714500"/>
            <a:ext cx="1714500" cy="32766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3623310" y="1760220"/>
            <a:ext cx="15544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1">
                <a:solidFill>
                  <a:srgbClr val="18304E"/>
                </a:solidFill>
                <a:latin typeface="Microsoft YaHei"/>
              </a:defRPr>
            </a:pPr>
            <a:r>
              <a:rPr/>
              <a:t>来源说明未随图保留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需要让可核验的身份线索进入图像本身，而非只依赖附件说明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项目与需求背景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用一张电商营销图，贯穿生成、交付与再次核验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474" y="1973580"/>
            <a:ext cx="2600325" cy="53340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85775" y="2095499"/>
            <a:ext cx="23717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8304E"/>
                </a:solidFill>
                <a:latin typeface="Microsoft YaHei"/>
              </a:defRPr>
            </a:pPr>
            <a:r>
              <a:rPr/>
              <a:t>品牌／设计方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1550" y="2727960"/>
            <a:ext cx="1257300" cy="1874519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9" name="Picture 8" descr="demo-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985" y="3088005"/>
            <a:ext cx="1154430" cy="115443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37260" y="4351020"/>
            <a:ext cx="1325880" cy="335280"/>
          </a:xfrm>
          <a:prstGeom prst="roundRect">
            <a:avLst>
              <a:gd name="adj" fmla="val 8000"/>
            </a:avLst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94410" y="4396740"/>
            <a:ext cx="121158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24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rPr/>
              <a:t>作品编号：TS-001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775" y="4922520"/>
            <a:ext cx="23717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0">
                <a:solidFill>
                  <a:srgbClr val="4E637A"/>
                </a:solidFill>
                <a:latin typeface="Microsoft YaHei"/>
              </a:defRPr>
            </a:pPr>
            <a:r>
              <a:rPr/>
              <a:t>制作与交付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11805" y="3459480"/>
            <a:ext cx="217170" cy="152400"/>
          </a:xfrm>
          <a:prstGeom prst="rightArrow">
            <a:avLst/>
          </a:prstGeom>
          <a:solidFill>
            <a:srgbClr val="153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Rectangle 13"/>
          <p:cNvSpPr/>
          <p:nvPr/>
        </p:nvSpPr>
        <p:spPr>
          <a:xfrm>
            <a:off x="3286125" y="1973580"/>
            <a:ext cx="2600325" cy="53340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3400425" y="2095499"/>
            <a:ext cx="23717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8304E"/>
                </a:solidFill>
                <a:latin typeface="Microsoft YaHei"/>
              </a:defRPr>
            </a:pPr>
            <a:r>
              <a:rPr/>
              <a:t>合作／传播方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2727960"/>
            <a:ext cx="1257300" cy="1874519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17" name="Picture 16" descr="demo-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635" y="3088005"/>
            <a:ext cx="1154430" cy="115443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0425" y="4922520"/>
            <a:ext cx="23717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0">
                <a:solidFill>
                  <a:srgbClr val="4E637A"/>
                </a:solidFill>
                <a:latin typeface="Microsoft YaHei"/>
              </a:defRPr>
            </a:pPr>
            <a:r>
              <a:rPr/>
              <a:t>接收与再次传播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26455" y="3459480"/>
            <a:ext cx="217170" cy="152400"/>
          </a:xfrm>
          <a:prstGeom prst="rightArrow">
            <a:avLst/>
          </a:prstGeom>
          <a:solidFill>
            <a:srgbClr val="153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Rectangle 19"/>
          <p:cNvSpPr/>
          <p:nvPr/>
        </p:nvSpPr>
        <p:spPr>
          <a:xfrm>
            <a:off x="6200774" y="1973580"/>
            <a:ext cx="2600325" cy="53340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15075" y="2095499"/>
            <a:ext cx="23717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8304E"/>
                </a:solidFill>
                <a:latin typeface="Microsoft YaHei"/>
              </a:defRPr>
            </a:pPr>
            <a:r>
              <a:rPr/>
              <a:t>运营／审核方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0850" y="2727960"/>
            <a:ext cx="1257300" cy="1874519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23" name="Picture 22" descr="demo-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285" y="3088005"/>
            <a:ext cx="1154430" cy="115443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15075" y="4922520"/>
            <a:ext cx="23717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0">
                <a:solidFill>
                  <a:srgbClr val="4E637A"/>
                </a:solidFill>
                <a:latin typeface="Microsoft YaHei"/>
              </a:defRPr>
            </a:pPr>
            <a:r>
              <a:rPr/>
              <a:t>收到图片并决定使用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72175" y="5356860"/>
            <a:ext cx="2514600" cy="327660"/>
          </a:xfrm>
          <a:prstGeom prst="roundRect">
            <a:avLst>
              <a:gd name="adj" fmla="val 8000"/>
            </a:avLst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052184" y="5402580"/>
            <a:ext cx="23545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1">
                <a:solidFill>
                  <a:srgbClr val="FFFFFF"/>
                </a:solidFill>
                <a:latin typeface="Microsoft YaHei"/>
              </a:defRPr>
            </a:pPr>
            <a:r>
              <a:rPr/>
              <a:t>上传收到的图 → 查找来源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用户不必知道图片经历过哪些处理，也能发起来源查找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项目与需求背景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真正的断点，发生在“制作—交付—再次使用”的责任交接处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474" y="2080260"/>
            <a:ext cx="2600325" cy="19354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Rectangle 6"/>
          <p:cNvSpPr/>
          <p:nvPr/>
        </p:nvSpPr>
        <p:spPr>
          <a:xfrm>
            <a:off x="371474" y="2080260"/>
            <a:ext cx="260032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68630" y="2148840"/>
            <a:ext cx="240601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制作端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345" y="2628900"/>
            <a:ext cx="239458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署名与身份在交付说明中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" y="3436620"/>
            <a:ext cx="236601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1">
                <a:solidFill>
                  <a:srgbClr val="153C85"/>
                </a:solidFill>
                <a:latin typeface="Microsoft YaHei"/>
              </a:defRPr>
            </a:pPr>
            <a:r>
              <a:rPr/>
              <a:t>需求：身份随图保留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06090" y="2910840"/>
            <a:ext cx="228600" cy="152400"/>
          </a:xfrm>
          <a:prstGeom prst="rightArrow">
            <a:avLst/>
          </a:prstGeom>
          <a:solidFill>
            <a:srgbClr val="153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Rectangle 11"/>
          <p:cNvSpPr/>
          <p:nvPr/>
        </p:nvSpPr>
        <p:spPr>
          <a:xfrm>
            <a:off x="3286125" y="2080260"/>
            <a:ext cx="2600325" cy="19354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Rectangle 12"/>
          <p:cNvSpPr/>
          <p:nvPr/>
        </p:nvSpPr>
        <p:spPr>
          <a:xfrm>
            <a:off x="3286125" y="2080260"/>
            <a:ext cx="260032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3383280" y="2148840"/>
            <a:ext cx="240601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交付端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8995" y="2628900"/>
            <a:ext cx="239458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多个合作方持有相似版本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4710" y="3436620"/>
            <a:ext cx="236601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1">
                <a:solidFill>
                  <a:srgbClr val="153C85"/>
                </a:solidFill>
                <a:latin typeface="Microsoft YaHei"/>
              </a:defRPr>
            </a:pPr>
            <a:r>
              <a:rPr/>
              <a:t>需求：统一作品与批次登记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20740" y="2910840"/>
            <a:ext cx="228600" cy="152400"/>
          </a:xfrm>
          <a:prstGeom prst="rightArrow">
            <a:avLst/>
          </a:prstGeom>
          <a:solidFill>
            <a:srgbClr val="153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Rectangle 17"/>
          <p:cNvSpPr/>
          <p:nvPr/>
        </p:nvSpPr>
        <p:spPr>
          <a:xfrm>
            <a:off x="6200774" y="2080260"/>
            <a:ext cx="2600325" cy="19354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Rectangle 18"/>
          <p:cNvSpPr/>
          <p:nvPr/>
        </p:nvSpPr>
        <p:spPr>
          <a:xfrm>
            <a:off x="6200774" y="2080260"/>
            <a:ext cx="260032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297930" y="2148840"/>
            <a:ext cx="240601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使用端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3645" y="2628900"/>
            <a:ext cx="239458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再次收到图片时缺少材料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36620"/>
            <a:ext cx="236601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1">
                <a:solidFill>
                  <a:srgbClr val="153C85"/>
                </a:solidFill>
                <a:latin typeface="Microsoft YaHei"/>
              </a:defRPr>
            </a:pPr>
            <a:r>
              <a:rPr/>
              <a:t>需求：直接上传并关联线索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533900"/>
            <a:ext cx="8086725" cy="418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19"/>
              </a:lnSpc>
              <a:spcAft>
                <a:spcPts val="0"/>
              </a:spcAft>
              <a:defRPr sz="1485" b="1">
                <a:solidFill>
                  <a:srgbClr val="18304E"/>
                </a:solidFill>
                <a:latin typeface="Microsoft YaHei"/>
              </a:defRPr>
            </a:pPr>
            <a:r>
              <a:rPr/>
              <a:t>核心用户：品牌设计／店铺运营／审核人员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21580"/>
            <a:ext cx="808672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4E637A"/>
                </a:solidFill>
                <a:latin typeface="Microsoft YaHei"/>
              </a:defRPr>
            </a:pPr>
            <a:r>
              <a:rPr/>
              <a:t>关键约束：图片观感、低操作成本、授权材料与隐私边界。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需求来自交接任务，技术选型围绕交接中的信息断点展开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项目与需求背景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访谈问清真实经历，任务观察检验实际操作成本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474" y="2049780"/>
            <a:ext cx="2600325" cy="217932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Rectangle 6"/>
          <p:cNvSpPr/>
          <p:nvPr/>
        </p:nvSpPr>
        <p:spPr>
          <a:xfrm>
            <a:off x="371474" y="2049780"/>
            <a:ext cx="260032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68630" y="2118360"/>
            <a:ext cx="240601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样本与角色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345" y="2598420"/>
            <a:ext cx="239458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设计3人／运营3人／审核2人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775" y="3543300"/>
            <a:ext cx="2371725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4E637A"/>
                </a:solidFill>
                <a:latin typeface="Microsoft YaHei"/>
              </a:defRPr>
            </a:pPr>
            <a:r>
              <a:rPr/>
              <a:t>覆盖生成、交付和再次使用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6125" y="2049780"/>
            <a:ext cx="2600325" cy="217932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Rectangle 11"/>
          <p:cNvSpPr/>
          <p:nvPr/>
        </p:nvSpPr>
        <p:spPr>
          <a:xfrm>
            <a:off x="3286125" y="2049780"/>
            <a:ext cx="260032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383280" y="2118360"/>
            <a:ext cx="240601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访谈与案例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8995" y="2598420"/>
            <a:ext cx="239458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追问最近一次真实交付经历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0425" y="3543300"/>
            <a:ext cx="2371725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4E637A"/>
                </a:solidFill>
                <a:latin typeface="Microsoft YaHei"/>
              </a:defRPr>
            </a:pPr>
            <a:r>
              <a:rPr/>
              <a:t>保留匿名原话与材料出处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0774" y="2049780"/>
            <a:ext cx="2600325" cy="217932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Rectangle 16"/>
          <p:cNvSpPr/>
          <p:nvPr/>
        </p:nvSpPr>
        <p:spPr>
          <a:xfrm>
            <a:off x="6200774" y="2049780"/>
            <a:ext cx="260032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297930" y="2118360"/>
            <a:ext cx="240601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任务对照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3645" y="2598420"/>
            <a:ext cx="239458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人工追问 ↔ 系统核验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5075" y="3543300"/>
            <a:ext cx="2371725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4E637A"/>
                </a:solidFill>
                <a:latin typeface="Microsoft YaHei"/>
              </a:defRPr>
            </a:pPr>
            <a:r>
              <a:rPr/>
              <a:t>同图同任务，记录正确与用时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5775" y="4709160"/>
            <a:ext cx="8058150" cy="32766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65785" y="4754880"/>
            <a:ext cx="789813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1">
                <a:solidFill>
                  <a:srgbClr val="18304E"/>
                </a:solidFill>
                <a:latin typeface="Microsoft YaHei"/>
              </a:defRPr>
            </a:pPr>
            <a:r>
              <a:rPr/>
              <a:t>调研输出：真实案例 → 痛点频次／严重度 → 功能优先级 → 验收条件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80660"/>
            <a:ext cx="805815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0">
                <a:solidFill>
                  <a:srgbClr val="18304E"/>
                </a:solidFill>
                <a:latin typeface="Microsoft YaHei"/>
              </a:defRPr>
            </a:pPr>
            <a:r>
              <a:rPr/>
              <a:t>避免只问“是否需要保护”，重点观察“现在怎样找来源、在哪里卡住”。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调研方案以可追查记录为证据，问卷意愿不能替代真实任务表现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项目与需求背景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把用户的疑问，转化为可实现、可验收的系统要求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474" y="2004060"/>
            <a:ext cx="26289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96"/>
              </a:lnSpc>
              <a:spcAft>
                <a:spcPts val="0"/>
              </a:spcAft>
              <a:defRPr sz="1394" b="1">
                <a:solidFill>
                  <a:srgbClr val="153C85"/>
                </a:solidFill>
                <a:latin typeface="Microsoft YaHei"/>
              </a:defRPr>
            </a:pPr>
            <a:r>
              <a:rPr/>
              <a:t>用户疑问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03270" y="2004060"/>
            <a:ext cx="2600325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96"/>
              </a:lnSpc>
              <a:spcAft>
                <a:spcPts val="0"/>
              </a:spcAft>
              <a:defRPr sz="1394" b="1">
                <a:solidFill>
                  <a:srgbClr val="153C85"/>
                </a:solidFill>
                <a:latin typeface="Microsoft YaHei"/>
              </a:defRPr>
            </a:pPr>
            <a:r>
              <a:rPr/>
              <a:t>系统要求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2004060"/>
            <a:ext cx="2600325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96"/>
              </a:lnSpc>
              <a:spcAft>
                <a:spcPts val="0"/>
              </a:spcAft>
              <a:defRPr sz="1394" b="1">
                <a:solidFill>
                  <a:srgbClr val="153C85"/>
                </a:solidFill>
                <a:latin typeface="Microsoft YaHei"/>
              </a:defRPr>
            </a:pPr>
            <a:r>
              <a:rPr/>
              <a:t>验收关注点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371474" y="2552700"/>
            <a:ext cx="2628900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245745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18304E"/>
                </a:solidFill>
                <a:latin typeface="Microsoft YaHei"/>
              </a:defRPr>
            </a:pPr>
            <a:r>
              <a:rPr/>
              <a:t>加标识会不会影响图片？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3270" y="2552700"/>
            <a:ext cx="2600325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388995" y="2697480"/>
            <a:ext cx="2428875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18304E"/>
                </a:solidFill>
                <a:latin typeface="Microsoft YaHei"/>
              </a:defRPr>
            </a:pPr>
            <a:r>
              <a:rPr/>
              <a:t>生成保护＋前后对照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552700"/>
            <a:ext cx="2600325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257925" y="2697480"/>
            <a:ext cx="2428875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18304E"/>
                </a:solidFill>
                <a:latin typeface="Microsoft YaHei"/>
              </a:defRPr>
            </a:pPr>
            <a:r>
              <a:rPr/>
              <a:t>视觉质量与局部细节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1474" y="3261360"/>
            <a:ext cx="2628900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57200" y="3406140"/>
            <a:ext cx="245745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18304E"/>
                </a:solidFill>
                <a:latin typeface="Microsoft YaHei"/>
              </a:defRPr>
            </a:pPr>
            <a:r>
              <a:rPr/>
              <a:t>收到图片后怎么找到来源？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03270" y="3261360"/>
            <a:ext cx="2600325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388995" y="3406140"/>
            <a:ext cx="2428875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18304E"/>
                </a:solidFill>
                <a:latin typeface="Microsoft YaHei"/>
              </a:defRPr>
            </a:pPr>
            <a:r>
              <a:rPr/>
              <a:t>直接上传＋恢复编号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261360"/>
            <a:ext cx="2600325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257925" y="3406140"/>
            <a:ext cx="2428875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18304E"/>
                </a:solidFill>
                <a:latin typeface="Microsoft YaHei"/>
              </a:defRPr>
            </a:pPr>
            <a:r>
              <a:rPr/>
              <a:t>匹配正确率与无法确认率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1474" y="3970020"/>
            <a:ext cx="2628900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245745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18304E"/>
                </a:solidFill>
                <a:latin typeface="Microsoft YaHei"/>
              </a:defRPr>
            </a:pPr>
            <a:r>
              <a:rPr/>
              <a:t>这个结果能不能直接使用？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03270" y="3970020"/>
            <a:ext cx="2600325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3388995" y="4114800"/>
            <a:ext cx="2428875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18304E"/>
                </a:solidFill>
                <a:latin typeface="Microsoft YaHei"/>
              </a:defRPr>
            </a:pPr>
            <a:r>
              <a:rPr/>
              <a:t>登记展示＋授权辅助检查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970020"/>
            <a:ext cx="2600325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257925" y="4114800"/>
            <a:ext cx="2428875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18304E"/>
                </a:solidFill>
                <a:latin typeface="Microsoft YaHei"/>
              </a:defRPr>
            </a:pPr>
            <a:r>
              <a:rPr/>
              <a:t>信息完整性与复核提示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1474" y="4678680"/>
            <a:ext cx="2628900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823460"/>
            <a:ext cx="245745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18304E"/>
                </a:solidFill>
                <a:latin typeface="Microsoft YaHei"/>
              </a:defRPr>
            </a:pPr>
            <a:r>
              <a:rPr/>
              <a:t>图片太多，能否重复查阅？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03270" y="4678680"/>
            <a:ext cx="2600325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3388995" y="4823460"/>
            <a:ext cx="2428875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18304E"/>
                </a:solidFill>
                <a:latin typeface="Microsoft YaHei"/>
              </a:defRPr>
            </a:pPr>
            <a:r>
              <a:rPr/>
              <a:t>素材与核验记录统一管理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678680"/>
            <a:ext cx="2600325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257925" y="4823460"/>
            <a:ext cx="2428875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18304E"/>
                </a:solidFill>
                <a:latin typeface="Microsoft YaHei"/>
              </a:defRPr>
            </a:pPr>
            <a:r>
              <a:rPr/>
              <a:t>任务耗时与记录可追查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访谈与任务观察 → 需求优先级 → 功能设计 → 验收指标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研究现状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单一保护方式，难以覆盖传播后的完整核验任务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474" y="2087880"/>
            <a:ext cx="1428750" cy="419100"/>
          </a:xfrm>
          <a:prstGeom prst="rect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62915" y="2179320"/>
            <a:ext cx="124587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1">
                <a:solidFill>
                  <a:srgbClr val="FFFFFF"/>
                </a:solidFill>
                <a:latin typeface="Microsoft YaHei"/>
              </a:defRPr>
            </a:pPr>
            <a:r>
              <a:rPr/>
              <a:t>现有方式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1903095" y="2087880"/>
            <a:ext cx="2686050" cy="419100"/>
          </a:xfrm>
          <a:prstGeom prst="rect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994535" y="2179320"/>
            <a:ext cx="250317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1">
                <a:solidFill>
                  <a:srgbClr val="FFFFFF"/>
                </a:solidFill>
                <a:latin typeface="Microsoft YaHei"/>
              </a:defRPr>
            </a:pPr>
            <a:r>
              <a:rPr/>
              <a:t>能够解决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2087880"/>
            <a:ext cx="4086225" cy="419100"/>
          </a:xfrm>
          <a:prstGeom prst="rect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777740" y="2179320"/>
            <a:ext cx="3903345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1">
                <a:solidFill>
                  <a:srgbClr val="FFFFFF"/>
                </a:solidFill>
                <a:latin typeface="Microsoft YaHei"/>
              </a:defRPr>
            </a:pPr>
            <a:r>
              <a:rPr/>
              <a:t>传播后仍存在的缺口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1474" y="2514600"/>
            <a:ext cx="1428750" cy="70866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62915" y="2682240"/>
            <a:ext cx="124587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18304E"/>
                </a:solidFill>
                <a:latin typeface="Microsoft YaHei"/>
              </a:defRPr>
            </a:pPr>
            <a:r>
              <a:rPr/>
              <a:t>可见署名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03095" y="2514600"/>
            <a:ext cx="2686050" cy="70866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994535" y="2682240"/>
            <a:ext cx="250317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18304E"/>
                </a:solidFill>
                <a:latin typeface="Microsoft YaHei"/>
              </a:defRPr>
            </a:pPr>
            <a:r>
              <a:rPr/>
              <a:t>直接展示作者或品牌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6300" y="2514600"/>
            <a:ext cx="4086225" cy="70866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777740" y="2682240"/>
            <a:ext cx="3903345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18304E"/>
                </a:solidFill>
                <a:latin typeface="Microsoft YaHei"/>
              </a:defRPr>
            </a:pPr>
            <a:r>
              <a:rPr/>
              <a:t>可能被覆盖或裁掉，也会占用画面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1474" y="3246120"/>
            <a:ext cx="1428750" cy="7086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62915" y="3413760"/>
            <a:ext cx="124587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18304E"/>
                </a:solidFill>
                <a:latin typeface="Microsoft YaHei"/>
              </a:defRPr>
            </a:pPr>
            <a:r>
              <a:rPr/>
              <a:t>元数据／文件名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03095" y="3246120"/>
            <a:ext cx="2686050" cy="7086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1994535" y="3413760"/>
            <a:ext cx="250317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18304E"/>
                </a:solidFill>
                <a:latin typeface="Microsoft YaHei"/>
              </a:defRPr>
            </a:pPr>
            <a:r>
              <a:rPr/>
              <a:t>保存创建与来源说明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3246120"/>
            <a:ext cx="4086225" cy="7086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777740" y="3413760"/>
            <a:ext cx="3903345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18304E"/>
                </a:solidFill>
                <a:latin typeface="Microsoft YaHei"/>
              </a:defRPr>
            </a:pPr>
            <a:r>
              <a:rPr/>
              <a:t>信息可能在平台转发、改名时丢失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1474" y="3977639"/>
            <a:ext cx="1428750" cy="70866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62915" y="4145280"/>
            <a:ext cx="124587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18304E"/>
                </a:solidFill>
                <a:latin typeface="Microsoft YaHei"/>
              </a:defRPr>
            </a:pPr>
            <a:r>
              <a:rPr/>
              <a:t>相似图检索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03095" y="3977639"/>
            <a:ext cx="2686050" cy="70866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1994535" y="4145280"/>
            <a:ext cx="250317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18304E"/>
                </a:solidFill>
                <a:latin typeface="Microsoft YaHei"/>
              </a:defRPr>
            </a:pPr>
            <a:r>
              <a:rPr/>
              <a:t>找到相似内容与候选作品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86300" y="3977639"/>
            <a:ext cx="4086225" cy="70866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777740" y="4145280"/>
            <a:ext cx="3903345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0">
                <a:solidFill>
                  <a:srgbClr val="18304E"/>
                </a:solidFill>
                <a:latin typeface="Microsoft YaHei"/>
              </a:defRPr>
            </a:pPr>
            <a:r>
              <a:rPr/>
              <a:t>相似不等于来源一致，更不等于有效授权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1474" y="4709160"/>
            <a:ext cx="1428750" cy="7086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462915" y="4876800"/>
            <a:ext cx="124587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1">
                <a:solidFill>
                  <a:srgbClr val="18304E"/>
                </a:solidFill>
                <a:latin typeface="Microsoft YaHei"/>
              </a:defRPr>
            </a:pPr>
            <a:r>
              <a:rPr/>
              <a:t>隐形水印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03095" y="4709160"/>
            <a:ext cx="2686050" cy="7086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1994535" y="4876800"/>
            <a:ext cx="250317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1">
                <a:solidFill>
                  <a:srgbClr val="18304E"/>
                </a:solidFill>
                <a:latin typeface="Microsoft YaHei"/>
              </a:defRPr>
            </a:pPr>
            <a:r>
              <a:rPr/>
              <a:t>在图像中保存可检测信号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86300" y="4709160"/>
            <a:ext cx="4086225" cy="7086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4777740" y="4876800"/>
            <a:ext cx="3903345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30"/>
              </a:lnSpc>
              <a:spcAft>
                <a:spcPts val="0"/>
              </a:spcAft>
              <a:defRPr sz="1125" b="1">
                <a:solidFill>
                  <a:srgbClr val="18304E"/>
                </a:solidFill>
                <a:latin typeface="Microsoft YaHei"/>
              </a:defRPr>
            </a:pPr>
            <a:r>
              <a:rPr/>
              <a:t>仍需登记关联、误检控制与失败复核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图溯的切入点：把图像中的标识与登记、核验和复核流程连接起来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把研究方法转化为可使用、可复查的可信传播流程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474" y="1981199"/>
            <a:ext cx="8401050" cy="70104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25780" y="2141220"/>
            <a:ext cx="805815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8304E"/>
                </a:solidFill>
                <a:latin typeface="Microsoft YaHei"/>
              </a:defRPr>
            </a:pPr>
            <a:r>
              <a:rPr/>
              <a:t>研究基础：球形水印的编码、噪声构造与反演恢复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57350" y="2682240"/>
            <a:ext cx="0" cy="46482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71474" y="3147060"/>
            <a:ext cx="2600325" cy="1882139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Rectangle 9"/>
          <p:cNvSpPr/>
          <p:nvPr/>
        </p:nvSpPr>
        <p:spPr>
          <a:xfrm>
            <a:off x="371474" y="3147060"/>
            <a:ext cx="260032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68630" y="3215640"/>
            <a:ext cx="240601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流程融合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345" y="3695700"/>
            <a:ext cx="239458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从生成、交付到再次核验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775" y="4442460"/>
            <a:ext cx="237172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1">
                <a:solidFill>
                  <a:srgbClr val="153C85"/>
                </a:solidFill>
                <a:latin typeface="Microsoft YaHei"/>
              </a:defRPr>
            </a:pPr>
            <a:r>
              <a:rPr/>
              <a:t>难点：算法与登记一致关联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2682240"/>
            <a:ext cx="0" cy="46482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286125" y="3147060"/>
            <a:ext cx="2600325" cy="1882139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Rectangle 15"/>
          <p:cNvSpPr/>
          <p:nvPr/>
        </p:nvSpPr>
        <p:spPr>
          <a:xfrm>
            <a:off x="3286125" y="3147060"/>
            <a:ext cx="260032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3383280" y="3215640"/>
            <a:ext cx="240601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低门槛核验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8995" y="3695700"/>
            <a:ext cx="239458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收到图片后直接上传查询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0425" y="4442460"/>
            <a:ext cx="237172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1">
                <a:solidFill>
                  <a:srgbClr val="153C85"/>
                </a:solidFill>
                <a:latin typeface="Microsoft YaHei"/>
              </a:defRPr>
            </a:pPr>
            <a:r>
              <a:rPr/>
              <a:t>难点：误检、冲突和无法确认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86650" y="2682240"/>
            <a:ext cx="0" cy="46482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00774" y="3147060"/>
            <a:ext cx="2600325" cy="1882139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Rectangle 21"/>
          <p:cNvSpPr/>
          <p:nvPr/>
        </p:nvSpPr>
        <p:spPr>
          <a:xfrm>
            <a:off x="6200774" y="3147060"/>
            <a:ext cx="260032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297930" y="3215640"/>
            <a:ext cx="240601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可追查管理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3645" y="3695700"/>
            <a:ext cx="239458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署名声明与核验记录衔接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5075" y="4442460"/>
            <a:ext cx="237172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1">
                <a:solidFill>
                  <a:srgbClr val="153C85"/>
                </a:solidFill>
                <a:latin typeface="Microsoft YaHei"/>
              </a:defRPr>
            </a:pPr>
            <a:r>
              <a:rPr/>
              <a:t>难点：签名、隐私与记录安全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205" y="5387340"/>
            <a:ext cx="805815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4E637A"/>
                </a:solidFill>
                <a:latin typeface="Microsoft YaHei"/>
              </a:defRPr>
            </a:pPr>
            <a:r>
              <a:rPr/>
              <a:t>应用贡献围绕任务闭环展开，技术壁垒由稳定运行与严格验证积累。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场景融合与工程能力，需要用用户任务和真实数据证明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生成侧建立身份，接收侧恢复身份，登记层连接两端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474" y="1912620"/>
            <a:ext cx="1000125" cy="32766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51485" y="1958340"/>
            <a:ext cx="84010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1">
                <a:solidFill>
                  <a:srgbClr val="18304E"/>
                </a:solidFill>
                <a:latin typeface="Microsoft YaHei"/>
              </a:defRPr>
            </a:pPr>
            <a:r>
              <a:rPr/>
              <a:t>生成与交付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474" y="4709160"/>
            <a:ext cx="1000125" cy="32766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1485" y="4754880"/>
            <a:ext cx="84010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1">
                <a:solidFill>
                  <a:srgbClr val="18304E"/>
                </a:solidFill>
                <a:latin typeface="Microsoft YaHei"/>
              </a:defRPr>
            </a:pPr>
            <a:r>
              <a:rPr/>
              <a:t>接收与核验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1889760"/>
            <a:ext cx="2028825" cy="10972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Rectangle 10"/>
          <p:cNvSpPr/>
          <p:nvPr/>
        </p:nvSpPr>
        <p:spPr>
          <a:xfrm>
            <a:off x="1600200" y="1889760"/>
            <a:ext cx="202882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697355" y="1958340"/>
            <a:ext cx="183451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用户描述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3070" y="2438400"/>
            <a:ext cx="182308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画面与制作需求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89070" y="1889760"/>
            <a:ext cx="2028825" cy="10972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Rectangle 14"/>
          <p:cNvSpPr/>
          <p:nvPr/>
        </p:nvSpPr>
        <p:spPr>
          <a:xfrm>
            <a:off x="3989070" y="1889760"/>
            <a:ext cx="202882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086225" y="1958340"/>
            <a:ext cx="183451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身份嵌入＋生成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1940" y="2438400"/>
            <a:ext cx="182308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匿名编号 → 潜在噪声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32270" y="1889760"/>
            <a:ext cx="2028825" cy="10972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Rectangle 18"/>
          <p:cNvSpPr/>
          <p:nvPr/>
        </p:nvSpPr>
        <p:spPr>
          <a:xfrm>
            <a:off x="6732270" y="1889760"/>
            <a:ext cx="202882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829425" y="1958340"/>
            <a:ext cx="183451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交付图片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5140" y="2438400"/>
            <a:ext cx="182308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下载并发布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691890" y="2362200"/>
            <a:ext cx="217170" cy="152400"/>
          </a:xfrm>
          <a:prstGeom prst="rightArrow">
            <a:avLst/>
          </a:prstGeom>
          <a:solidFill>
            <a:srgbClr val="153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Right Arrow 22"/>
          <p:cNvSpPr/>
          <p:nvPr/>
        </p:nvSpPr>
        <p:spPr>
          <a:xfrm>
            <a:off x="6109335" y="2362200"/>
            <a:ext cx="520065" cy="152400"/>
          </a:xfrm>
          <a:prstGeom prst="rightArrow">
            <a:avLst/>
          </a:prstGeom>
          <a:solidFill>
            <a:srgbClr val="153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Rectangle 23"/>
          <p:cNvSpPr/>
          <p:nvPr/>
        </p:nvSpPr>
        <p:spPr>
          <a:xfrm>
            <a:off x="3371850" y="3360420"/>
            <a:ext cx="3343275" cy="100584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Rectangle 24"/>
          <p:cNvSpPr/>
          <p:nvPr/>
        </p:nvSpPr>
        <p:spPr>
          <a:xfrm>
            <a:off x="3371850" y="3360420"/>
            <a:ext cx="334327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3469005" y="3429000"/>
            <a:ext cx="314896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匿名来源登记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909060"/>
            <a:ext cx="313753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作品编号／项目声明／署名／核验历史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00625" y="2987040"/>
            <a:ext cx="0" cy="37338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600200" y="4678680"/>
            <a:ext cx="2028825" cy="10972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Rectangle 29"/>
          <p:cNvSpPr/>
          <p:nvPr/>
        </p:nvSpPr>
        <p:spPr>
          <a:xfrm>
            <a:off x="1600200" y="4678680"/>
            <a:ext cx="202882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697355" y="4747260"/>
            <a:ext cx="183451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收到图片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3070" y="5227320"/>
            <a:ext cx="182308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上传待核验图像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89070" y="4678680"/>
            <a:ext cx="2028825" cy="10972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Rectangle 33"/>
          <p:cNvSpPr/>
          <p:nvPr/>
        </p:nvSpPr>
        <p:spPr>
          <a:xfrm>
            <a:off x="3989070" y="4678680"/>
            <a:ext cx="202882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4086225" y="4747260"/>
            <a:ext cx="183451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反演＋恢复消息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91940" y="5227320"/>
            <a:ext cx="182308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生成身份 → 匿名编号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32270" y="4678680"/>
            <a:ext cx="2028825" cy="10972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Rectangle 37"/>
          <p:cNvSpPr/>
          <p:nvPr/>
        </p:nvSpPr>
        <p:spPr>
          <a:xfrm>
            <a:off x="6732270" y="4678680"/>
            <a:ext cx="202882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6829425" y="4747260"/>
            <a:ext cx="183451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显示来源线索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5140" y="5227320"/>
            <a:ext cx="182308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有效匹配／人工复核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3691890" y="5173980"/>
            <a:ext cx="217170" cy="152400"/>
          </a:xfrm>
          <a:prstGeom prst="rightArrow">
            <a:avLst/>
          </a:prstGeom>
          <a:solidFill>
            <a:srgbClr val="153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Right Arrow 41"/>
          <p:cNvSpPr/>
          <p:nvPr/>
        </p:nvSpPr>
        <p:spPr>
          <a:xfrm>
            <a:off x="6109335" y="5173980"/>
            <a:ext cx="520065" cy="152400"/>
          </a:xfrm>
          <a:prstGeom prst="rightArrow">
            <a:avLst/>
          </a:prstGeom>
          <a:solidFill>
            <a:srgbClr val="153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cxnSp>
        <p:nvCxnSpPr>
          <p:cNvPr id="43" name="Connector 42"/>
          <p:cNvCxnSpPr/>
          <p:nvPr/>
        </p:nvCxnSpPr>
        <p:spPr>
          <a:xfrm flipV="1">
            <a:off x="5000625" y="4366260"/>
            <a:ext cx="0" cy="31242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772400" y="2987040"/>
            <a:ext cx="0" cy="1691640"/>
          </a:xfrm>
          <a:prstGeom prst="line">
            <a:avLst/>
          </a:prstGeom>
          <a:ln w="22859">
            <a:solidFill>
              <a:srgbClr val="A6B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898005" y="3535680"/>
            <a:ext cx="1828800" cy="57363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4E637A"/>
                </a:solidFill>
                <a:latin typeface="Microsoft YaHei"/>
              </a:defRPr>
            </a:pPr>
            <a:r>
              <a:rPr/>
              <a:t>网络传播</a:t>
            </a:r>
          </a:p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4E637A"/>
                </a:solidFill>
                <a:latin typeface="Microsoft YaHei"/>
              </a:defRPr>
            </a:pPr>
            <a:r>
              <a:rPr/>
              <a:t>压缩／转发／编辑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从图像到登记的关联闭环，是方案的应用核心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球形水印，适配“生成时标记、传播后核验”的需求</a:t>
            </a:r>
          </a:p>
        </p:txBody>
      </p:sp>
      <p:sp>
        <p:nvSpPr>
          <p:cNvPr id="6" name="Oval 5"/>
          <p:cNvSpPr/>
          <p:nvPr/>
        </p:nvSpPr>
        <p:spPr>
          <a:xfrm>
            <a:off x="3857625" y="2752725"/>
            <a:ext cx="1428750" cy="1428750"/>
          </a:xfrm>
          <a:prstGeom prst="ellipse">
            <a:avLst/>
          </a:prstGeom>
          <a:noFill/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Oval 6"/>
          <p:cNvSpPr/>
          <p:nvPr/>
        </p:nvSpPr>
        <p:spPr>
          <a:xfrm>
            <a:off x="4357687" y="2752725"/>
            <a:ext cx="428625" cy="1428750"/>
          </a:xfrm>
          <a:prstGeom prst="ellipse">
            <a:avLst/>
          </a:prstGeom>
          <a:noFill/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Oval 7"/>
          <p:cNvSpPr/>
          <p:nvPr/>
        </p:nvSpPr>
        <p:spPr>
          <a:xfrm>
            <a:off x="4129087" y="2752725"/>
            <a:ext cx="885825" cy="1428750"/>
          </a:xfrm>
          <a:prstGeom prst="ellipse">
            <a:avLst/>
          </a:prstGeom>
          <a:noFill/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Oval 8"/>
          <p:cNvSpPr/>
          <p:nvPr/>
        </p:nvSpPr>
        <p:spPr>
          <a:xfrm>
            <a:off x="3857625" y="3252787"/>
            <a:ext cx="1428750" cy="428625"/>
          </a:xfrm>
          <a:prstGeom prst="ellipse">
            <a:avLst/>
          </a:prstGeom>
          <a:noFill/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Oval 9"/>
          <p:cNvSpPr/>
          <p:nvPr/>
        </p:nvSpPr>
        <p:spPr>
          <a:xfrm>
            <a:off x="3857625" y="3024187"/>
            <a:ext cx="1428750" cy="885825"/>
          </a:xfrm>
          <a:prstGeom prst="ellipse">
            <a:avLst/>
          </a:prstGeom>
          <a:noFill/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074795" y="3238500"/>
            <a:ext cx="1114425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40" b="1">
                <a:solidFill>
                  <a:srgbClr val="18304E"/>
                </a:solidFill>
                <a:latin typeface="Microsoft YaHei"/>
              </a:defRPr>
            </a:pPr>
            <a:r>
              <a:rPr/>
              <a:t>球形水印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1645920" y="2415540"/>
            <a:ext cx="2926080" cy="1051560"/>
          </a:xfrm>
          <a:prstGeom prst="line">
            <a:avLst/>
          </a:prstGeom>
          <a:ln w="15240">
            <a:solidFill>
              <a:srgbClr val="A6B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45770" y="1958340"/>
            <a:ext cx="2686050" cy="10591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Rectangle 13"/>
          <p:cNvSpPr/>
          <p:nvPr/>
        </p:nvSpPr>
        <p:spPr>
          <a:xfrm>
            <a:off x="445770" y="1958340"/>
            <a:ext cx="268605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42925" y="2026920"/>
            <a:ext cx="249174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生成先验适配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506980"/>
            <a:ext cx="248031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将身份映射到扩散模型潜在噪声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572000" y="2415540"/>
            <a:ext cx="2628900" cy="1051560"/>
          </a:xfrm>
          <a:prstGeom prst="line">
            <a:avLst/>
          </a:prstGeom>
          <a:ln w="15240">
            <a:solidFill>
              <a:srgbClr val="A6B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000750" y="1958340"/>
            <a:ext cx="2686050" cy="10591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Rectangle 18"/>
          <p:cNvSpPr/>
          <p:nvPr/>
        </p:nvSpPr>
        <p:spPr>
          <a:xfrm>
            <a:off x="6000750" y="1958340"/>
            <a:ext cx="268605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097905" y="2026920"/>
            <a:ext cx="249174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质量保护目标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3620" y="2506980"/>
            <a:ext cx="248031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兼顾标识嵌入与生成内容观感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645920" y="3467100"/>
            <a:ext cx="2926080" cy="1516380"/>
          </a:xfrm>
          <a:prstGeom prst="line">
            <a:avLst/>
          </a:prstGeom>
          <a:ln w="15240">
            <a:solidFill>
              <a:srgbClr val="A6B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45770" y="4526280"/>
            <a:ext cx="2686050" cy="10591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Rectangle 23"/>
          <p:cNvSpPr/>
          <p:nvPr/>
        </p:nvSpPr>
        <p:spPr>
          <a:xfrm>
            <a:off x="445770" y="4526280"/>
            <a:ext cx="268605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542925" y="4594860"/>
            <a:ext cx="249174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生成端集成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74920"/>
            <a:ext cx="248031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依托预训练生成模型构建路线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0" y="3467100"/>
            <a:ext cx="2628900" cy="1516380"/>
          </a:xfrm>
          <a:prstGeom prst="line">
            <a:avLst/>
          </a:prstGeom>
          <a:ln w="15240">
            <a:solidFill>
              <a:srgbClr val="A6B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000750" y="4526280"/>
            <a:ext cx="2686050" cy="10591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Rectangle 28"/>
          <p:cNvSpPr/>
          <p:nvPr/>
        </p:nvSpPr>
        <p:spPr>
          <a:xfrm>
            <a:off x="6000750" y="4526280"/>
            <a:ext cx="268605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097905" y="4594860"/>
            <a:ext cx="249174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传播后恢复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03620" y="5074920"/>
            <a:ext cx="248031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通过反演与逆变换恢复消息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选型围绕场景需求展开，最终效果由统一测试验证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作品身份 → 球面映射 → 扩散图像生成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474" y="1943100"/>
            <a:ext cx="8401050" cy="2651760"/>
          </a:xfrm>
          <a:prstGeom prst="rect">
            <a:avLst/>
          </a:prstGeom>
          <a:solidFill>
            <a:srgbClr val="FFFFFF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" y="2381250"/>
            <a:ext cx="8206740" cy="176022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428625" y="4960620"/>
            <a:ext cx="0" cy="655320"/>
          </a:xfrm>
          <a:prstGeom prst="line">
            <a:avLst/>
          </a:prstGeom>
          <a:ln w="3048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922520"/>
            <a:ext cx="233743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8304E"/>
                </a:solidFill>
                <a:latin typeface="Microsoft YaHei"/>
              </a:defRPr>
            </a:pPr>
            <a:r>
              <a:rPr/>
              <a:t>身份编码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65420"/>
            <a:ext cx="233743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4E637A"/>
                </a:solidFill>
                <a:latin typeface="Microsoft YaHei"/>
              </a:defRPr>
            </a:pPr>
            <a:r>
              <a:rPr/>
              <a:t>匿名编号／重复与填充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31845" y="4960620"/>
            <a:ext cx="0" cy="655320"/>
          </a:xfrm>
          <a:prstGeom prst="line">
            <a:avLst/>
          </a:prstGeom>
          <a:ln w="3048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51860" y="4922520"/>
            <a:ext cx="233743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8304E"/>
                </a:solidFill>
                <a:latin typeface="Microsoft YaHei"/>
              </a:defRPr>
            </a:pPr>
            <a:r>
              <a:rPr/>
              <a:t>噪声构造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1860" y="5265420"/>
            <a:ext cx="233743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4E637A"/>
                </a:solidFill>
                <a:latin typeface="Microsoft YaHei"/>
              </a:defRPr>
            </a:pPr>
            <a:r>
              <a:rPr/>
              <a:t>可逆混合／旋转与半径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35065" y="4960620"/>
            <a:ext cx="0" cy="655320"/>
          </a:xfrm>
          <a:prstGeom prst="line">
            <a:avLst/>
          </a:prstGeom>
          <a:ln w="3048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55080" y="4922520"/>
            <a:ext cx="233743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8304E"/>
                </a:solidFill>
                <a:latin typeface="Microsoft YaHei"/>
              </a:defRPr>
            </a:pPr>
            <a:r>
              <a:rPr/>
              <a:t>模型生成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265420"/>
            <a:ext cx="233743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4E637A"/>
                </a:solidFill>
                <a:latin typeface="Microsoft YaHei"/>
              </a:defRPr>
            </a:pPr>
            <a:r>
              <a:rPr/>
              <a:t>噪声进入预训练扩散模型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在生成环节嵌入可恢复身份，而不依赖外部文件名或说明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传播图像 → 反演与消息恢复 → 来源关联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474" y="1882139"/>
            <a:ext cx="840105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7" name="Picture 6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687" y="2196464"/>
            <a:ext cx="5000625" cy="129159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71474" y="4320540"/>
            <a:ext cx="1885950" cy="116586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Rectangle 8"/>
          <p:cNvSpPr/>
          <p:nvPr/>
        </p:nvSpPr>
        <p:spPr>
          <a:xfrm>
            <a:off x="371474" y="4320540"/>
            <a:ext cx="188595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68630" y="4389120"/>
            <a:ext cx="169164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图像输入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345" y="4869180"/>
            <a:ext cx="168021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上传收到的图片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314575" y="4800600"/>
            <a:ext cx="154305" cy="152400"/>
          </a:xfrm>
          <a:prstGeom prst="rightArrow">
            <a:avLst/>
          </a:prstGeom>
          <a:solidFill>
            <a:srgbClr val="153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Rectangle 12"/>
          <p:cNvSpPr/>
          <p:nvPr/>
        </p:nvSpPr>
        <p:spPr>
          <a:xfrm>
            <a:off x="2543175" y="4320540"/>
            <a:ext cx="1885950" cy="116586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Rectangle 13"/>
          <p:cNvSpPr/>
          <p:nvPr/>
        </p:nvSpPr>
        <p:spPr>
          <a:xfrm>
            <a:off x="2543175" y="4320540"/>
            <a:ext cx="188595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2640330" y="4389120"/>
            <a:ext cx="169164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恢复消息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6045" y="4869180"/>
            <a:ext cx="168021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反演＋逆变换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486275" y="4800600"/>
            <a:ext cx="154305" cy="152400"/>
          </a:xfrm>
          <a:prstGeom prst="rightArrow">
            <a:avLst/>
          </a:prstGeom>
          <a:solidFill>
            <a:srgbClr val="153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Rectangle 17"/>
          <p:cNvSpPr/>
          <p:nvPr/>
        </p:nvSpPr>
        <p:spPr>
          <a:xfrm>
            <a:off x="4714875" y="4320540"/>
            <a:ext cx="1885950" cy="116586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Rectangle 18"/>
          <p:cNvSpPr/>
          <p:nvPr/>
        </p:nvSpPr>
        <p:spPr>
          <a:xfrm>
            <a:off x="4714875" y="4320540"/>
            <a:ext cx="188595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812030" y="4389120"/>
            <a:ext cx="169164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来源关联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7745" y="4869180"/>
            <a:ext cx="168021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匹配有效登记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657975" y="4800600"/>
            <a:ext cx="154305" cy="152400"/>
          </a:xfrm>
          <a:prstGeom prst="rightArrow">
            <a:avLst/>
          </a:prstGeom>
          <a:solidFill>
            <a:srgbClr val="153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Rectangle 22"/>
          <p:cNvSpPr/>
          <p:nvPr/>
        </p:nvSpPr>
        <p:spPr>
          <a:xfrm>
            <a:off x="6886575" y="4320540"/>
            <a:ext cx="1885950" cy="116586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Rectangle 23"/>
          <p:cNvSpPr/>
          <p:nvPr/>
        </p:nvSpPr>
        <p:spPr>
          <a:xfrm>
            <a:off x="6886575" y="4320540"/>
            <a:ext cx="188595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983730" y="4389120"/>
            <a:ext cx="169164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人工检查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9445" y="4869180"/>
            <a:ext cx="168021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材料与异常复核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原研究方法承担消息恢复，应用设计承担登记关联和复核任务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网页、任务服务与模型环境分离，按实际负载逐步接入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474" y="2171700"/>
            <a:ext cx="2057400" cy="12877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Rectangle 6"/>
          <p:cNvSpPr/>
          <p:nvPr/>
        </p:nvSpPr>
        <p:spPr>
          <a:xfrm>
            <a:off x="371474" y="2171700"/>
            <a:ext cx="205740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68630" y="2240280"/>
            <a:ext cx="186309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浏览器入口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345" y="2720340"/>
            <a:ext cx="1851660" cy="5529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图片保护／素材与记录／图片溯</a:t>
            </a:r>
          </a:p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14600" y="2705100"/>
            <a:ext cx="360045" cy="152400"/>
          </a:xfrm>
          <a:prstGeom prst="rightArrow">
            <a:avLst/>
          </a:prstGeom>
          <a:solidFill>
            <a:srgbClr val="153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Rectangle 10"/>
          <p:cNvSpPr/>
          <p:nvPr/>
        </p:nvSpPr>
        <p:spPr>
          <a:xfrm>
            <a:off x="2971799" y="2171700"/>
            <a:ext cx="2400300" cy="12877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Rectangle 11"/>
          <p:cNvSpPr/>
          <p:nvPr/>
        </p:nvSpPr>
        <p:spPr>
          <a:xfrm>
            <a:off x="2971799" y="2171700"/>
            <a:ext cx="240030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068954" y="2240280"/>
            <a:ext cx="220599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任务与登记服务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4670" y="2720340"/>
            <a:ext cx="219456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HTTP接口／任务状态／异常提示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469255" y="2705100"/>
            <a:ext cx="342900" cy="152400"/>
          </a:xfrm>
          <a:prstGeom prst="rightArrow">
            <a:avLst/>
          </a:prstGeom>
          <a:solidFill>
            <a:srgbClr val="153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Rectangle 15"/>
          <p:cNvSpPr/>
          <p:nvPr/>
        </p:nvSpPr>
        <p:spPr>
          <a:xfrm>
            <a:off x="5915025" y="2171700"/>
            <a:ext cx="2857500" cy="12877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Rectangle 16"/>
          <p:cNvSpPr/>
          <p:nvPr/>
        </p:nvSpPr>
        <p:spPr>
          <a:xfrm>
            <a:off x="5915025" y="2171700"/>
            <a:ext cx="285750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012180" y="2240280"/>
            <a:ext cx="266319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模型执行环境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7895" y="2720340"/>
            <a:ext cx="265176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独立Python worker／权重／签名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799" y="4084320"/>
            <a:ext cx="2400300" cy="115062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Rectangle 20"/>
          <p:cNvSpPr/>
          <p:nvPr/>
        </p:nvSpPr>
        <p:spPr>
          <a:xfrm>
            <a:off x="2971799" y="4084320"/>
            <a:ext cx="240030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3068954" y="4152900"/>
            <a:ext cx="220599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原型存储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4670" y="4632960"/>
            <a:ext cx="219456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JSON登记＋图片文件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71950" y="3459480"/>
            <a:ext cx="0" cy="62484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85775" y="4130040"/>
            <a:ext cx="2200275" cy="6150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90"/>
              </a:lnSpc>
              <a:spcAft>
                <a:spcPts val="0"/>
              </a:spcAft>
              <a:defRPr sz="1170" b="0">
                <a:solidFill>
                  <a:srgbClr val="4E637A"/>
                </a:solidFill>
                <a:latin typeface="Microsoft YaHei"/>
              </a:defRPr>
            </a:pPr>
            <a:r>
              <a:rPr/>
              <a:t>轻量原型：CPU可运行</a:t>
            </a:r>
          </a:p>
          <a:p>
            <a:pPr>
              <a:lnSpc>
                <a:spcPts val="1590"/>
              </a:lnSpc>
              <a:spcAft>
                <a:spcPts val="0"/>
              </a:spcAft>
              <a:defRPr sz="1170" b="0">
                <a:solidFill>
                  <a:srgbClr val="4E637A"/>
                </a:solidFill>
                <a:latin typeface="Microsoft YaHei"/>
              </a:defRPr>
            </a:pPr>
            <a:r>
              <a:rPr/>
              <a:t>论文主线：GPU生成与反演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29324" y="4130040"/>
            <a:ext cx="2600325" cy="6150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90"/>
              </a:lnSpc>
              <a:spcAft>
                <a:spcPts val="0"/>
              </a:spcAft>
              <a:defRPr sz="1170" b="0">
                <a:solidFill>
                  <a:srgbClr val="4E637A"/>
                </a:solidFill>
                <a:latin typeface="Microsoft YaHei"/>
              </a:defRPr>
            </a:pPr>
            <a:r>
              <a:rPr/>
              <a:t>正式接入条件</a:t>
            </a:r>
          </a:p>
          <a:p>
            <a:pPr>
              <a:lnSpc>
                <a:spcPts val="1590"/>
              </a:lnSpc>
              <a:spcAft>
                <a:spcPts val="0"/>
              </a:spcAft>
              <a:defRPr sz="1170" b="0">
                <a:solidFill>
                  <a:srgbClr val="4E637A"/>
                </a:solidFill>
                <a:latin typeface="Microsoft YaHei"/>
              </a:defRPr>
            </a:pPr>
            <a:r>
              <a:rPr/>
              <a:t>鉴权、签名保护、备份与并发验证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资源需求随模型与任务规模确定，部署前以实测确认容量和成本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用阶段验收和明确交付物，连接算法、产品与验证工作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474" y="2065020"/>
            <a:ext cx="1143000" cy="601980"/>
          </a:xfrm>
          <a:prstGeom prst="rect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40055" y="2209800"/>
            <a:ext cx="10058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1">
                <a:solidFill>
                  <a:srgbClr val="FFFFFF"/>
                </a:solidFill>
                <a:latin typeface="Microsoft YaHei"/>
              </a:defRPr>
            </a:pPr>
            <a:r>
              <a:rPr/>
              <a:t>阶段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2065020"/>
            <a:ext cx="1685925" cy="601980"/>
          </a:xfrm>
          <a:prstGeom prst="rect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668780" y="2209800"/>
            <a:ext cx="154876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1">
                <a:solidFill>
                  <a:srgbClr val="FFFFFF"/>
                </a:solidFill>
                <a:latin typeface="Microsoft YaHei"/>
              </a:defRPr>
            </a:pPr>
            <a:r>
              <a:rPr/>
              <a:t>负责角色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8995" y="2065020"/>
            <a:ext cx="2828925" cy="601980"/>
          </a:xfrm>
          <a:prstGeom prst="rect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57575" y="2209800"/>
            <a:ext cx="269176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1">
                <a:solidFill>
                  <a:srgbClr val="FFFFFF"/>
                </a:solidFill>
                <a:latin typeface="Microsoft YaHei"/>
              </a:defRPr>
            </a:pPr>
            <a:r>
              <a:rPr/>
              <a:t>阶段交付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2220" y="2065020"/>
            <a:ext cx="2440305" cy="601980"/>
          </a:xfrm>
          <a:prstGeom prst="rect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0" y="2209800"/>
            <a:ext cx="230314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1">
                <a:solidFill>
                  <a:srgbClr val="FFFFFF"/>
                </a:solidFill>
                <a:latin typeface="Microsoft YaHei"/>
              </a:defRPr>
            </a:pPr>
            <a:r>
              <a:rPr/>
              <a:t>验收门槛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1474" y="2727960"/>
            <a:ext cx="1143000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40055" y="2872740"/>
            <a:ext cx="10058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原型闭环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2727960"/>
            <a:ext cx="1685925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668780" y="2872740"/>
            <a:ext cx="154876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产品＋验证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8995" y="2727960"/>
            <a:ext cx="2828925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3457575" y="2872740"/>
            <a:ext cx="269176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交互、登记、记录与错误语义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32220" y="2727960"/>
            <a:ext cx="2440305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400800" y="2872740"/>
            <a:ext cx="230314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接口与工作流检查通过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1474" y="3390900"/>
            <a:ext cx="1143000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40055" y="3535680"/>
            <a:ext cx="10058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模型接通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3390900"/>
            <a:ext cx="1685925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668780" y="3535680"/>
            <a:ext cx="154876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算法＋产品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8995" y="3390900"/>
            <a:ext cx="2828925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3457575" y="3535680"/>
            <a:ext cx="269176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生成／反演命令、配置与日志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32220" y="3390900"/>
            <a:ext cx="2440305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400800" y="3535680"/>
            <a:ext cx="230314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独立样张可复现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1474" y="4053840"/>
            <a:ext cx="1143000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440055" y="4198620"/>
            <a:ext cx="10058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统一评测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00200" y="4053840"/>
            <a:ext cx="1685925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1668780" y="4198620"/>
            <a:ext cx="154876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算法＋验证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8995" y="4053840"/>
            <a:ext cx="2828925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3457575" y="4198620"/>
            <a:ext cx="269176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正负样本、参数与失败案例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32220" y="4053840"/>
            <a:ext cx="2440305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6400800" y="4198620"/>
            <a:ext cx="230314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质量／恢复／误检齐全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1474" y="4716780"/>
            <a:ext cx="1143000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440055" y="4861560"/>
            <a:ext cx="10058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业务试点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00200" y="4716780"/>
            <a:ext cx="1685925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1668780" y="4861560"/>
            <a:ext cx="154876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产品＋验证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8995" y="4716780"/>
            <a:ext cx="2828925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3457575" y="4861560"/>
            <a:ext cx="269176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用户任务记录与匿名反馈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32220" y="4716780"/>
            <a:ext cx="2440305" cy="60198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6400800" y="4861560"/>
            <a:ext cx="230314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同任务对照＋问题闭环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每阶段保留配置、日志、问题单和验收记录，避免只有计划没有交付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用质量、恢复、误检与任务效率共同评价方案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474" y="2011680"/>
            <a:ext cx="1885950" cy="495299"/>
          </a:xfrm>
          <a:prstGeom prst="roundRect">
            <a:avLst>
              <a:gd name="adj" fmla="val 8000"/>
            </a:avLst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68630" y="2125980"/>
            <a:ext cx="169164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FFFFFF"/>
                </a:solidFill>
                <a:latin typeface="Microsoft YaHei"/>
              </a:defRPr>
            </a:pPr>
            <a:r>
              <a:rPr/>
              <a:t>视觉质量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371474" y="2750820"/>
            <a:ext cx="1885950" cy="13639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Rectangle 8"/>
          <p:cNvSpPr/>
          <p:nvPr/>
        </p:nvSpPr>
        <p:spPr>
          <a:xfrm>
            <a:off x="371474" y="2750820"/>
            <a:ext cx="188595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68630" y="2819400"/>
            <a:ext cx="169164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图像观感与局部细节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345" y="3299460"/>
            <a:ext cx="168021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图像指标＋盲评观察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3175" y="2011680"/>
            <a:ext cx="1885950" cy="495299"/>
          </a:xfrm>
          <a:prstGeom prst="roundRect">
            <a:avLst>
              <a:gd name="adj" fmla="val 8000"/>
            </a:avLst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2640330" y="2125980"/>
            <a:ext cx="169164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FFFFFF"/>
                </a:solidFill>
                <a:latin typeface="Microsoft YaHei"/>
              </a:defRPr>
            </a:pPr>
            <a:r>
              <a:rPr/>
              <a:t>标识恢复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3175" y="2750820"/>
            <a:ext cx="1885950" cy="13639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Rectangle 14"/>
          <p:cNvSpPr/>
          <p:nvPr/>
        </p:nvSpPr>
        <p:spPr>
          <a:xfrm>
            <a:off x="2543175" y="2750820"/>
            <a:ext cx="188595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2640330" y="2819400"/>
            <a:ext cx="169164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原图与传播后图像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6045" y="3299460"/>
            <a:ext cx="168021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消息恢复率＋匹配情况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14875" y="2011680"/>
            <a:ext cx="1885950" cy="495299"/>
          </a:xfrm>
          <a:prstGeom prst="roundRect">
            <a:avLst>
              <a:gd name="adj" fmla="val 8000"/>
            </a:avLst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812030" y="2125980"/>
            <a:ext cx="169164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FFFFFF"/>
                </a:solidFill>
                <a:latin typeface="Microsoft YaHei"/>
              </a:defRPr>
            </a:pPr>
            <a:r>
              <a:rPr/>
              <a:t>错误控制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14875" y="2750820"/>
            <a:ext cx="1885950" cy="13639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Rectangle 20"/>
          <p:cNvSpPr/>
          <p:nvPr/>
        </p:nvSpPr>
        <p:spPr>
          <a:xfrm>
            <a:off x="4714875" y="2750820"/>
            <a:ext cx="188595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812030" y="2819400"/>
            <a:ext cx="169164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无水印与错误签名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7745" y="3299460"/>
            <a:ext cx="168021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误检率＋冲突与异常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86575" y="2011680"/>
            <a:ext cx="1885950" cy="495299"/>
          </a:xfrm>
          <a:prstGeom prst="roundRect">
            <a:avLst>
              <a:gd name="adj" fmla="val 8000"/>
            </a:avLst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983730" y="2125980"/>
            <a:ext cx="169164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FFFFFF"/>
                </a:solidFill>
                <a:latin typeface="Microsoft YaHei"/>
              </a:defRPr>
            </a:pPr>
            <a:r>
              <a:rPr/>
              <a:t>使用效率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86575" y="2750820"/>
            <a:ext cx="1885950" cy="13639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Rectangle 26"/>
          <p:cNvSpPr/>
          <p:nvPr/>
        </p:nvSpPr>
        <p:spPr>
          <a:xfrm>
            <a:off x="6886575" y="2750820"/>
            <a:ext cx="188595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6983730" y="2819400"/>
            <a:ext cx="169164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人工追问与系统查找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9445" y="3299460"/>
            <a:ext cx="168021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任务耗时＋正确判断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490" y="4610100"/>
            <a:ext cx="81153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36"/>
              </a:lnSpc>
              <a:spcAft>
                <a:spcPts val="0"/>
              </a:spcAft>
              <a:defRPr sz="1350" b="1">
                <a:solidFill>
                  <a:srgbClr val="18304E"/>
                </a:solidFill>
                <a:latin typeface="Microsoft YaHei"/>
              </a:defRPr>
            </a:pPr>
            <a:r>
              <a:rPr/>
              <a:t>传播条件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1490" y="5090160"/>
            <a:ext cx="1485899" cy="32766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71500" y="5135880"/>
            <a:ext cx="13258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1">
                <a:solidFill>
                  <a:srgbClr val="18304E"/>
                </a:solidFill>
                <a:latin typeface="Microsoft YaHei"/>
              </a:defRPr>
            </a:pPr>
            <a:r>
              <a:rPr/>
              <a:t>原始交付图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97405" y="5090160"/>
            <a:ext cx="1485899" cy="32766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2177415" y="5135880"/>
            <a:ext cx="13258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1">
                <a:solidFill>
                  <a:srgbClr val="18304E"/>
                </a:solidFill>
                <a:latin typeface="Microsoft YaHei"/>
              </a:defRPr>
            </a:pPr>
            <a:r>
              <a:rPr/>
              <a:t>轻度／明显压缩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03320" y="5090160"/>
            <a:ext cx="1485899" cy="32766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3783330" y="5135880"/>
            <a:ext cx="13258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1">
                <a:solidFill>
                  <a:srgbClr val="18304E"/>
                </a:solidFill>
                <a:latin typeface="Microsoft YaHei"/>
              </a:defRPr>
            </a:pPr>
            <a:r>
              <a:rPr/>
              <a:t>尺寸缩小一半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09235" y="5090160"/>
            <a:ext cx="1485899" cy="32766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5389245" y="5135880"/>
            <a:ext cx="13258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1">
                <a:solidFill>
                  <a:srgbClr val="18304E"/>
                </a:solidFill>
                <a:latin typeface="Microsoft YaHei"/>
              </a:defRPr>
            </a:pPr>
            <a:r>
              <a:rPr/>
              <a:t>较大面积裁剪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15150" y="5090160"/>
            <a:ext cx="1714500" cy="32766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6995160" y="5135880"/>
            <a:ext cx="15544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1">
                <a:solidFill>
                  <a:srgbClr val="18304E"/>
                </a:solidFill>
                <a:latin typeface="Microsoft YaHei"/>
              </a:defRPr>
            </a:pPr>
            <a:r>
              <a:rPr/>
              <a:t>重绘等失败条件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同时记录成功、失败与无法确认，让验证覆盖真实使用边界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让结果同时呈现“可以恢复”与“暂时失效”的条件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95499"/>
            <a:ext cx="165735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18304E"/>
                </a:solidFill>
                <a:latin typeface="Microsoft YaHei"/>
              </a:defRPr>
            </a:pPr>
            <a:r>
              <a:rPr/>
              <a:t>原图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2200275" y="2133600"/>
            <a:ext cx="4686300" cy="27432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Rectangle 7"/>
          <p:cNvSpPr/>
          <p:nvPr/>
        </p:nvSpPr>
        <p:spPr>
          <a:xfrm>
            <a:off x="2200275" y="2133600"/>
            <a:ext cx="4686300" cy="274320"/>
          </a:xfrm>
          <a:prstGeom prst="rect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086600" y="2095499"/>
            <a:ext cx="165735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18304E"/>
                </a:solidFill>
                <a:latin typeface="Microsoft YaHei"/>
              </a:defRPr>
            </a:pPr>
            <a:r>
              <a:rPr/>
              <a:t>24 / 24 找回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65735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18304E"/>
                </a:solidFill>
                <a:latin typeface="Microsoft YaHei"/>
              </a:defRPr>
            </a:pPr>
            <a:r>
              <a:rPr/>
              <a:t>轻度压缩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00275" y="2781300"/>
            <a:ext cx="4686300" cy="27432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Rectangle 11"/>
          <p:cNvSpPr/>
          <p:nvPr/>
        </p:nvSpPr>
        <p:spPr>
          <a:xfrm>
            <a:off x="2200275" y="2781300"/>
            <a:ext cx="4686300" cy="274320"/>
          </a:xfrm>
          <a:prstGeom prst="rect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086600" y="2743200"/>
            <a:ext cx="165735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18304E"/>
                </a:solidFill>
                <a:latin typeface="Microsoft YaHei"/>
              </a:defRPr>
            </a:pPr>
            <a:r>
              <a:rPr/>
              <a:t>24 / 24 找回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90900"/>
            <a:ext cx="165735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18304E"/>
                </a:solidFill>
                <a:latin typeface="Microsoft YaHei"/>
              </a:defRPr>
            </a:pPr>
            <a:r>
              <a:rPr/>
              <a:t>明显压缩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00275" y="3429000"/>
            <a:ext cx="4686300" cy="27432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Rectangle 15"/>
          <p:cNvSpPr/>
          <p:nvPr/>
        </p:nvSpPr>
        <p:spPr>
          <a:xfrm>
            <a:off x="2200275" y="3429000"/>
            <a:ext cx="4686300" cy="274320"/>
          </a:xfrm>
          <a:prstGeom prst="rect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086600" y="3390900"/>
            <a:ext cx="165735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18304E"/>
                </a:solidFill>
                <a:latin typeface="Microsoft YaHei"/>
              </a:defRPr>
            </a:pPr>
            <a:r>
              <a:rPr/>
              <a:t>24 / 24 找回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38600"/>
            <a:ext cx="165735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18304E"/>
                </a:solidFill>
                <a:latin typeface="Microsoft YaHei"/>
              </a:defRPr>
            </a:pPr>
            <a:r>
              <a:rPr/>
              <a:t>尺寸减半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00275" y="4076699"/>
            <a:ext cx="4686300" cy="27432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Rectangle 19"/>
          <p:cNvSpPr/>
          <p:nvPr/>
        </p:nvSpPr>
        <p:spPr>
          <a:xfrm>
            <a:off x="2200275" y="4076699"/>
            <a:ext cx="4686300" cy="274320"/>
          </a:xfrm>
          <a:prstGeom prst="rect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7086600" y="4038600"/>
            <a:ext cx="165735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18304E"/>
                </a:solidFill>
                <a:latin typeface="Microsoft YaHei"/>
              </a:defRPr>
            </a:pPr>
            <a:r>
              <a:rPr/>
              <a:t>24 / 24 找回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86300"/>
            <a:ext cx="165735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18304E"/>
                </a:solidFill>
                <a:latin typeface="Microsoft YaHei"/>
              </a:defRPr>
            </a:pPr>
            <a:r>
              <a:rPr/>
              <a:t>较大面积裁剪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00275" y="4724400"/>
            <a:ext cx="4686300" cy="27432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7086600" y="4686300"/>
            <a:ext cx="165735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18304E"/>
                </a:solidFill>
                <a:latin typeface="Microsoft YaHei"/>
              </a:defRPr>
            </a:pPr>
            <a:r>
              <a:rPr/>
              <a:t>0 / 24 找回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490" y="5501640"/>
            <a:ext cx="81153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4E637A"/>
                </a:solidFill>
                <a:latin typeface="Microsoft YaHei"/>
              </a:defRPr>
            </a:pPr>
            <a:r>
              <a:rPr/>
              <a:t>24张自绘设计样张 · 当前内置轻量方法 · 仅说明本次受控条件表现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裁剪样本未恢复，系统应保留“无法确认”并引导人工复核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不误导用户的失败提示，与成功检出同样重要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71700"/>
            <a:ext cx="2457450" cy="7498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78"/>
              </a:lnSpc>
              <a:spcAft>
                <a:spcPts val="0"/>
              </a:spcAft>
              <a:defRPr sz="2925" b="1">
                <a:solidFill>
                  <a:srgbClr val="153C85"/>
                </a:solidFill>
                <a:latin typeface="Microsoft YaHei"/>
              </a:defRPr>
            </a:pPr>
            <a:r>
              <a:rPr/>
              <a:t>13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64180"/>
            <a:ext cx="245745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8304E"/>
                </a:solidFill>
                <a:latin typeface="Microsoft YaHei"/>
              </a:defRPr>
            </a:pPr>
            <a:r>
              <a:rPr/>
              <a:t>工作流检查通过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59480"/>
            <a:ext cx="245745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4E637A"/>
                </a:solidFill>
                <a:latin typeface="Microsoft YaHei"/>
              </a:defRPr>
            </a:pPr>
            <a:r>
              <a:rPr/>
              <a:t>覆盖处理、持久化与错误语义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1850" y="2171700"/>
            <a:ext cx="2457450" cy="7498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78"/>
              </a:lnSpc>
              <a:spcAft>
                <a:spcPts val="0"/>
              </a:spcAft>
              <a:defRPr sz="2925" b="1">
                <a:solidFill>
                  <a:srgbClr val="153C85"/>
                </a:solidFill>
                <a:latin typeface="Microsoft YaHei"/>
              </a:defRPr>
            </a:pPr>
            <a:r>
              <a:rPr/>
              <a:t>24 /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1850" y="2964180"/>
            <a:ext cx="245745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8304E"/>
                </a:solidFill>
                <a:latin typeface="Microsoft YaHei"/>
              </a:defRPr>
            </a:pPr>
            <a:r>
              <a:rPr/>
              <a:t>无水印样张未关联登记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1850" y="3459480"/>
            <a:ext cx="245745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4E637A"/>
                </a:solidFill>
                <a:latin typeface="Microsoft YaHei"/>
              </a:defRPr>
            </a:pPr>
            <a:r>
              <a:rPr/>
              <a:t>受控小样本，不推断零误检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499" y="2171700"/>
            <a:ext cx="2457450" cy="7498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78"/>
              </a:lnSpc>
              <a:spcAft>
                <a:spcPts val="0"/>
              </a:spcAft>
              <a:defRPr sz="2925" b="1">
                <a:solidFill>
                  <a:srgbClr val="153C85"/>
                </a:solidFill>
                <a:latin typeface="Microsoft YaHei"/>
              </a:defRPr>
            </a:pPr>
            <a:r>
              <a:rPr/>
              <a:t>0.28秒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499" y="2964180"/>
            <a:ext cx="245745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8304E"/>
                </a:solidFill>
                <a:latin typeface="Microsoft YaHei"/>
              </a:defRPr>
            </a:pPr>
            <a:r>
              <a:rPr/>
              <a:t>本地查询中位耗时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499" y="3459480"/>
            <a:ext cx="245745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4E637A"/>
                </a:solidFill>
                <a:latin typeface="Microsoft YaHei"/>
              </a:defRPr>
            </a:pPr>
            <a:r>
              <a:rPr/>
              <a:t>24条登记规模，不代表线上性能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8625" y="4777740"/>
            <a:ext cx="0" cy="655320"/>
          </a:xfrm>
          <a:prstGeom prst="line">
            <a:avLst/>
          </a:prstGeom>
          <a:ln w="3048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4739640"/>
            <a:ext cx="233743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8304E"/>
                </a:solidFill>
                <a:latin typeface="Microsoft YaHei"/>
              </a:defRPr>
            </a:pPr>
            <a:r>
              <a:rPr/>
              <a:t>服务出错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82540"/>
            <a:ext cx="233743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4E637A"/>
                </a:solidFill>
                <a:latin typeface="Microsoft YaHei"/>
              </a:defRPr>
            </a:pPr>
            <a:r>
              <a:rPr/>
              <a:t>显示未完成，不输出“未检出”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43275" y="4777740"/>
            <a:ext cx="0" cy="655320"/>
          </a:xfrm>
          <a:prstGeom prst="line">
            <a:avLst/>
          </a:prstGeom>
          <a:ln w="3048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63290" y="4739640"/>
            <a:ext cx="233743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8304E"/>
                </a:solidFill>
                <a:latin typeface="Microsoft YaHei"/>
              </a:defRPr>
            </a:pPr>
            <a:r>
              <a:rPr/>
              <a:t>登记冲突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3290" y="5082540"/>
            <a:ext cx="233743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4E637A"/>
                </a:solidFill>
                <a:latin typeface="Microsoft YaHei"/>
              </a:defRPr>
            </a:pPr>
            <a:r>
              <a:rPr/>
              <a:t>输出需复核，不强行归属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57925" y="4777740"/>
            <a:ext cx="0" cy="655320"/>
          </a:xfrm>
          <a:prstGeom prst="line">
            <a:avLst/>
          </a:prstGeom>
          <a:ln w="3048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77940" y="4739640"/>
            <a:ext cx="233743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8304E"/>
                </a:solidFill>
                <a:latin typeface="Microsoft YaHei"/>
              </a:defRPr>
            </a:pPr>
            <a:r>
              <a:rPr/>
              <a:t>持久化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7940" y="5082540"/>
            <a:ext cx="233743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4E637A"/>
                </a:solidFill>
                <a:latin typeface="Microsoft YaHei"/>
              </a:defRPr>
            </a:pPr>
            <a:r>
              <a:rPr/>
              <a:t>可回看登记与核验记录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正确区分成功、无匹配、冲突与服务错误，保护后续使用决策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登记、署名与交付效果，在一个页面完成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474" y="1927860"/>
            <a:ext cx="6275070" cy="3695700"/>
          </a:xfrm>
          <a:prstGeom prst="rect">
            <a:avLst/>
          </a:prstGeom>
          <a:solidFill>
            <a:srgbClr val="FFFFFF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7" name="Picture 6" descr="protect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15" y="2506980"/>
            <a:ext cx="5177790" cy="25374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14350" y="2042160"/>
            <a:ext cx="1028700" cy="32766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94360" y="2087880"/>
            <a:ext cx="8686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1">
                <a:solidFill>
                  <a:srgbClr val="18304E"/>
                </a:solidFill>
                <a:latin typeface="Microsoft YaHei"/>
              </a:defRPr>
            </a:pPr>
            <a:r>
              <a:rPr/>
              <a:t>处理前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14750" y="2042160"/>
            <a:ext cx="1028700" cy="32766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794760" y="2087880"/>
            <a:ext cx="8686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1">
                <a:solidFill>
                  <a:srgbClr val="18304E"/>
                </a:solidFill>
                <a:latin typeface="Microsoft YaHei"/>
              </a:defRPr>
            </a:pPr>
            <a:r>
              <a:rPr/>
              <a:t>处理后</a:t>
            </a:r>
          </a:p>
        </p:txBody>
      </p:sp>
      <p:sp>
        <p:nvSpPr>
          <p:cNvPr id="12" name="Oval 11"/>
          <p:cNvSpPr/>
          <p:nvPr/>
        </p:nvSpPr>
        <p:spPr>
          <a:xfrm>
            <a:off x="6795135" y="2179320"/>
            <a:ext cx="274320" cy="274320"/>
          </a:xfrm>
          <a:prstGeom prst="ellipse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852285" y="2179320"/>
            <a:ext cx="3429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0895" y="2133600"/>
            <a:ext cx="1628775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36"/>
              </a:lnSpc>
              <a:spcAft>
                <a:spcPts val="0"/>
              </a:spcAft>
              <a:defRPr sz="1350" b="1">
                <a:solidFill>
                  <a:srgbClr val="18304E"/>
                </a:solidFill>
                <a:latin typeface="Microsoft YaHei"/>
              </a:defRPr>
            </a:pPr>
            <a:r>
              <a:rPr/>
              <a:t>登记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9430" y="2598420"/>
            <a:ext cx="18516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4E637A"/>
                </a:solidFill>
                <a:latin typeface="Microsoft YaHei"/>
              </a:defRPr>
            </a:pPr>
            <a:r>
              <a:rPr/>
              <a:t>填写项目与署名</a:t>
            </a:r>
          </a:p>
        </p:txBody>
      </p:sp>
      <p:sp>
        <p:nvSpPr>
          <p:cNvPr id="16" name="Oval 15"/>
          <p:cNvSpPr/>
          <p:nvPr/>
        </p:nvSpPr>
        <p:spPr>
          <a:xfrm>
            <a:off x="6795135" y="3322320"/>
            <a:ext cx="274320" cy="274320"/>
          </a:xfrm>
          <a:prstGeom prst="ellipse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852285" y="3322320"/>
            <a:ext cx="3429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0895" y="3276600"/>
            <a:ext cx="1628775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36"/>
              </a:lnSpc>
              <a:spcAft>
                <a:spcPts val="0"/>
              </a:spcAft>
              <a:defRPr sz="1350" b="1">
                <a:solidFill>
                  <a:srgbClr val="18304E"/>
                </a:solidFill>
                <a:latin typeface="Microsoft YaHei"/>
              </a:defRPr>
            </a:pPr>
            <a:r>
              <a:rPr/>
              <a:t>保护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9430" y="3741420"/>
            <a:ext cx="18516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4E637A"/>
                </a:solidFill>
                <a:latin typeface="Microsoft YaHei"/>
              </a:defRPr>
            </a:pPr>
            <a:r>
              <a:rPr/>
              <a:t>按实际方式处理图片</a:t>
            </a:r>
          </a:p>
        </p:txBody>
      </p:sp>
      <p:sp>
        <p:nvSpPr>
          <p:cNvPr id="20" name="Oval 19"/>
          <p:cNvSpPr/>
          <p:nvPr/>
        </p:nvSpPr>
        <p:spPr>
          <a:xfrm>
            <a:off x="6795135" y="4465320"/>
            <a:ext cx="274320" cy="274320"/>
          </a:xfrm>
          <a:prstGeom prst="ellipse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852285" y="4465320"/>
            <a:ext cx="3429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0895" y="4419600"/>
            <a:ext cx="1628775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36"/>
              </a:lnSpc>
              <a:spcAft>
                <a:spcPts val="0"/>
              </a:spcAft>
              <a:defRPr sz="1350" b="1">
                <a:solidFill>
                  <a:srgbClr val="18304E"/>
                </a:solidFill>
                <a:latin typeface="Microsoft YaHei"/>
              </a:defRPr>
            </a:pPr>
            <a:r>
              <a:rPr/>
              <a:t>交付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9430" y="4884420"/>
            <a:ext cx="18516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4E637A"/>
                </a:solidFill>
                <a:latin typeface="Microsoft YaHei"/>
              </a:defRPr>
            </a:pPr>
            <a:r>
              <a:rPr/>
              <a:t>前后对照并下载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用户看到的是处理效果和交付图，算法细节保留在技术层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上传收到的图片，直接查看可关联的来源线索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474" y="1927860"/>
            <a:ext cx="6275070" cy="3695700"/>
          </a:xfrm>
          <a:prstGeom prst="rect">
            <a:avLst/>
          </a:prstGeom>
          <a:solidFill>
            <a:srgbClr val="FFFFFF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7" name="Picture 6" descr="product-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030" y="2446972"/>
            <a:ext cx="4251960" cy="26574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795135" y="2179320"/>
            <a:ext cx="274320" cy="274320"/>
          </a:xfrm>
          <a:prstGeom prst="ellipse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2285" y="2179320"/>
            <a:ext cx="3429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0895" y="2133600"/>
            <a:ext cx="1628775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36"/>
              </a:lnSpc>
              <a:spcAft>
                <a:spcPts val="0"/>
              </a:spcAft>
              <a:defRPr sz="1350" b="1">
                <a:solidFill>
                  <a:srgbClr val="18304E"/>
                </a:solidFill>
                <a:latin typeface="Microsoft YaHei"/>
              </a:defRPr>
            </a:pPr>
            <a:r>
              <a:rPr/>
              <a:t>上传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9430" y="2598420"/>
            <a:ext cx="18516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4E637A"/>
                </a:solidFill>
                <a:latin typeface="Microsoft YaHei"/>
              </a:defRPr>
            </a:pPr>
            <a:r>
              <a:rPr/>
              <a:t>无需回忆传播过程</a:t>
            </a:r>
          </a:p>
        </p:txBody>
      </p:sp>
      <p:sp>
        <p:nvSpPr>
          <p:cNvPr id="12" name="Oval 11"/>
          <p:cNvSpPr/>
          <p:nvPr/>
        </p:nvSpPr>
        <p:spPr>
          <a:xfrm>
            <a:off x="6795135" y="3322320"/>
            <a:ext cx="274320" cy="274320"/>
          </a:xfrm>
          <a:prstGeom prst="ellipse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852285" y="3322320"/>
            <a:ext cx="3429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0895" y="3276600"/>
            <a:ext cx="1628775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36"/>
              </a:lnSpc>
              <a:spcAft>
                <a:spcPts val="0"/>
              </a:spcAft>
              <a:defRPr sz="1350" b="1">
                <a:solidFill>
                  <a:srgbClr val="18304E"/>
                </a:solidFill>
                <a:latin typeface="Microsoft YaHei"/>
              </a:defRPr>
            </a:pPr>
            <a:r>
              <a:rPr/>
              <a:t>关联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9430" y="3741420"/>
            <a:ext cx="18516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4E637A"/>
                </a:solidFill>
                <a:latin typeface="Microsoft YaHei"/>
              </a:defRPr>
            </a:pPr>
            <a:r>
              <a:rPr/>
              <a:t>恢复有效标识后查找记录</a:t>
            </a:r>
          </a:p>
        </p:txBody>
      </p:sp>
      <p:sp>
        <p:nvSpPr>
          <p:cNvPr id="16" name="Oval 15"/>
          <p:cNvSpPr/>
          <p:nvPr/>
        </p:nvSpPr>
        <p:spPr>
          <a:xfrm>
            <a:off x="6795135" y="4465320"/>
            <a:ext cx="274320" cy="274320"/>
          </a:xfrm>
          <a:prstGeom prst="ellipse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852285" y="4465320"/>
            <a:ext cx="3429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0895" y="4419600"/>
            <a:ext cx="1628775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36"/>
              </a:lnSpc>
              <a:spcAft>
                <a:spcPts val="0"/>
              </a:spcAft>
              <a:defRPr sz="1350" b="1">
                <a:solidFill>
                  <a:srgbClr val="18304E"/>
                </a:solidFill>
                <a:latin typeface="Microsoft YaHei"/>
              </a:defRPr>
            </a:pPr>
            <a:r>
              <a:rPr/>
              <a:t>复核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9430" y="4884420"/>
            <a:ext cx="18516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4E637A"/>
                </a:solidFill>
                <a:latin typeface="Microsoft YaHei"/>
              </a:defRPr>
            </a:pPr>
            <a:r>
              <a:rPr/>
              <a:t>结合原图与授权材料核对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查找入口简单，结果保持可核对、可复查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把素材登记与核验历史放在同一条工作路径里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474" y="1927860"/>
            <a:ext cx="6275070" cy="3695700"/>
          </a:xfrm>
          <a:prstGeom prst="rect">
            <a:avLst/>
          </a:prstGeom>
          <a:solidFill>
            <a:srgbClr val="FFFFFF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7" name="Picture 6" descr="product-rec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030" y="2446972"/>
            <a:ext cx="4251960" cy="26574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795135" y="2179320"/>
            <a:ext cx="274320" cy="274320"/>
          </a:xfrm>
          <a:prstGeom prst="ellipse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2285" y="2179320"/>
            <a:ext cx="3429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0895" y="2133600"/>
            <a:ext cx="1628775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36"/>
              </a:lnSpc>
              <a:spcAft>
                <a:spcPts val="0"/>
              </a:spcAft>
              <a:defRPr sz="1350" b="1">
                <a:solidFill>
                  <a:srgbClr val="18304E"/>
                </a:solidFill>
                <a:latin typeface="Microsoft YaHei"/>
              </a:defRPr>
            </a:pPr>
            <a:r>
              <a:rPr/>
              <a:t>整理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9430" y="2598420"/>
            <a:ext cx="18516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4E637A"/>
                </a:solidFill>
                <a:latin typeface="Microsoft YaHei"/>
              </a:defRPr>
            </a:pPr>
            <a:r>
              <a:rPr/>
              <a:t>查看登记信息与交付图</a:t>
            </a:r>
          </a:p>
        </p:txBody>
      </p:sp>
      <p:sp>
        <p:nvSpPr>
          <p:cNvPr id="12" name="Oval 11"/>
          <p:cNvSpPr/>
          <p:nvPr/>
        </p:nvSpPr>
        <p:spPr>
          <a:xfrm>
            <a:off x="6795135" y="3322320"/>
            <a:ext cx="274320" cy="274320"/>
          </a:xfrm>
          <a:prstGeom prst="ellipse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852285" y="3322320"/>
            <a:ext cx="3429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0895" y="3276600"/>
            <a:ext cx="1628775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36"/>
              </a:lnSpc>
              <a:spcAft>
                <a:spcPts val="0"/>
              </a:spcAft>
              <a:defRPr sz="1350" b="1">
                <a:solidFill>
                  <a:srgbClr val="18304E"/>
                </a:solidFill>
                <a:latin typeface="Microsoft YaHei"/>
              </a:defRPr>
            </a:pPr>
            <a:r>
              <a:rPr/>
              <a:t>追查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9430" y="3741420"/>
            <a:ext cx="18516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4E637A"/>
                </a:solidFill>
                <a:latin typeface="Microsoft YaHei"/>
              </a:defRPr>
            </a:pPr>
            <a:r>
              <a:rPr/>
              <a:t>回看历史核验与异常</a:t>
            </a:r>
          </a:p>
        </p:txBody>
      </p:sp>
      <p:sp>
        <p:nvSpPr>
          <p:cNvPr id="16" name="Oval 15"/>
          <p:cNvSpPr/>
          <p:nvPr/>
        </p:nvSpPr>
        <p:spPr>
          <a:xfrm>
            <a:off x="6795135" y="4465320"/>
            <a:ext cx="274320" cy="274320"/>
          </a:xfrm>
          <a:prstGeom prst="ellipse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852285" y="4465320"/>
            <a:ext cx="3429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0895" y="4419600"/>
            <a:ext cx="1628775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36"/>
              </a:lnSpc>
              <a:spcAft>
                <a:spcPts val="0"/>
              </a:spcAft>
              <a:defRPr sz="1350" b="1">
                <a:solidFill>
                  <a:srgbClr val="18304E"/>
                </a:solidFill>
                <a:latin typeface="Microsoft YaHei"/>
              </a:defRPr>
            </a:pPr>
            <a:r>
              <a:rPr/>
              <a:t>留存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9430" y="4884420"/>
            <a:ext cx="18516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4E637A"/>
                </a:solidFill>
                <a:latin typeface="Microsoft YaHei"/>
              </a:defRPr>
            </a:pPr>
            <a:r>
              <a:rPr/>
              <a:t>导出记录并补充业务材料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让一次检测成为可以再次查阅的业务记录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项目成果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同一批样张，在“压缩、裁剪、未标记”下走向不同处理结果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1943100"/>
            <a:ext cx="25146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36"/>
              </a:lnSpc>
              <a:spcAft>
                <a:spcPts val="0"/>
              </a:spcAft>
              <a:defRPr sz="1350" b="1">
                <a:solidFill>
                  <a:srgbClr val="18304E"/>
                </a:solidFill>
                <a:latin typeface="Microsoft YaHei"/>
              </a:defRPr>
            </a:pPr>
            <a:r>
              <a:rPr/>
              <a:t>被压缩后收到</a:t>
            </a:r>
          </a:p>
        </p:txBody>
      </p:sp>
      <p:sp>
        <p:nvSpPr>
          <p:cNvPr id="7" name="Rectangle 6"/>
          <p:cNvSpPr/>
          <p:nvPr/>
        </p:nvSpPr>
        <p:spPr>
          <a:xfrm>
            <a:off x="371474" y="2362200"/>
            <a:ext cx="2600325" cy="2194560"/>
          </a:xfrm>
          <a:prstGeom prst="rect">
            <a:avLst/>
          </a:prstGeom>
          <a:solidFill>
            <a:srgbClr val="FFFFFF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8" name="Picture 7" descr="actual-compres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27" y="2693670"/>
            <a:ext cx="1531620" cy="15316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0050" y="4762500"/>
            <a:ext cx="254317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24/24 找回登记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50" y="5219700"/>
            <a:ext cx="254317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4E637A"/>
                </a:solidFill>
                <a:latin typeface="Microsoft YaHei"/>
              </a:defRPr>
            </a:pPr>
            <a:r>
              <a:rPr/>
              <a:t>查看来源声明，再核对授权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4700" y="1943100"/>
            <a:ext cx="25146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36"/>
              </a:lnSpc>
              <a:spcAft>
                <a:spcPts val="0"/>
              </a:spcAft>
              <a:defRPr sz="1350" b="1">
                <a:solidFill>
                  <a:srgbClr val="18304E"/>
                </a:solidFill>
                <a:latin typeface="Microsoft YaHei"/>
              </a:defRPr>
            </a:pPr>
            <a:r>
              <a:rPr/>
              <a:t>被大幅裁剪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86125" y="2362200"/>
            <a:ext cx="2600325" cy="2194560"/>
          </a:xfrm>
          <a:prstGeom prst="rect">
            <a:avLst/>
          </a:prstGeom>
          <a:solidFill>
            <a:srgbClr val="FFFFFF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13" name="Picture 12" descr="actual-crop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477" y="2693670"/>
            <a:ext cx="1531620" cy="15316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4700" y="4762500"/>
            <a:ext cx="254317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0/24 恢复标识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4700" y="5219700"/>
            <a:ext cx="254317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4E637A"/>
                </a:solidFill>
                <a:latin typeface="Microsoft YaHei"/>
              </a:defRPr>
            </a:pPr>
            <a:r>
              <a:rPr/>
              <a:t>保留无法确认，补充原图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9350" y="1943100"/>
            <a:ext cx="25146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36"/>
              </a:lnSpc>
              <a:spcAft>
                <a:spcPts val="0"/>
              </a:spcAft>
              <a:defRPr sz="1350" b="1">
                <a:solidFill>
                  <a:srgbClr val="18304E"/>
                </a:solidFill>
                <a:latin typeface="Microsoft YaHei"/>
              </a:defRPr>
            </a:pPr>
            <a:r>
              <a:rPr/>
              <a:t>收到无水印图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0774" y="2362200"/>
            <a:ext cx="2600325" cy="2194560"/>
          </a:xfrm>
          <a:prstGeom prst="rect">
            <a:avLst/>
          </a:prstGeom>
          <a:solidFill>
            <a:srgbClr val="FFFFFF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18" name="Picture 17" descr="actual-unmark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5127" y="2693670"/>
            <a:ext cx="1531620" cy="15316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29350" y="4762500"/>
            <a:ext cx="254317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24/24 未关联登记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9350" y="5219700"/>
            <a:ext cx="254317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4E637A"/>
                </a:solidFill>
                <a:latin typeface="Microsoft YaHei"/>
              </a:defRPr>
            </a:pPr>
            <a:r>
              <a:rPr/>
              <a:t>人工查找，不推断权属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落地价值体现在“下一步怎么处理”，不只是返回一个技术分数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应用前景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嵌入品牌现有交付流程，逐步取得真实用户效果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474" y="2057400"/>
            <a:ext cx="2600325" cy="20497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Rectangle 6"/>
          <p:cNvSpPr/>
          <p:nvPr/>
        </p:nvSpPr>
        <p:spPr>
          <a:xfrm>
            <a:off x="371474" y="2057400"/>
            <a:ext cx="260032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68630" y="2125980"/>
            <a:ext cx="240601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入组与资料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345" y="2606040"/>
            <a:ext cx="239458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一个合法营销素材批次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" y="3489960"/>
            <a:ext cx="23774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4E637A"/>
                </a:solidFill>
                <a:latin typeface="Microsoft YaHei"/>
              </a:defRPr>
            </a:pPr>
            <a:r>
              <a:rPr/>
              <a:t>授权确认／去标识／留存原图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6125" y="2057400"/>
            <a:ext cx="2600325" cy="20497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Rectangle 11"/>
          <p:cNvSpPr/>
          <p:nvPr/>
        </p:nvSpPr>
        <p:spPr>
          <a:xfrm>
            <a:off x="3286125" y="2057400"/>
            <a:ext cx="260032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383280" y="2125980"/>
            <a:ext cx="240601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接入与使用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8995" y="2606040"/>
            <a:ext cx="239458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3—5名设计、运营或审核用户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4710" y="3489960"/>
            <a:ext cx="23774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4E637A"/>
                </a:solidFill>
                <a:latin typeface="Microsoft YaHei"/>
              </a:defRPr>
            </a:pPr>
            <a:r>
              <a:rPr/>
              <a:t>制作、交付、再次核验全过程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0774" y="2057400"/>
            <a:ext cx="2600325" cy="20497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Rectangle 16"/>
          <p:cNvSpPr/>
          <p:nvPr/>
        </p:nvSpPr>
        <p:spPr>
          <a:xfrm>
            <a:off x="6200774" y="2057400"/>
            <a:ext cx="2600325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297930" y="2125980"/>
            <a:ext cx="2406015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前后对照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3645" y="2606040"/>
            <a:ext cx="2394585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同任务比较人工与系统方式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489960"/>
            <a:ext cx="23774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4E637A"/>
                </a:solidFill>
                <a:latin typeface="Microsoft YaHei"/>
              </a:defRPr>
            </a:pPr>
            <a:r>
              <a:rPr/>
              <a:t>记录正确率、耗时和异常处理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25340"/>
            <a:ext cx="80010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0">
                <a:solidFill>
                  <a:srgbClr val="18304E"/>
                </a:solidFill>
                <a:latin typeface="Microsoft YaHei"/>
              </a:defRPr>
            </a:pPr>
            <a:r>
              <a:rPr/>
              <a:t>试点材料：流程截图、样本清单、任务记录、匿名反馈、失败案例与改进前后对照。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242560"/>
            <a:ext cx="80010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0">
                <a:solidFill>
                  <a:srgbClr val="4E637A"/>
                </a:solidFill>
                <a:latin typeface="Microsoft YaHei"/>
              </a:defRPr>
            </a:pPr>
            <a:r>
              <a:rPr/>
              <a:t>进入常态使用的条件：核验稳定、画质可接受、材料可核对、失败可处理。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试点应证明是否减少来源追问成本，而非只证明界面能够打开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应用前景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把价值落到核对工时、返工次数和接入成本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474" y="2164080"/>
            <a:ext cx="3086100" cy="123444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Rectangle 6"/>
          <p:cNvSpPr/>
          <p:nvPr/>
        </p:nvSpPr>
        <p:spPr>
          <a:xfrm>
            <a:off x="371474" y="2164080"/>
            <a:ext cx="308610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68630" y="2232660"/>
            <a:ext cx="289179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可衡量的业务收益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345" y="2712720"/>
            <a:ext cx="288036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减少来源追问／材料定位／重复登记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1474" y="3779520"/>
            <a:ext cx="3086100" cy="14020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Rectangle 10"/>
          <p:cNvSpPr/>
          <p:nvPr/>
        </p:nvSpPr>
        <p:spPr>
          <a:xfrm>
            <a:off x="371474" y="3779520"/>
            <a:ext cx="308610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68630" y="3848099"/>
            <a:ext cx="289179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必须计算的接入成本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345" y="4328160"/>
            <a:ext cx="288036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生成与反演算力／存储／维护／人工复核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54755" y="2049780"/>
            <a:ext cx="0" cy="3360420"/>
          </a:xfrm>
          <a:prstGeom prst="line">
            <a:avLst/>
          </a:prstGeom>
          <a:ln w="15240">
            <a:solidFill>
              <a:srgbClr val="A6B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14800" y="2209800"/>
            <a:ext cx="45720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8304E"/>
                </a:solidFill>
                <a:latin typeface="Microsoft YaHei"/>
              </a:defRPr>
            </a:pPr>
            <a:r>
              <a:rPr/>
              <a:t>月节省工时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689860"/>
            <a:ext cx="45720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40" b="1">
                <a:solidFill>
                  <a:srgbClr val="153C85"/>
                </a:solidFill>
                <a:latin typeface="Microsoft YaHei"/>
              </a:defRPr>
            </a:pPr>
            <a:r>
              <a:rPr/>
              <a:t>月核验量 × 单次节省分钟 ÷ 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528060"/>
            <a:ext cx="45720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8304E"/>
                </a:solidFill>
                <a:latin typeface="Microsoft YaHei"/>
              </a:defRPr>
            </a:pPr>
            <a:r>
              <a:rPr/>
              <a:t>净收益判断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008120"/>
            <a:ext cx="45720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96"/>
              </a:lnSpc>
              <a:spcAft>
                <a:spcPts val="0"/>
              </a:spcAft>
              <a:defRPr sz="1394" b="1">
                <a:solidFill>
                  <a:srgbClr val="153C85"/>
                </a:solidFill>
                <a:latin typeface="Microsoft YaHei"/>
              </a:defRPr>
            </a:pPr>
            <a:r>
              <a:rPr/>
              <a:t>工时价值 − 推理、存储与维护成本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960620"/>
            <a:ext cx="4514850" cy="6150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590"/>
              </a:lnSpc>
              <a:spcAft>
                <a:spcPts val="0"/>
              </a:spcAft>
              <a:defRPr sz="1170" b="0">
                <a:solidFill>
                  <a:srgbClr val="4E637A"/>
                </a:solidFill>
                <a:latin typeface="Microsoft YaHei"/>
              </a:defRPr>
            </a:pPr>
            <a:r>
              <a:rPr/>
              <a:t>以试点的实际耗时与错误处理成本填入，</a:t>
            </a:r>
          </a:p>
          <a:p>
            <a:pPr>
              <a:lnSpc>
                <a:spcPts val="1590"/>
              </a:lnSpc>
              <a:spcAft>
                <a:spcPts val="0"/>
              </a:spcAft>
              <a:defRPr sz="1170" b="0">
                <a:solidFill>
                  <a:srgbClr val="4E637A"/>
                </a:solidFill>
                <a:latin typeface="Microsoft YaHei"/>
              </a:defRPr>
            </a:pPr>
            <a:r>
              <a:rPr/>
              <a:t>再决定是否值得扩大接入。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先证明能节省真实工作，再判断可持续推广的经济性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应用前景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以电商验证任务，再向创意、文创和媒体延伸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474" y="2385060"/>
            <a:ext cx="3086100" cy="22783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Rectangle 6"/>
          <p:cNvSpPr/>
          <p:nvPr/>
        </p:nvSpPr>
        <p:spPr>
          <a:xfrm>
            <a:off x="371474" y="2385060"/>
            <a:ext cx="308610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68630" y="2453640"/>
            <a:ext cx="289179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首个验证点：电商营销素材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345" y="2933700"/>
            <a:ext cx="288036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品牌设计 → 合作交付 → 再次核验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065" y="3695700"/>
            <a:ext cx="2800349" cy="67726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0">
                <a:solidFill>
                  <a:srgbClr val="4E637A"/>
                </a:solidFill>
                <a:latin typeface="Microsoft YaHei"/>
              </a:defRPr>
            </a:pPr>
            <a:r>
              <a:rPr/>
              <a:t>观察：来源查找效率</a:t>
            </a:r>
          </a:p>
          <a:p>
            <a:pPr>
              <a:lnSpc>
                <a:spcPts val="1774"/>
              </a:lnSpc>
              <a:spcAft>
                <a:spcPts val="0"/>
              </a:spcAft>
              <a:defRPr sz="1304" b="0">
                <a:solidFill>
                  <a:srgbClr val="4E637A"/>
                </a:solidFill>
                <a:latin typeface="Microsoft YaHei"/>
              </a:defRPr>
            </a:pPr>
            <a:r>
              <a:rPr/>
              <a:t>检查：使用声明与复核提示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600450" y="2362200"/>
            <a:ext cx="1925955" cy="1143000"/>
          </a:xfrm>
          <a:prstGeom prst="line">
            <a:avLst/>
          </a:prstGeom>
          <a:ln w="15240">
            <a:solidFill>
              <a:srgbClr val="A6B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526405" y="1943100"/>
            <a:ext cx="3246120" cy="9829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Rectangle 12"/>
          <p:cNvSpPr/>
          <p:nvPr/>
        </p:nvSpPr>
        <p:spPr>
          <a:xfrm>
            <a:off x="5526405" y="1943100"/>
            <a:ext cx="324612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623559" y="2011680"/>
            <a:ext cx="305181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创意设计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9275" y="2491740"/>
            <a:ext cx="30403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署名与素材交付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00450" y="3505200"/>
            <a:ext cx="1925955" cy="152400"/>
          </a:xfrm>
          <a:prstGeom prst="line">
            <a:avLst/>
          </a:prstGeom>
          <a:ln w="15240">
            <a:solidFill>
              <a:srgbClr val="A6B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526405" y="3238500"/>
            <a:ext cx="3246120" cy="9829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Rectangle 17"/>
          <p:cNvSpPr/>
          <p:nvPr/>
        </p:nvSpPr>
        <p:spPr>
          <a:xfrm>
            <a:off x="5526405" y="3238500"/>
            <a:ext cx="324612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5623559" y="3307080"/>
            <a:ext cx="305181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数字文创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9275" y="3787140"/>
            <a:ext cx="30403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作品登记与使用线索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00450" y="3505200"/>
            <a:ext cx="1925955" cy="1447800"/>
          </a:xfrm>
          <a:prstGeom prst="line">
            <a:avLst/>
          </a:prstGeom>
          <a:ln w="15240">
            <a:solidFill>
              <a:srgbClr val="A6B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526405" y="4533900"/>
            <a:ext cx="3246120" cy="982980"/>
          </a:xfrm>
          <a:prstGeom prst="rect">
            <a:avLst/>
          </a:prstGeom>
          <a:solidFill>
            <a:srgbClr val="F3F5F9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Rectangle 22"/>
          <p:cNvSpPr/>
          <p:nvPr/>
        </p:nvSpPr>
        <p:spPr>
          <a:xfrm>
            <a:off x="5526405" y="4533900"/>
            <a:ext cx="3246120" cy="388620"/>
          </a:xfrm>
          <a:prstGeom prst="rect">
            <a:avLst/>
          </a:prstGeom>
          <a:solidFill>
            <a:srgbClr val="E5EAF5"/>
          </a:solidFill>
          <a:ln>
            <a:solidFill>
              <a:srgbClr val="E5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623559" y="4602480"/>
            <a:ext cx="305181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1">
                <a:solidFill>
                  <a:srgbClr val="153C85"/>
                </a:solidFill>
                <a:latin typeface="Microsoft YaHei"/>
              </a:defRPr>
            </a:pPr>
            <a:r>
              <a:rPr/>
              <a:t>媒体传播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9275" y="5082540"/>
            <a:ext cx="30403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07"/>
              </a:lnSpc>
              <a:spcAft>
                <a:spcPts val="0"/>
              </a:spcAft>
              <a:defRPr sz="1035" b="0">
                <a:solidFill>
                  <a:srgbClr val="18304E"/>
                </a:solidFill>
                <a:latin typeface="Microsoft YaHei"/>
              </a:defRPr>
            </a:pPr>
            <a:r>
              <a:rPr/>
              <a:t>生成身份与来源辅助核验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落地成效以试用数据衡量，社会价值围绕可信使用展开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应用前景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把当前薄弱点，转化为有验证门槛的下一步工作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474" y="2034540"/>
            <a:ext cx="2314575" cy="609600"/>
          </a:xfrm>
          <a:prstGeom prst="rect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51485" y="2186940"/>
            <a:ext cx="215455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1">
                <a:solidFill>
                  <a:srgbClr val="FFFFFF"/>
                </a:solidFill>
                <a:latin typeface="Microsoft YaHei"/>
              </a:defRPr>
            </a:pPr>
            <a:r>
              <a:rPr/>
              <a:t>当前问题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7495" y="2034540"/>
            <a:ext cx="2800349" cy="609600"/>
          </a:xfrm>
          <a:prstGeom prst="rect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2897504" y="2186940"/>
            <a:ext cx="264033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1">
                <a:solidFill>
                  <a:srgbClr val="FFFFFF"/>
                </a:solidFill>
                <a:latin typeface="Microsoft YaHei"/>
              </a:defRPr>
            </a:pPr>
            <a:r>
              <a:rPr/>
              <a:t>改进方向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43575" y="2034540"/>
            <a:ext cx="3028950" cy="609600"/>
          </a:xfrm>
          <a:prstGeom prst="rect">
            <a:avLst/>
          </a:prstGeom>
          <a:solidFill>
            <a:srgbClr val="153C85"/>
          </a:solidFill>
          <a:ln>
            <a:solidFill>
              <a:srgbClr val="153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823585" y="2186940"/>
            <a:ext cx="286893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1">
                <a:solidFill>
                  <a:srgbClr val="FFFFFF"/>
                </a:solidFill>
                <a:latin typeface="Microsoft YaHei"/>
              </a:defRPr>
            </a:pPr>
            <a:r>
              <a:rPr/>
              <a:t>验证门槛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1474" y="2712720"/>
            <a:ext cx="2314575" cy="60960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1485" y="2865120"/>
            <a:ext cx="215455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裁剪后无法恢复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7495" y="2712720"/>
            <a:ext cx="2800349" cy="60960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2897504" y="2865120"/>
            <a:ext cx="264033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验证鲁棒模型与对齐策略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43575" y="2712720"/>
            <a:ext cx="3028950" cy="60960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823585" y="2865120"/>
            <a:ext cx="286893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同条件恢复＋误检＋画质同时报告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1474" y="3390900"/>
            <a:ext cx="2314575" cy="60960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51485" y="3543300"/>
            <a:ext cx="215455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登记规模与短标识风险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17495" y="3390900"/>
            <a:ext cx="2800349" cy="60960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2897504" y="3543300"/>
            <a:ext cx="264033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索引、较长标识与冲突分流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3575" y="3390900"/>
            <a:ext cx="3028950" cy="60960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5823585" y="3543300"/>
            <a:ext cx="286893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扩容负载和冲突用例通过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1474" y="4069080"/>
            <a:ext cx="2314575" cy="60960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1485" y="4221480"/>
            <a:ext cx="215455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签名与登记安全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17495" y="4069080"/>
            <a:ext cx="2800349" cy="60960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2897504" y="4221480"/>
            <a:ext cx="264033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受控访问、密钥隔离与备份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43575" y="4069080"/>
            <a:ext cx="3028950" cy="60960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5823585" y="4221480"/>
            <a:ext cx="286893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权限、泄露与恢复演练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1474" y="4747260"/>
            <a:ext cx="2314575" cy="60960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451485" y="4899660"/>
            <a:ext cx="2154555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尚缺真实用户成效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17495" y="4747260"/>
            <a:ext cx="2800349" cy="60960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2897504" y="4899660"/>
            <a:ext cx="264033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完成同任务试用与反馈闭环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43575" y="4747260"/>
            <a:ext cx="3028950" cy="609600"/>
          </a:xfrm>
          <a:prstGeom prst="rect">
            <a:avLst/>
          </a:prstGeom>
          <a:solidFill>
            <a:srgbClr val="F0F3F8"/>
          </a:solidFill>
          <a:ln>
            <a:solidFill>
              <a:srgbClr val="F0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5823585" y="4899660"/>
            <a:ext cx="286893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原始任务记录和可追查改进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以失败分析推动改进，避免把未来能力写成现有能力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应用前景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  <a:r>
              <a:rPr/>
              <a:t>七项评分分别对应需求、实现、证据与应用价值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474" y="1943100"/>
            <a:ext cx="8401050" cy="457200"/>
          </a:xfrm>
          <a:prstGeom prst="rect">
            <a:avLst/>
          </a:prstGeom>
          <a:solidFill>
            <a:srgbClr val="F0F3F8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57200" y="2042160"/>
            <a:ext cx="19888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1">
                <a:solidFill>
                  <a:srgbClr val="153C85"/>
                </a:solidFill>
                <a:latin typeface="Microsoft YaHei"/>
              </a:defRPr>
            </a:pPr>
            <a:r>
              <a:rPr/>
              <a:t>创新性20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3175" y="2042160"/>
            <a:ext cx="485775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场景任务、差异化与融合应用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5225" y="2042160"/>
            <a:ext cx="1228725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46"/>
              </a:lnSpc>
              <a:spcAft>
                <a:spcPts val="0"/>
              </a:spcAft>
              <a:defRPr sz="990" b="0">
                <a:solidFill>
                  <a:srgbClr val="4E637A"/>
                </a:solidFill>
                <a:latin typeface="Microsoft YaHei"/>
              </a:defRPr>
            </a:pPr>
            <a:r>
              <a:rPr/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1474" y="2468880"/>
            <a:ext cx="8401050" cy="457200"/>
          </a:xfrm>
          <a:prstGeom prst="rect">
            <a:avLst/>
          </a:prstGeom>
          <a:solidFill>
            <a:srgbClr val="F0F3F8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57200" y="2567940"/>
            <a:ext cx="19888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1">
                <a:solidFill>
                  <a:srgbClr val="153C85"/>
                </a:solidFill>
                <a:latin typeface="Microsoft YaHei"/>
              </a:defRPr>
            </a:pPr>
            <a:r>
              <a:rPr/>
              <a:t>需求分析15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3175" y="2567940"/>
            <a:ext cx="485775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问题剖析、调研设计与需求映射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5225" y="2567940"/>
            <a:ext cx="1228725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46"/>
              </a:lnSpc>
              <a:spcAft>
                <a:spcPts val="0"/>
              </a:spcAft>
              <a:defRPr sz="990" b="0">
                <a:solidFill>
                  <a:srgbClr val="4E637A"/>
                </a:solidFill>
                <a:latin typeface="Microsoft YaHei"/>
              </a:defRPr>
            </a:pPr>
            <a:r>
              <a:rPr/>
              <a:t>7 / 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1474" y="2994660"/>
            <a:ext cx="8401050" cy="457200"/>
          </a:xfrm>
          <a:prstGeom prst="rect">
            <a:avLst/>
          </a:prstGeom>
          <a:solidFill>
            <a:srgbClr val="F0F3F8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57200" y="3093720"/>
            <a:ext cx="19888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1">
                <a:solidFill>
                  <a:srgbClr val="153C85"/>
                </a:solidFill>
                <a:latin typeface="Microsoft YaHei"/>
              </a:defRPr>
            </a:pPr>
            <a:r>
              <a:rPr/>
              <a:t>可行性20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3175" y="3093720"/>
            <a:ext cx="485775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总体架构、方法适配与部署资源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5225" y="3093720"/>
            <a:ext cx="1228725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46"/>
              </a:lnSpc>
              <a:spcAft>
                <a:spcPts val="0"/>
              </a:spcAft>
              <a:defRPr sz="990" b="0">
                <a:solidFill>
                  <a:srgbClr val="4E637A"/>
                </a:solidFill>
                <a:latin typeface="Microsoft YaHei"/>
              </a:defRPr>
            </a:pPr>
            <a:r>
              <a:rPr/>
              <a:t>11 / 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1474" y="3520440"/>
            <a:ext cx="8401050" cy="457200"/>
          </a:xfrm>
          <a:prstGeom prst="rect">
            <a:avLst/>
          </a:prstGeom>
          <a:solidFill>
            <a:srgbClr val="F0F3F8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57200" y="3619500"/>
            <a:ext cx="19888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1">
                <a:solidFill>
                  <a:srgbClr val="153C85"/>
                </a:solidFill>
                <a:latin typeface="Microsoft YaHei"/>
              </a:defRPr>
            </a:pPr>
            <a:r>
              <a:rPr/>
              <a:t>实施15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3175" y="3619500"/>
            <a:ext cx="485775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原型、职责与验收交付物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5225" y="3619500"/>
            <a:ext cx="1228725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46"/>
              </a:lnSpc>
              <a:spcAft>
                <a:spcPts val="0"/>
              </a:spcAft>
              <a:defRPr sz="990" b="0">
                <a:solidFill>
                  <a:srgbClr val="4E637A"/>
                </a:solidFill>
                <a:latin typeface="Microsoft YaHei"/>
              </a:defRPr>
            </a:pPr>
            <a:r>
              <a:rPr/>
              <a:t>20 /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1474" y="4046220"/>
            <a:ext cx="8401050" cy="457200"/>
          </a:xfrm>
          <a:prstGeom prst="rect">
            <a:avLst/>
          </a:prstGeom>
          <a:solidFill>
            <a:srgbClr val="F0F3F8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57200" y="4145280"/>
            <a:ext cx="19888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1">
                <a:solidFill>
                  <a:srgbClr val="153C85"/>
                </a:solidFill>
                <a:latin typeface="Microsoft YaHei"/>
              </a:defRPr>
            </a:pPr>
            <a:r>
              <a:rPr/>
              <a:t>验证10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3175" y="4145280"/>
            <a:ext cx="485775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条件、正负样本、失败与复查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5225" y="4145280"/>
            <a:ext cx="1228725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46"/>
              </a:lnSpc>
              <a:spcAft>
                <a:spcPts val="0"/>
              </a:spcAft>
              <a:defRPr sz="990" b="0">
                <a:solidFill>
                  <a:srgbClr val="4E637A"/>
                </a:solidFill>
                <a:latin typeface="Microsoft YaHei"/>
              </a:defRPr>
            </a:pPr>
            <a:r>
              <a:rPr/>
              <a:t>17 / 18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1474" y="4572000"/>
            <a:ext cx="8401050" cy="457200"/>
          </a:xfrm>
          <a:prstGeom prst="rect">
            <a:avLst/>
          </a:prstGeom>
          <a:solidFill>
            <a:srgbClr val="F0F3F8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457200" y="4671060"/>
            <a:ext cx="19888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1">
                <a:solidFill>
                  <a:srgbClr val="153C85"/>
                </a:solidFill>
                <a:latin typeface="Microsoft YaHei"/>
              </a:defRPr>
            </a:pPr>
            <a:r>
              <a:rPr/>
              <a:t>效果15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3175" y="4671060"/>
            <a:ext cx="485775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案例、试点与成本收益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5225" y="4671060"/>
            <a:ext cx="1228725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46"/>
              </a:lnSpc>
              <a:spcAft>
                <a:spcPts val="0"/>
              </a:spcAft>
              <a:defRPr sz="990" b="0">
                <a:solidFill>
                  <a:srgbClr val="4E637A"/>
                </a:solidFill>
                <a:latin typeface="Microsoft YaHei"/>
              </a:defRPr>
            </a:pPr>
            <a:r>
              <a:rPr/>
              <a:t>23 / 24 / 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1474" y="5097780"/>
            <a:ext cx="8401050" cy="457200"/>
          </a:xfrm>
          <a:prstGeom prst="rect">
            <a:avLst/>
          </a:prstGeom>
          <a:solidFill>
            <a:srgbClr val="F0F3F8"/>
          </a:solidFill>
          <a:ln>
            <a:solidFill>
              <a:srgbClr val="A6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457200" y="5196840"/>
            <a:ext cx="19888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1">
                <a:solidFill>
                  <a:srgbClr val="153C85"/>
                </a:solidFill>
                <a:latin typeface="Microsoft YaHei"/>
              </a:defRPr>
            </a:pPr>
            <a:r>
              <a:rPr/>
              <a:t>总结5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3175" y="5196840"/>
            <a:ext cx="485775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468"/>
              </a:lnSpc>
              <a:spcAft>
                <a:spcPts val="0"/>
              </a:spcAft>
              <a:defRPr sz="1079" b="0">
                <a:solidFill>
                  <a:srgbClr val="18304E"/>
                </a:solidFill>
                <a:latin typeface="Microsoft YaHei"/>
              </a:defRPr>
            </a:pPr>
            <a:r>
              <a:rPr/>
              <a:t>开放问题与后续验证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5225" y="5196840"/>
            <a:ext cx="1228725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46"/>
              </a:lnSpc>
              <a:spcAft>
                <a:spcPts val="0"/>
              </a:spcAft>
              <a:defRPr sz="990" b="0">
                <a:solidFill>
                  <a:srgbClr val="4E637A"/>
                </a:solidFill>
                <a:latin typeface="Microsoft YaHei"/>
              </a:defRPr>
            </a:pPr>
            <a:r>
              <a:rPr/>
              <a:t>27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最高档的论证与证据要求，贯穿场景、方法、验证和落地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1474" y="213360"/>
            <a:ext cx="69723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应用前景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9550" y="236220"/>
            <a:ext cx="1000125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74"/>
              </a:lnSpc>
              <a:spcAft>
                <a:spcPts val="0"/>
              </a:spcAft>
              <a:defRPr sz="1304" b="1">
                <a:solidFill>
                  <a:srgbClr val="153C85"/>
                </a:solidFill>
                <a:latin typeface="Microsoft YaHei"/>
              </a:defRPr>
            </a:pPr>
            <a:r>
              <a:rPr/>
              <a:t>图溯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2900" y="662940"/>
            <a:ext cx="8458200" cy="0"/>
          </a:xfrm>
          <a:prstGeom prst="line">
            <a:avLst/>
          </a:prstGeom>
          <a:ln w="15240">
            <a:solidFill>
              <a:srgbClr val="153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71474" y="975360"/>
            <a:ext cx="840105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54"/>
              </a:lnSpc>
              <a:spcAft>
                <a:spcPts val="0"/>
              </a:spcAft>
              <a:defRPr sz="2025" b="1">
                <a:solidFill>
                  <a:srgbClr val="18304E"/>
                </a:solidFill>
                <a:latin typeface="Microsoft YaHe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71525" y="2148840"/>
            <a:ext cx="7715250" cy="7394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16"/>
              </a:lnSpc>
              <a:spcAft>
                <a:spcPts val="0"/>
              </a:spcAft>
              <a:defRPr sz="2880" b="1">
                <a:solidFill>
                  <a:srgbClr val="153C85"/>
                </a:solidFill>
                <a:latin typeface="Microsoft YaHei"/>
              </a:defRPr>
            </a:pPr>
            <a:r>
              <a:rPr/>
              <a:t>让图像身份跟得上传播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276600"/>
            <a:ext cx="7315200" cy="44927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2"/>
              </a:lnSpc>
              <a:spcAft>
                <a:spcPts val="0"/>
              </a:spcAft>
              <a:defRPr sz="1620" b="1">
                <a:solidFill>
                  <a:srgbClr val="18304E"/>
                </a:solidFill>
                <a:latin typeface="Microsoft YaHei"/>
              </a:defRPr>
            </a:pPr>
            <a:r>
              <a:rPr/>
              <a:t>来源可核验 · 记录可追查 · 使用有依据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1590" y="4610100"/>
            <a:ext cx="66294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529" b="1">
                <a:solidFill>
                  <a:srgbClr val="153C85"/>
                </a:solidFill>
                <a:latin typeface="Microsoft YaHei"/>
              </a:defRPr>
            </a:pPr>
            <a:r>
              <a:rPr/>
              <a:t>感谢各位专家聆听，敬请批评指正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1474" y="6012180"/>
            <a:ext cx="8401050" cy="495299"/>
          </a:xfrm>
          <a:prstGeom prst="roundRect">
            <a:avLst>
              <a:gd name="adj" fmla="val 8000"/>
            </a:avLst>
          </a:prstGeom>
          <a:solidFill>
            <a:srgbClr val="B20C20"/>
          </a:solidFill>
          <a:ln>
            <a:solidFill>
              <a:srgbClr val="B20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74345" y="6111240"/>
            <a:ext cx="8201025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215" b="1">
                <a:solidFill>
                  <a:srgbClr val="FFFFFF"/>
                </a:solidFill>
                <a:latin typeface="Microsoft YaHei"/>
              </a:defRPr>
            </a:pPr>
            <a:r>
              <a:rPr/>
              <a:t>图溯 · 面向数字图像可信传播的来源认证与溯源方案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" y="6606540"/>
            <a:ext cx="76581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8"/>
              </a:lnSpc>
              <a:spcAft>
                <a:spcPts val="0"/>
              </a:spcAft>
              <a:defRPr sz="720" b="0">
                <a:solidFill>
                  <a:srgbClr val="4E637A"/>
                </a:solidFill>
                <a:latin typeface="Microsoft YaHei"/>
              </a:defRPr>
            </a:pPr>
            <a:r>
              <a:rPr/>
              <a:t>图溯 · AI＋场景创新 · 来源认证与可信传播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6576060"/>
            <a:ext cx="571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284"/>
              </a:lnSpc>
              <a:spcAft>
                <a:spcPts val="0"/>
              </a:spcAft>
              <a:defRPr sz="945" b="0">
                <a:solidFill>
                  <a:srgbClr val="153C85"/>
                </a:solidFill>
                <a:latin typeface="Microsoft YaHei"/>
              </a:defRPr>
            </a:pPr>
            <a:r>
              <a:rPr/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