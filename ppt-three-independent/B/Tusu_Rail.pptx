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图溯：面向数字图像可信传播的来源认证与溯源方案。底层技术采用球形水印，配图为原型截图和论文方法示意，不复用其他团队硬件或背书。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对应参考稿独立的章节结构：创意来源。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先从数字图像的广泛价值讲起，不以电商或AIGC限定整个问题。左侧是创作，传播使图像进入多种使用任务，右侧这些任务都依赖一定的来源、署名或授权信息。无市场规模数字。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本页使用程序绘制的原创营销设计样张作为情境道具，不是AI生成照片、不是实测传播案例。演示附带说明与图片分离，并不表示一切转发都会剥离元数据。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需求假设：品牌只发图片、合作方改名、运营缺少授权文件会增加核对成本。本页是情境分析，非访谈结论。应用目标是缩短来源追问与材料定位路径，不能自动认定盗用。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方案而非完成数据：拟覆盖3名设计、3名运营、2名审核人员。半结构化访谈记录最近一次交付与来源追问，不诱导受访者认可水印。随后同人交叉执行人工查找/图溯核验，顺序随机，保存匿名原话、观察记录、成功/失败与用时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此页为定性任务对比。可见署名、元数据、相似检索、隐形水印各有用途，并不宣称已有水印登记应用不存在。图溯的差异化需在同一用户任务中验证。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对应参考稿独立的章节结构：作品介绍。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电商仅为首个验证点，问题背景不限电商。情境：设计方制作新品图，品牌交付代运营或合作方，再次收到图的运营人员需要找回登记来源并核对使用材料。不是已有真实试点案例。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本页为拟接入业务SOP。图片登记可存署名与项目声明；授权范围、期限与证明文件目前依赖人工材料清单，不宣称已实现授权管理系统。图片持有者通过平台核验，未自动赋予下载者使用许可。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本次前序真实运行的原型。图片保护截图使用可见署名；图片溯源使用内置轻量水印；素材与记录为实际登记页面。这些是交互与工作流证据，不是球形水印推理截图。样张为程序自绘营销设计，不是AI生成场景照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对应参考稿独立的章节结构：技术应用。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图溯应用框架图为本项目设计。算法层采用球形水印，登记层与交互层为应用设计。该框架描述目标主路线；现有原型后处理水印路径不能自动视为球形水印生成模型已接通。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选型依据论文方法特性，而非保证其在当前样本绝对最佳。生成先验适配、质量扰动与恢复能力要分别验证。无额外训练不等于无计算成本，提取仍有反演开销。</a:t>
            </a:r>
          </a:p>
          <a:p>
            <a:r>
              <a:t>本版仅模仿参考B的结构与版式，项目资料不来自参考团队。</a:t>
            </a:r>
          </a:p>
          <a:p>
            <a:r>
              <a:t>来源与验证范围：方法依据：Hu et al., Spherical Watermark, ICLR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原图Figure1(b)，重复编码、随机填充、T二进制可逆混合、单位球面归一化、C正交旋转、随机卡方半径，然后进入预训练扩散模型。K=(T,C)需保密。图与方法采用原论文，不是本团队算法原创。</a:t>
            </a:r>
          </a:p>
          <a:p>
            <a:r>
              <a:t>本版仅模仿参考B的结构与版式，项目资料不来自参考团队。</a:t>
            </a:r>
          </a:p>
          <a:p>
            <a:r>
              <a:t>来源与验证范围：Spherical Watermark, ICLR2026, Figure1(b)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上图Figure1(a)展示原方法离线和在线框架。核验经过VAE/扩散反演、C与T逆映射、量化及多数投票。下面应用层将恢复编号关联登记，不把标识检出等同合法授权或事实真实。</a:t>
            </a:r>
          </a:p>
          <a:p>
            <a:r>
              <a:t>本版仅模仿参考B的结构与版式，项目资料不来自参考团队。</a:t>
            </a:r>
          </a:p>
          <a:p>
            <a:r>
              <a:t>来源与验证范围：Spherical Watermark Figure1(a)；应用层为本项目设计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原型实际为Python HTTP服务、独立worker、JSON记录与PNG文件；模型任务单槽串行。球形水印需要独立模型仓库、权重与签名以及兼容GPU环境。未测GPU显存和吞吐，不填配置承诺。多租户鉴权、数据库与密钥托管是正式接入前工作项。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对应参考稿独立的章节结构：场景创新。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底层球形水印算法来自论文，不归为本项目原创。场景创新为主动身份标记与收到图片后的来源查找衔接；应用差异化仍须调研与对比任务支撑。技术难点包括反演恢复、误检、签名管理、登记安全与异常状态。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用户需求为基于任务的需求假设，尚非完成访谈的统计结论。拟访谈创作者、运营、审核人员，追问最近一次交付、来源追问过程和画质底线；观察对比人工追问与系统来源查找。不得虚构问卷百分比。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协作设计：算法负责人承担模型复现与配置，产品负责人承担接口与交互，验证负责人承担数据、对照实验和需求记录。未提供真实成员履历或协作成效，不编造团队背书。现有原型和13项软件测试有证据，后续模型统一评测与用户试点尚待实施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对应参考稿独立的章节结构：实现效果。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固定提示词、模型、采样步数和分辨率管理。条件包括原始图、JPEG90/JPEG50、缩放50%、中心裁剪70%，并纳入无水印负样本和错误签名。指标报告实际定义及样本数，避免检测TPR与比特准确率混用。访谈与小规模用户任务均未完成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本次实际执行原型API：24张程序自绘640×640设计图，咖啡/文创/家居3类布局；另24张独立无水印样张。内置轻量水印，不是球形水印。5种传播条件共120次正样本来源查询，另24次负样本查询。随机记录ID，原始结果CSV与方法代码随证据材料提供。</a:t>
            </a:r>
          </a:p>
          <a:p>
            <a:r>
              <a:t>本版仅模仿参考B的结构与版式，项目资料不来自参考团队。</a:t>
            </a:r>
          </a:p>
          <a:p>
            <a:r>
              <a:t>来源与验证范围：原始证据：evidence/raw-results.csv；不外推为球形水印成绩或真实商户效果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项实际工作流单元测试通过；包含部分模型链路夹具，不能表示GPU模型运行。另24张无水印图均未关联登记，仅为受控负样本结果。小样本零误匹配不表示总体零误检。任务查询中位耗时为单机本地24条登记扫描，不是公网延迟或生产SLA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本页是24张自绘样张上的受控试验，不是商户上线。内置轻量水印原图/压缩/尺寸减半24/24关联正确，保留宽高70%中心裁剪0/24，24张未加水印负样张均未关联登记。截图与设计样张均来自项目试验。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收益模型为评估方法，非已取得收益。设月任务量M，人工与系统任务时间差Δt，人力小时成本H，则月可节省工时=M*Δt/60，毛节省=M*Δt*H/60；扣除模型推理、存储、维护和复核增量成本。不能将未核实侵权损失、赔偿或营收当项目收入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业务试点计划，尚无签约或已完成访谈。拟先联系一家有合法素材的小型品牌/设计服务团队，选一个完整营销批次；3至5名设计、运营、审核用户。入组许可、数据去标识，人工追问与系统查找交叉执行。验收阈值应由前测与用户共同确定，不虚构完成率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对应参考稿独立的章节结构：未来规划。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先选择自有或授权素材，拟邀设计或运营使用者，执行交付与来源查找。比较人工追问和系统核验的任务耗时、正确判断与无法确认。未来拓展场景为计划，不声称已有部署客户、专利、营收或市场份额。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轻量方法裁剪失败，论文主线的真实业务统一评测尚待完成，登记遍历规模、标识冲突、多租户权限与签名管理需进一步验证。改善候选不能保证抗攻击；任何对齐预处理或新模型都需重新测正负样本与质量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仅为内容定位，不代表已取得最高档所需全部实证。访谈、商户试用与球形水印GPU统一评测需独立完成。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结尾回扣图像身份与实际使用。仅复述方案价值，不宣称未验证成效。</a:t>
            </a:r>
          </a:p>
          <a:p>
            <a:r>
              <a:t>本版仅模仿参考B的结构与版式，项目资料不来自参考团队。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AI＋场景创新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95299" y="1554480"/>
            <a:ext cx="5867400" cy="3619500"/>
          </a:xfrm>
          <a:prstGeom prst="roundRect">
            <a:avLst>
              <a:gd name="adj" fmla="val 8000"/>
            </a:avLst>
          </a:prstGeom>
          <a:solidFill>
            <a:srgbClr val="DCE6D7"/>
          </a:solidFill>
          <a:ln>
            <a:solidFill>
              <a:srgbClr val="DCE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" y="1859280"/>
            <a:ext cx="5334000" cy="109179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7996"/>
              </a:lnSpc>
              <a:spcAft>
                <a:spcPts val="0"/>
              </a:spcAft>
              <a:defRPr sz="5880" b="1">
                <a:solidFill>
                  <a:srgbClr val="507447"/>
                </a:solidFill>
                <a:latin typeface="Microsoft YaHei"/>
              </a:defRPr>
            </a:pPr>
            <a:r>
              <a:t>图溯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80" y="3139440"/>
            <a:ext cx="5143500" cy="100888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263C2C"/>
                </a:solidFill>
                <a:latin typeface="Microsoft YaHei"/>
              </a:defRPr>
            </a:pPr>
            <a:r>
              <a:t>图片身份保护与</a:t>
            </a:r>
          </a:p>
          <a:p>
            <a:pPr>
              <a:lnSpc>
                <a:spcPts val="3672"/>
              </a:lnSpc>
              <a:spcAft>
                <a:spcPts val="0"/>
              </a:spcAft>
              <a:defRPr sz="2700" b="1">
                <a:solidFill>
                  <a:srgbClr val="263C2C"/>
                </a:solidFill>
                <a:latin typeface="Microsoft YaHei"/>
              </a:defRPr>
            </a:pPr>
            <a:r>
              <a:t>可信流转解决方案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340" y="4495800"/>
            <a:ext cx="5067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3E5840"/>
                </a:solidFill>
                <a:latin typeface="Microsoft YaHei"/>
              </a:defRPr>
            </a:pPr>
            <a:r>
              <a:t>— 生成时标记，传播后查找 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11340" y="1744980"/>
            <a:ext cx="4785360" cy="3223260"/>
          </a:xfrm>
          <a:prstGeom prst="rect">
            <a:avLst/>
          </a:prstGeom>
          <a:solidFill>
            <a:srgbClr val="FFFFFF"/>
          </a:solidFill>
          <a:ln>
            <a:solidFill>
              <a:srgbClr val="A9B6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912620"/>
            <a:ext cx="4617720" cy="28879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让图像的身份线索，跟得上内容的传播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01  创意来源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创意来源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从图片传播中的信息断点出发。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大背景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图像不仅传递信息，也承载创意、品牌与资产价值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712720"/>
            <a:ext cx="2087880" cy="13258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842260"/>
            <a:ext cx="181356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图像创作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3261360"/>
            <a:ext cx="181356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摄影／设计／生成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97480" y="3291840"/>
            <a:ext cx="5715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91939" y="2423160"/>
            <a:ext cx="1905000" cy="1905000"/>
          </a:xfrm>
          <a:prstGeom prst="ellipse">
            <a:avLst/>
          </a:prstGeom>
          <a:solidFill>
            <a:srgbClr val="314435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6260" y="3032760"/>
            <a:ext cx="1600200" cy="4907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264"/>
              </a:lnSpc>
              <a:spcAft>
                <a:spcPts val="0"/>
              </a:spcAft>
              <a:defRPr sz="2400" b="1">
                <a:solidFill>
                  <a:srgbClr val="F4F4ED"/>
                </a:solidFill>
                <a:latin typeface="Microsoft YaHei"/>
              </a:defRPr>
            </a:pPr>
            <a:r>
              <a:t>数字图像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7220" y="3528060"/>
            <a:ext cx="1447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可复制 · 易流转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103620" y="2392680"/>
            <a:ext cx="1516380" cy="98298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20000" y="195072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7159" y="208026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内容传播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7159" y="249936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新闻、社交与知识交流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20" y="3375660"/>
            <a:ext cx="1516380" cy="29718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20000" y="323088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7159" y="336042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创意表达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7159" y="377952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设计、艺术与数字文创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03620" y="3375660"/>
            <a:ext cx="1516380" cy="157734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20000" y="4511040"/>
            <a:ext cx="4061460" cy="9601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57159" y="4640580"/>
            <a:ext cx="37871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商业使用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7159" y="5059680"/>
            <a:ext cx="3787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品牌营销与素材交付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40" y="4998720"/>
            <a:ext cx="5257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价值依赖使用，使用需要可信线索。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来源身份，是图像价值被可靠使用的重要基础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核心矛盾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画面可以完整保留，来源说明却可能在传播中脱落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63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2381250"/>
            <a:ext cx="1691640" cy="1691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0580" y="4061460"/>
            <a:ext cx="1920240" cy="335280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780" y="4107179"/>
            <a:ext cx="17678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223326"/>
                </a:solidFill>
                <a:latin typeface="Microsoft YaHei"/>
              </a:defRPr>
            </a:pPr>
            <a:r>
              <a:t>来源：拾光设计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4F4ED"/>
                </a:solidFill>
                <a:latin typeface="Microsoft YaHei"/>
              </a:defRPr>
            </a:pPr>
            <a:r>
              <a:t>创作者交付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图片＋署名＋使用说明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0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1580" y="2381250"/>
            <a:ext cx="1691640" cy="16916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482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4F4ED"/>
                </a:solidFill>
                <a:latin typeface="Microsoft YaHei"/>
              </a:defRPr>
            </a:pPr>
            <a:r>
              <a:t>群聊／平台转发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图片被另存、改名或编辑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700" y="2141220"/>
            <a:ext cx="1828800" cy="2171700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381250"/>
            <a:ext cx="1691640" cy="1691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24900" y="4632960"/>
            <a:ext cx="25908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4F4ED"/>
                </a:solidFill>
                <a:latin typeface="Microsoft YaHei"/>
              </a:defRPr>
            </a:pPr>
            <a:r>
              <a:t>再次收到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4900" y="5067300"/>
            <a:ext cx="25908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可见内容，难核对来处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223260" y="3154680"/>
            <a:ext cx="9144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7261860" y="3154680"/>
            <a:ext cx="9144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24400" y="171450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1080" y="176022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来源说明未随图保留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需要让可核验的身份线索进入图像本身，而非只依赖附件说明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需求分析 · 问题剖析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真正的断点，发生在“制作—交付—再次使用”的责任交接处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080260"/>
            <a:ext cx="3467100" cy="19354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制作端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署名与身份在交付说明中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56B"/>
                </a:solidFill>
                <a:latin typeface="Microsoft YaHei"/>
              </a:defRPr>
            </a:pPr>
            <a:r>
              <a:t>需求：身份随图保留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08120" y="2910840"/>
            <a:ext cx="3048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0" y="2080260"/>
            <a:ext cx="3467100" cy="19354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86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交付端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6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多个合作方持有相似版本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56B"/>
                </a:solidFill>
                <a:latin typeface="Microsoft YaHei"/>
              </a:defRPr>
            </a:pPr>
            <a:r>
              <a:t>需求：统一作品与批次登记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894320" y="2910840"/>
            <a:ext cx="3048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7699" y="2080260"/>
            <a:ext cx="3467100" cy="19354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4860" y="22098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使用端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4860" y="26289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再次收到图片时缺少材料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36620"/>
            <a:ext cx="315468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0D56B"/>
                </a:solidFill>
                <a:latin typeface="Microsoft YaHei"/>
              </a:defRPr>
            </a:pPr>
            <a:r>
              <a:t>需求：直接上传并关联线索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" y="4533900"/>
            <a:ext cx="10782300" cy="41818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92"/>
              </a:lnSpc>
              <a:spcAft>
                <a:spcPts val="0"/>
              </a:spcAft>
              <a:defRPr sz="1980" b="1">
                <a:solidFill>
                  <a:srgbClr val="F4F4ED"/>
                </a:solidFill>
                <a:latin typeface="Microsoft YaHei"/>
              </a:defRPr>
            </a:pPr>
            <a:r>
              <a:t>核心用户：品牌设计／店铺运营／审核人员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60" y="5021580"/>
            <a:ext cx="107823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AE0D0"/>
                </a:solidFill>
                <a:latin typeface="Microsoft YaHei"/>
              </a:defRPr>
            </a:pPr>
            <a:r>
              <a:t>关键约束：图片观感、低操作成本、授权材料与隐私边界。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需求来自交接任务，技术选型围绕交接中的信息断点展开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需求分析 · 调研方法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访谈问清真实经历，任务观察检验实际操作成本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049780"/>
            <a:ext cx="3467100" cy="21793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样本与角色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设计3人／运营3人／审核2人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DAE0D0"/>
                </a:solidFill>
                <a:latin typeface="Microsoft YaHei"/>
              </a:defRPr>
            </a:pPr>
            <a:r>
              <a:t>覆盖生成、交付和再次使用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2049780"/>
            <a:ext cx="3467100" cy="21793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访谈与案例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6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追问最近一次真实交付经历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39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DAE0D0"/>
                </a:solidFill>
                <a:latin typeface="Microsoft YaHei"/>
              </a:defRPr>
            </a:pPr>
            <a:r>
              <a:t>保留匿名原话与材料出处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7699" y="2049780"/>
            <a:ext cx="3467100" cy="21793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4860" y="217932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任务对照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860" y="259842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人工追问 ↔ 系统核验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543300"/>
            <a:ext cx="31623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DAE0D0"/>
                </a:solidFill>
                <a:latin typeface="Microsoft YaHei"/>
              </a:defRPr>
            </a:pPr>
            <a:r>
              <a:t>同图同任务，记录正确与用时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700" y="4709160"/>
            <a:ext cx="107442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" y="4754880"/>
            <a:ext cx="10530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调研输出：真实案例 → 痛点频次／严重度 → 功能优先级 → 验收条件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560" y="5280660"/>
            <a:ext cx="10744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4F4ED"/>
                </a:solidFill>
                <a:latin typeface="Microsoft YaHei"/>
              </a:defRPr>
            </a:pPr>
            <a:r>
              <a:t>避免只问“是否需要保护”，重点观察“现在怎样找来源、在哪里卡住”。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调研方案以可追查记录为证据，问卷意愿不能替代真实任务表现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现有方案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单一保护方式，难以覆盖传播后的完整核验任务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2087880"/>
            <a:ext cx="1905000" cy="4191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17932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23326"/>
                </a:solidFill>
                <a:latin typeface="Microsoft YaHei"/>
              </a:defRPr>
            </a:pPr>
            <a:r>
              <a:t>现有方式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37460" y="2087880"/>
            <a:ext cx="3581400" cy="4191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9380" y="217932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23326"/>
                </a:solidFill>
                <a:latin typeface="Microsoft YaHei"/>
              </a:defRPr>
            </a:pPr>
            <a:r>
              <a:t>能够解决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2087880"/>
            <a:ext cx="5448300" cy="4191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320" y="217932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223326"/>
                </a:solidFill>
                <a:latin typeface="Microsoft YaHei"/>
              </a:defRPr>
            </a:pPr>
            <a:r>
              <a:t>传播后仍存在的缺口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299" y="2514600"/>
            <a:ext cx="19050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268224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可见署名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7460" y="2514600"/>
            <a:ext cx="35814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9380" y="268224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直接展示作者或品牌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8400" y="2514600"/>
            <a:ext cx="54483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320" y="268224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可能被覆盖或裁掉，也会占用画面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299" y="3246120"/>
            <a:ext cx="19050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341376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元数据／文件名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37460" y="3246120"/>
            <a:ext cx="35814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9380" y="341376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保存创建与来源说明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8400" y="3246120"/>
            <a:ext cx="54483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0320" y="341376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信息可能在平台转发、改名时丢失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299" y="3977639"/>
            <a:ext cx="19050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" y="414528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相似图检索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37460" y="3977639"/>
            <a:ext cx="35814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9380" y="414528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找到相似内容与候选作品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8400" y="3977639"/>
            <a:ext cx="5448300" cy="70866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320" y="414528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相似不等于来源一致，更不等于有效授权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299" y="4709160"/>
            <a:ext cx="19050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" y="4876800"/>
            <a:ext cx="16611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4F4ED"/>
                </a:solidFill>
                <a:latin typeface="Microsoft YaHei"/>
              </a:defRPr>
            </a:pPr>
            <a:r>
              <a:t>隐形水印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37460" y="4709160"/>
            <a:ext cx="35814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9380" y="4876800"/>
            <a:ext cx="33375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4F4ED"/>
                </a:solidFill>
                <a:latin typeface="Microsoft YaHei"/>
              </a:defRPr>
            </a:pPr>
            <a:r>
              <a:t>在图像中保存可检测信号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8400" y="4709160"/>
            <a:ext cx="5448300" cy="708660"/>
          </a:xfrm>
          <a:prstGeom prst="rect">
            <a:avLst/>
          </a:prstGeom>
          <a:solidFill>
            <a:srgbClr val="223326"/>
          </a:solidFill>
          <a:ln>
            <a:solidFill>
              <a:srgbClr val="223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320" y="4876800"/>
            <a:ext cx="520446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1">
                <a:solidFill>
                  <a:srgbClr val="F4F4ED"/>
                </a:solidFill>
                <a:latin typeface="Microsoft YaHei"/>
              </a:defRPr>
            </a:pPr>
            <a:r>
              <a:t>仍需登记关联、误检控制与失败复核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图溯的切入点：把图像中的标识与登记、核验和复核流程连接起来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02  作品介绍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作品介绍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围绕生成、交付与再次核验组织体验。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验证场景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用一张电商营销图，贯穿生成、交付与再次核验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73580"/>
            <a:ext cx="3467100" cy="5334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7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品牌／设计方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54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3980" y="2895600"/>
            <a:ext cx="1539240" cy="1539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249680" y="4351020"/>
            <a:ext cx="1767840" cy="335280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396740"/>
            <a:ext cx="1615440" cy="2834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632"/>
              </a:lnSpc>
              <a:spcAft>
                <a:spcPts val="0"/>
              </a:spcAft>
              <a:defRPr sz="1200" b="1">
                <a:solidFill>
                  <a:srgbClr val="223326"/>
                </a:solidFill>
                <a:latin typeface="Microsoft YaHei"/>
              </a:defRPr>
            </a:pPr>
            <a:r>
              <a:t>作品编号：TS-001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DAE0D0"/>
                </a:solidFill>
                <a:latin typeface="Microsoft YaHei"/>
              </a:defRPr>
            </a:pPr>
            <a:r>
              <a:t>制作与交付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15740" y="3459480"/>
            <a:ext cx="28956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1500" y="1973580"/>
            <a:ext cx="3467100" cy="5334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39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合作／传播方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16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180" y="2895600"/>
            <a:ext cx="1539240" cy="15392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339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DAE0D0"/>
                </a:solidFill>
                <a:latin typeface="Microsoft YaHei"/>
              </a:defRPr>
            </a:pPr>
            <a:r>
              <a:t>接收与再次传播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01940" y="3459480"/>
            <a:ext cx="28956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7699" y="1973580"/>
            <a:ext cx="3467100" cy="5334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0100" y="2095499"/>
            <a:ext cx="31623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运营／审核方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7800" y="2727960"/>
            <a:ext cx="1676400" cy="1874519"/>
          </a:xfrm>
          <a:prstGeom prst="roundRect">
            <a:avLst>
              <a:gd name="adj" fmla="val 8000"/>
            </a:avLst>
          </a:prstGeom>
          <a:solidFill>
            <a:srgbClr val="EEE7D9"/>
          </a:solidFill>
          <a:ln>
            <a:solidFill>
              <a:srgbClr val="EE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demo-po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6380" y="2895600"/>
            <a:ext cx="1539240" cy="15392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20100" y="4922520"/>
            <a:ext cx="31623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DAE0D0"/>
                </a:solidFill>
                <a:latin typeface="Microsoft YaHei"/>
              </a:defRPr>
            </a:pPr>
            <a:r>
              <a:t>收到图片并决定使用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62900" y="5356860"/>
            <a:ext cx="3352800" cy="327660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9579" y="5402580"/>
            <a:ext cx="31394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223326"/>
                </a:solidFill>
                <a:latin typeface="Microsoft YaHei"/>
              </a:defRPr>
            </a:pPr>
            <a:r>
              <a:t>上传收到的图 → 查找来源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用户不必知道图片经历过哪些处理，也能发起来源查找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业务落地 · 操作闭环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一次交付建立身份，一次上传启动来源核验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1945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设计制作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描述生成或上传保护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56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8420" y="2811780"/>
            <a:ext cx="14478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1300" y="21945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8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品牌交付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8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登记编号＋留存交付图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3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56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84420" y="2811780"/>
            <a:ext cx="14478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67300" y="21945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4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网络传播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4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转发／压缩／改名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9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56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0420" y="2811780"/>
            <a:ext cx="14478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53299" y="21945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0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运营核验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0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5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56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456420" y="2811780"/>
            <a:ext cx="14478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39300" y="2194560"/>
            <a:ext cx="2057400" cy="15087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6460" y="2324100"/>
            <a:ext cx="1783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人工复核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76460" y="2743200"/>
            <a:ext cx="1783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核对署名与授权材料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1220" y="3870960"/>
            <a:ext cx="1866899" cy="5839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998"/>
              </a:lnSpc>
              <a:spcAft>
                <a:spcPts val="0"/>
              </a:spcAft>
              <a:defRPr sz="2940" b="1">
                <a:solidFill>
                  <a:srgbClr val="F0D56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" y="4686300"/>
            <a:ext cx="107442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正常：有效编号 → 来源登记 → 人工确认使用依据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" y="520446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AE0D0"/>
                </a:solidFill>
                <a:latin typeface="Microsoft YaHei"/>
              </a:defRPr>
            </a:pPr>
            <a:r>
              <a:t>异常：无匹配／冲突／服务错误 → 不作确权结论 → 补充原图与材料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业务使用结果是“有线索可核对”，而非自动判定侵权或许可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产品原型 · 图片保护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登记、署名与交付效果，在一个页面完成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tect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820" y="2084070"/>
            <a:ext cx="6903720" cy="3383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处理前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0" y="2042160"/>
            <a:ext cx="13716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9680" y="2087880"/>
            <a:ext cx="11582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处理后</a:t>
            </a:r>
          </a:p>
        </p:txBody>
      </p:sp>
      <p:sp>
        <p:nvSpPr>
          <p:cNvPr id="14" name="Oval 13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登记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填写项目与署名</a:t>
            </a:r>
          </a:p>
        </p:txBody>
      </p:sp>
      <p:sp>
        <p:nvSpPr>
          <p:cNvPr id="18" name="Oval 17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保护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按实际方式处理图片</a:t>
            </a:r>
          </a:p>
        </p:txBody>
      </p:sp>
      <p:sp>
        <p:nvSpPr>
          <p:cNvPr id="22" name="Oval 21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前后对照并下载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用户看到的是处理效果和交付图，算法细节保留在技术层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产品原型 · 图片溯源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上传收到的图片，直接查看可关联的来源线索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duct-tra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上传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无需回忆传播过程</a:t>
            </a:r>
          </a:p>
        </p:txBody>
      </p:sp>
      <p:sp>
        <p:nvSpPr>
          <p:cNvPr id="14" name="Oval 13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关联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恢复有效标识后查找记录</a:t>
            </a:r>
          </a:p>
        </p:txBody>
      </p:sp>
      <p:sp>
        <p:nvSpPr>
          <p:cNvPr id="18" name="Oval 17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复核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结合原图与授权材料核对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查找入口简单，结果保持可核对、可复查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产品原型 · 素材与记录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把素材登记与核验历史放在同一条工作路径里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27860"/>
            <a:ext cx="8366760" cy="369570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duct-reco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040" y="2004060"/>
            <a:ext cx="5669280" cy="35433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060180" y="2133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36380" y="2179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47860" y="2133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9240" y="2598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查看登记信息与交付图</a:t>
            </a:r>
          </a:p>
        </p:txBody>
      </p:sp>
      <p:sp>
        <p:nvSpPr>
          <p:cNvPr id="14" name="Oval 13"/>
          <p:cNvSpPr/>
          <p:nvPr/>
        </p:nvSpPr>
        <p:spPr>
          <a:xfrm>
            <a:off x="9060180" y="3276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6380" y="3322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7860" y="3276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追查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9240" y="3741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回看历史核验与异常</a:t>
            </a:r>
          </a:p>
        </p:txBody>
      </p:sp>
      <p:sp>
        <p:nvSpPr>
          <p:cNvPr id="18" name="Oval 17"/>
          <p:cNvSpPr/>
          <p:nvPr/>
        </p:nvSpPr>
        <p:spPr>
          <a:xfrm>
            <a:off x="9060180" y="4419600"/>
            <a:ext cx="365760" cy="365760"/>
          </a:xfrm>
          <a:prstGeom prst="ellipse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380" y="4465320"/>
            <a:ext cx="4572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22332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7860" y="4419600"/>
            <a:ext cx="21717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留存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9240" y="4884420"/>
            <a:ext cx="246888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导出记录并补充业务材料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让一次检测成为可以再次查阅的业务记录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03  技术应用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技术应用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球形水印、登记与模型服务协同工作。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总体方案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生成侧建立身份，接收侧恢复身份，登记层连接两端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191262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80" y="195834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生成与交付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99" y="4709160"/>
            <a:ext cx="13335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980" y="4754880"/>
            <a:ext cx="11201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接收与核验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360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7076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用户描述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076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画面与制作需求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1876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5592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身份嵌入＋生成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592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匿名编号 → 潜在噪声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6360" y="188976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3520" y="201930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交付图片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3520" y="243840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下载并发布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22520" y="2362200"/>
            <a:ext cx="28956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145780" y="2362200"/>
            <a:ext cx="69342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5800" y="3360420"/>
            <a:ext cx="4457700" cy="100584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2960" y="3489960"/>
            <a:ext cx="41833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匿名来源登记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2960" y="3909060"/>
            <a:ext cx="41833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作品编号／项目声明／署名／核验历史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67500" y="2987040"/>
            <a:ext cx="0" cy="37338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13360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7076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收到图片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7076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上传待核验图像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1876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592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反演＋恢复消息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592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生成身份 → 匿名编号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76360" y="4678680"/>
            <a:ext cx="2705100" cy="10972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13520" y="4808220"/>
            <a:ext cx="2430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显示来源线索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3520" y="5227320"/>
            <a:ext cx="2430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有效匹配／人工复核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4922520" y="5173980"/>
            <a:ext cx="28956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145780" y="5173980"/>
            <a:ext cx="69342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6667500" y="4366260"/>
            <a:ext cx="0" cy="31242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363200" y="2987040"/>
            <a:ext cx="0" cy="1691640"/>
          </a:xfrm>
          <a:prstGeom prst="line">
            <a:avLst/>
          </a:prstGeom>
          <a:ln w="22859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197340" y="3535680"/>
            <a:ext cx="2438400" cy="57363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网络传播</a:t>
            </a:r>
          </a:p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压缩／转发／编辑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从图像到登记的关联闭环，是方案的应用核心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技术选型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球形水印，适配“生成时标记、传播后核验”的需求</a:t>
            </a:r>
          </a:p>
        </p:txBody>
      </p:sp>
      <p:sp>
        <p:nvSpPr>
          <p:cNvPr id="8" name="Oval 7"/>
          <p:cNvSpPr/>
          <p:nvPr/>
        </p:nvSpPr>
        <p:spPr>
          <a:xfrm>
            <a:off x="5143500" y="2514600"/>
            <a:ext cx="1905000" cy="1905000"/>
          </a:xfrm>
          <a:prstGeom prst="ellipse">
            <a:avLst/>
          </a:prstGeom>
          <a:noFill/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10250" y="2514600"/>
            <a:ext cx="571500" cy="1905000"/>
          </a:xfrm>
          <a:prstGeom prst="ellipse">
            <a:avLst/>
          </a:prstGeom>
          <a:noFill/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05450" y="2514600"/>
            <a:ext cx="1181100" cy="1905000"/>
          </a:xfrm>
          <a:prstGeom prst="ellipse">
            <a:avLst/>
          </a:prstGeom>
          <a:noFill/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43500" y="3181350"/>
            <a:ext cx="1905000" cy="571500"/>
          </a:xfrm>
          <a:prstGeom prst="ellipse">
            <a:avLst/>
          </a:prstGeom>
          <a:noFill/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43500" y="2876550"/>
            <a:ext cx="1905000" cy="1181100"/>
          </a:xfrm>
          <a:prstGeom prst="ellipse">
            <a:avLst/>
          </a:prstGeom>
          <a:noFill/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3060" y="3238500"/>
            <a:ext cx="14859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4F4ED"/>
                </a:solidFill>
                <a:latin typeface="Microsoft YaHei"/>
              </a:defRPr>
            </a:pPr>
            <a:r>
              <a:t>球形水印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194560" y="2415540"/>
            <a:ext cx="3901440" cy="105156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195834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8788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生成先验适配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50698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将身份映射到扩散模型潜在噪声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96000" y="2415540"/>
            <a:ext cx="3505200" cy="105156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01000" y="195834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208788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质量保护目标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0698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兼顾标识嵌入与生成内容观感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194560" y="3467100"/>
            <a:ext cx="3901440" cy="151638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4360" y="452628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65582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生成端集成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7492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依托预训练生成模型构建路线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6000" y="3467100"/>
            <a:ext cx="3505200" cy="151638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01000" y="4526280"/>
            <a:ext cx="3581400" cy="10591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655820"/>
            <a:ext cx="3307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传播后恢复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074920"/>
            <a:ext cx="3307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通过反演与逆变换恢复消息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选型围绕场景需求展开，最终效果由统一测试验证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技术路线 · 生成端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作品身份 → 球面映射 → 扩散图像生成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43100"/>
            <a:ext cx="11201400" cy="265176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2087880"/>
            <a:ext cx="10942320" cy="234696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571500" y="496062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身份编码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匿名编号／重复与填充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42460" y="496062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0248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噪声构造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可逆混合／旋转与半径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13420" y="496062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73440" y="492252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模型生成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440" y="526542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噪声进入预训练扩散模型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在生成环节嵌入可恢复身份，而不依赖外部文件名或说明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技术路线 · 核验端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传播图像 → 反演与消息恢复 → 来源关联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882139"/>
            <a:ext cx="112014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981199"/>
            <a:ext cx="6667500" cy="1722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95299" y="4320540"/>
            <a:ext cx="2514600" cy="11658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图像输入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上传收到的图片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86100" y="4800600"/>
            <a:ext cx="20574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0900" y="4320540"/>
            <a:ext cx="2514600" cy="11658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80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恢复消息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80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反演＋逆变换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1700" y="4800600"/>
            <a:ext cx="20574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6500" y="4320540"/>
            <a:ext cx="2514600" cy="11658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来源关联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36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匹配有效登记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77300" y="4800600"/>
            <a:ext cx="20574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2100" y="4320540"/>
            <a:ext cx="2514600" cy="11658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19260" y="445008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人工检查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9260" y="486918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材料与异常复核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原研究方法承担消息恢复，应用设计承担登记关联和复核任务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可行性 · 部署与资源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网页、任务服务与模型环境分离，按实际负载逐步接入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171700"/>
            <a:ext cx="2743200" cy="1287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301240"/>
            <a:ext cx="24688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浏览器入口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20340"/>
            <a:ext cx="2468880" cy="55290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图片保护／素材与记录／图片溯</a:t>
            </a:r>
          </a:p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52800" y="2705100"/>
            <a:ext cx="48006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62399" y="2171700"/>
            <a:ext cx="3200400" cy="1287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99560" y="2301240"/>
            <a:ext cx="2926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任务与登记服务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9560" y="2720340"/>
            <a:ext cx="2926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HTTP接口／任务状态／异常提示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92340" y="2705100"/>
            <a:ext cx="457200" cy="152400"/>
          </a:xfrm>
          <a:prstGeom prst="rightArrow">
            <a:avLst/>
          </a:prstGeom>
          <a:solidFill>
            <a:srgbClr val="F0D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86700" y="2171700"/>
            <a:ext cx="3810000" cy="1287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3860" y="2301240"/>
            <a:ext cx="35356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模型执行环境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3860" y="2720340"/>
            <a:ext cx="35356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独立Python worker／权重／签名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62399" y="4084320"/>
            <a:ext cx="3200400" cy="115062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99560" y="4213860"/>
            <a:ext cx="29260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原型存储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9560" y="4632960"/>
            <a:ext cx="29260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JSON登记＋图片文件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62600" y="3459480"/>
            <a:ext cx="0" cy="62484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7700" y="4130040"/>
            <a:ext cx="29337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轻量原型：CPU可运行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论文主线：GPU生成与反演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9099" y="4130040"/>
            <a:ext cx="34671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正式接入条件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鉴权、签名保护、备份与并发验证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资源需求随模型与任务规模确定，部署前以实测确认容量和成本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04  场景创新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场景创新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将研究方法转化为实际核验任务。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创新与壁垒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把研究方法转化为可使用、可复查的可信传播流程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81199"/>
            <a:ext cx="11201400" cy="70104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1040" y="2141220"/>
            <a:ext cx="107442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4F4ED"/>
                </a:solidFill>
                <a:latin typeface="Microsoft YaHei"/>
              </a:defRPr>
            </a:pPr>
            <a:r>
              <a:t>研究基础：球形水印的编码、噪声构造与反演恢复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09800" y="2682240"/>
            <a:ext cx="0" cy="46482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5299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流程融合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从生成、交付到再次核验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难点：算法与登记一致关联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6000" y="2682240"/>
            <a:ext cx="0" cy="46482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1500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86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低门槛核验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86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收到图片后直接上传查询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39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难点：误检、冲突和无法确认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82200" y="2682240"/>
            <a:ext cx="0" cy="464820"/>
          </a:xfrm>
          <a:prstGeom prst="line">
            <a:avLst/>
          </a:prstGeom>
          <a:ln w="1524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67699" y="3147060"/>
            <a:ext cx="3467100" cy="1882139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4860" y="327660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可追查管理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04860" y="369570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署名声明与核验记录衔接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0100" y="4442460"/>
            <a:ext cx="31623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难点：签名、隐私与记录安全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" y="5387340"/>
            <a:ext cx="1074420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0">
                <a:solidFill>
                  <a:srgbClr val="DAE0D0"/>
                </a:solidFill>
                <a:latin typeface="Microsoft YaHei"/>
              </a:defRPr>
            </a:pPr>
            <a:r>
              <a:t>应用贡献围绕任务闭环展开，技术壁垒由稳定运行与严格验证积累。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场景融合与工程能力，需要用用户任务和真实数据证明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需求分析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把用户的疑问，转化为可实现、可验收的系统要求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99" y="2004060"/>
            <a:ext cx="35052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56B"/>
                </a:solidFill>
                <a:latin typeface="Microsoft YaHei"/>
              </a:defRPr>
            </a:pPr>
            <a:r>
              <a:t>用户疑问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436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56B"/>
                </a:solidFill>
                <a:latin typeface="Microsoft YaHei"/>
              </a:defRPr>
            </a:pPr>
            <a:r>
              <a:t>系统要求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04060"/>
            <a:ext cx="34671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56B"/>
                </a:solidFill>
                <a:latin typeface="Microsoft YaHei"/>
              </a:defRPr>
            </a:pPr>
            <a:r>
              <a:t>验收关注点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299" y="2552700"/>
            <a:ext cx="35052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69748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加标识会不会影响图片？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4360" y="255270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866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生成保护＋前后对照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5270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900" y="269748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视觉质量与局部细节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299" y="3261360"/>
            <a:ext cx="35052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40614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收到图片后怎么找到来源？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4360" y="326136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866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直接上传＋恢复编号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6136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3900" y="340614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匹配正确率与无法确认率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299" y="3970020"/>
            <a:ext cx="35052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411480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这个结果能不能直接使用？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4360" y="397002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866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登记展示＋授权辅助检查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97002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3900" y="411480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信息完整性与复核提示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299" y="4678680"/>
            <a:ext cx="35052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823460"/>
            <a:ext cx="32766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图片太多，能否重复查阅？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4360" y="467868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866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素材与核验记录统一管理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678680"/>
            <a:ext cx="34671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3900" y="4823460"/>
            <a:ext cx="3238500" cy="33528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040"/>
              </a:lnSpc>
              <a:spcAft>
                <a:spcPts val="0"/>
              </a:spcAft>
              <a:defRPr sz="1500" b="0">
                <a:solidFill>
                  <a:srgbClr val="F4F4ED"/>
                </a:solidFill>
                <a:latin typeface="Microsoft YaHei"/>
              </a:defRPr>
            </a:pPr>
            <a:r>
              <a:t>任务耗时与记录可追查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访谈与任务观察 → 需求优先级 → 功能设计 → 验收指标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项目实施 · 里程碑与协作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用阶段验收和明确交付物，连接算法、产品与验证工作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2065020"/>
            <a:ext cx="1524000" cy="60198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6740" y="220980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3600" y="2065020"/>
            <a:ext cx="2247900" cy="60198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25040" y="220980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负责角色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8660" y="2065020"/>
            <a:ext cx="3771900" cy="60198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0100" y="220980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阶段交付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42960" y="2065020"/>
            <a:ext cx="3253740" cy="60198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34400" y="220980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验收门槛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299" y="2727960"/>
            <a:ext cx="15240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740" y="287274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原型闭环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33600" y="2727960"/>
            <a:ext cx="2247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5040" y="287274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660" y="2727960"/>
            <a:ext cx="3771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0100" y="287274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交互、登记、记录与错误语义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42960" y="2727960"/>
            <a:ext cx="325374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34400" y="287274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接口与工作流检查通过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299" y="3390900"/>
            <a:ext cx="15240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6740" y="353568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模型接通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33600" y="3390900"/>
            <a:ext cx="2247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25040" y="353568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算法＋产品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18660" y="3390900"/>
            <a:ext cx="3771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0100" y="353568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生成／反演命令、配置与日志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42960" y="3390900"/>
            <a:ext cx="325374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4400" y="353568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独立样张可复现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299" y="4053840"/>
            <a:ext cx="15240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6740" y="419862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统一评测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33600" y="4053840"/>
            <a:ext cx="2247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5040" y="419862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算法＋验证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18660" y="4053840"/>
            <a:ext cx="3771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0100" y="419862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正负样本、参数与失败案例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2960" y="4053840"/>
            <a:ext cx="325374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34400" y="419862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质量／恢复／误检齐全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5299" y="4716780"/>
            <a:ext cx="15240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740" y="4861560"/>
            <a:ext cx="13411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业务试点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33600" y="4716780"/>
            <a:ext cx="2247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25040" y="4861560"/>
            <a:ext cx="2065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产品＋验证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18660" y="4716780"/>
            <a:ext cx="377190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10100" y="4861560"/>
            <a:ext cx="35890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用户任务记录与匿名反馈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42960" y="4716780"/>
            <a:ext cx="3253740" cy="60198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4400" y="4861560"/>
            <a:ext cx="30708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同任务对照＋问题闭环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每阶段保留配置、日志、问题单和验收记录，避免只有计划没有交付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05  实现效果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实现效果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同时展示成功结果、失败条件和业务价值。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测试方案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用质量、恢复、误检与任务效率共同评价方案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223326"/>
                </a:solidFill>
                <a:latin typeface="Microsoft YaHei"/>
              </a:defRPr>
            </a:pPr>
            <a:r>
              <a:t>视觉质量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99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图像观感与局部细节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图像指标＋盲评观察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9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223326"/>
                </a:solidFill>
                <a:latin typeface="Microsoft YaHei"/>
              </a:defRPr>
            </a:pPr>
            <a:r>
              <a:t>标识恢复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09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80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原图与传播后图像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80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消息恢复率＋匹配情况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5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60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223326"/>
                </a:solidFill>
                <a:latin typeface="Microsoft YaHei"/>
              </a:defRPr>
            </a:pPr>
            <a:r>
              <a:t>错误控制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5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36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无水印与错误签名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36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误检率＋冲突与异常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2100" y="2011680"/>
            <a:ext cx="2514600" cy="495299"/>
          </a:xfrm>
          <a:prstGeom prst="roundRect">
            <a:avLst>
              <a:gd name="adj" fmla="val 8000"/>
            </a:avLst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1640" y="2125980"/>
            <a:ext cx="2255520" cy="36636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84"/>
              </a:lnSpc>
              <a:spcAft>
                <a:spcPts val="0"/>
              </a:spcAft>
              <a:defRPr sz="1680" b="1">
                <a:solidFill>
                  <a:srgbClr val="223326"/>
                </a:solidFill>
                <a:latin typeface="Microsoft YaHei"/>
              </a:defRPr>
            </a:pPr>
            <a:r>
              <a:t>使用效率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2100" y="2750820"/>
            <a:ext cx="2514600" cy="1363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19260" y="2880360"/>
            <a:ext cx="22402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人工追问与系统查找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9260" y="3299460"/>
            <a:ext cx="22402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任务耗时＋正确判断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320" y="4610100"/>
            <a:ext cx="108204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传播条件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32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原始交付图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9654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0322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轻度／明显压缩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444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尺寸缩小一半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78980" y="5090160"/>
            <a:ext cx="1981199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85660" y="5135880"/>
            <a:ext cx="1767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20200" y="5090160"/>
            <a:ext cx="2286000" cy="32766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5135880"/>
            <a:ext cx="20726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1">
                <a:solidFill>
                  <a:srgbClr val="F4F4ED"/>
                </a:solidFill>
                <a:latin typeface="Microsoft YaHei"/>
              </a:defRPr>
            </a:pPr>
            <a:r>
              <a:t>重绘等失败条件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同时记录成功、失败与无法确认，让验证覆盖真实使用边界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测试与验证 · 受控试验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让结果同时呈现“可以恢复”与“暂时失效”的条件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原图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33700" y="2133600"/>
            <a:ext cx="6248400" cy="27432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48800" y="2095499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轻度压缩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3700" y="2781300"/>
            <a:ext cx="6248400" cy="27432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8800" y="27432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明显压缩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33700" y="3429000"/>
            <a:ext cx="6248400" cy="27432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8800" y="33909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尺寸减半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33700" y="4076699"/>
            <a:ext cx="6248400" cy="27432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8800" y="40386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24 / 24 找回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较大面积裁剪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33700" y="4724400"/>
            <a:ext cx="6248400" cy="27432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8800" y="4686300"/>
            <a:ext cx="22098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4F4ED"/>
                </a:solidFill>
                <a:latin typeface="Microsoft YaHei"/>
              </a:defRPr>
            </a:pPr>
            <a:r>
              <a:t>0 / 24 找回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20" y="5501640"/>
            <a:ext cx="108204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24张自绘设计样张 · 当前内置轻量方法 · 仅说明本次受控条件表现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裁剪样本未恢复，系统应保留“无法确认”并引导人工复核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测试与验证 · 可靠性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不误导用户的失败提示，与成功检出同样重要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56B"/>
                </a:solidFill>
                <a:latin typeface="Microsoft YaHei"/>
              </a:defRPr>
            </a:pPr>
            <a: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工作流检查通过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覆盖处理、持久化与错误语义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56B"/>
                </a:solidFill>
                <a:latin typeface="Microsoft YaHei"/>
              </a:defRPr>
            </a:pPr>
            <a:r>
              <a:t>24 /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5800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无水印样张未关联登记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5800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受控小样本，不推断零误检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999" y="2171700"/>
            <a:ext cx="3276600" cy="74980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F0D56B"/>
                </a:solidFill>
                <a:latin typeface="Microsoft YaHei"/>
              </a:defRPr>
            </a:pPr>
            <a:r>
              <a:t>0.28秒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999" y="2964180"/>
            <a:ext cx="32766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本地查询中位耗时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999" y="3459480"/>
            <a:ext cx="327660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24条登记规模，不代表线上性能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" y="477774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服务出错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显示未完成，不输出“未检出”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57700" y="477774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177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登记冲突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输出需复核，不强行归属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43900" y="4777740"/>
            <a:ext cx="0" cy="655320"/>
          </a:xfrm>
          <a:prstGeom prst="line">
            <a:avLst/>
          </a:prstGeom>
          <a:ln w="30480">
            <a:solidFill>
              <a:srgbClr val="F0D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503920" y="4739640"/>
            <a:ext cx="31165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F4ED"/>
                </a:solidFill>
                <a:latin typeface="Microsoft YaHei"/>
              </a:defRPr>
            </a:pPr>
            <a:r>
              <a:t>持久化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082540"/>
            <a:ext cx="31165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DAE0D0"/>
                </a:solidFill>
                <a:latin typeface="Microsoft YaHei"/>
              </a:defRPr>
            </a:pPr>
            <a:r>
              <a:t>可回看登记与核验记录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正确区分成功、无匹配、冲突与服务错误，保护后续使用决策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应用验证 · 场景案例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同一批样张，在“压缩、裁剪、未标记”下走向不同处理结果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被压缩后收到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ctual-compres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770" y="2438400"/>
            <a:ext cx="2042160" cy="2042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56B"/>
                </a:solidFill>
                <a:latin typeface="Microsoft YaHei"/>
              </a:defRPr>
            </a:pPr>
            <a:r>
              <a:t>24/24 找回登记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查看来源声明，再核对授权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被大幅裁剪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1500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ctual-cropp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3970" y="2438400"/>
            <a:ext cx="2042160" cy="2042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196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56B"/>
                </a:solidFill>
                <a:latin typeface="Microsoft YaHei"/>
              </a:defRPr>
            </a:pPr>
            <a:r>
              <a:t>0/24 恢复标识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96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保留无法确认，补充原图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1943100"/>
            <a:ext cx="33528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4F4ED"/>
                </a:solidFill>
                <a:latin typeface="Microsoft YaHei"/>
              </a:defRPr>
            </a:pPr>
            <a:r>
              <a:t>收到无水印图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7699" y="2362200"/>
            <a:ext cx="34671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ctual-unmark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170" y="2438400"/>
            <a:ext cx="2042160" cy="2042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05800" y="4762500"/>
            <a:ext cx="339090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0D56B"/>
                </a:solidFill>
                <a:latin typeface="Microsoft YaHei"/>
              </a:defRPr>
            </a:pPr>
            <a:r>
              <a:t>24/24 未关联登记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5219700"/>
            <a:ext cx="33909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人工查找，不推断权属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落地价值体现在“下一步怎么处理”，不只是返回一个技术分数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应用效果 · 成本收益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把价值落到核对工时、返工次数和接入成本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164080"/>
            <a:ext cx="4114800" cy="123444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29362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可衡量的业务收益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71272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减少来源追问／材料定位／重复登记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3779520"/>
            <a:ext cx="4114800" cy="14020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390906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必须计算的接入成本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" y="432816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生成与反演算力／存储／维护／人工复核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6340" y="2049780"/>
            <a:ext cx="0" cy="336042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0" y="220980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4F4ED"/>
                </a:solidFill>
                <a:latin typeface="Microsoft YaHei"/>
              </a:defRPr>
            </a:pPr>
            <a:r>
              <a:t>月节省工时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689860"/>
            <a:ext cx="6096000" cy="40782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611"/>
              </a:lnSpc>
              <a:spcAft>
                <a:spcPts val="0"/>
              </a:spcAft>
              <a:defRPr sz="1920" b="1">
                <a:solidFill>
                  <a:srgbClr val="F0D56B"/>
                </a:solidFill>
                <a:latin typeface="Microsoft YaHei"/>
              </a:defRPr>
            </a:pPr>
            <a:r>
              <a:t>月核验量 × 单次节省分钟 ÷ 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28060"/>
            <a:ext cx="6096000" cy="42854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774"/>
              </a:lnSpc>
              <a:spcAft>
                <a:spcPts val="0"/>
              </a:spcAft>
              <a:defRPr sz="2039" b="1">
                <a:solidFill>
                  <a:srgbClr val="F4F4ED"/>
                </a:solidFill>
                <a:latin typeface="Microsoft YaHei"/>
              </a:defRPr>
            </a:pPr>
            <a:r>
              <a:t>净收益判断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008120"/>
            <a:ext cx="6096000" cy="397459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529"/>
              </a:lnSpc>
              <a:spcAft>
                <a:spcPts val="0"/>
              </a:spcAft>
              <a:defRPr sz="1859" b="1">
                <a:solidFill>
                  <a:srgbClr val="F0D56B"/>
                </a:solidFill>
                <a:latin typeface="Microsoft YaHei"/>
              </a:defRPr>
            </a:pPr>
            <a:r>
              <a:t>工时价值 − 推理、存储与维护成本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960620"/>
            <a:ext cx="6019800" cy="61508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以试点的实际耗时与错误处理成本填入，</a:t>
            </a:r>
          </a:p>
          <a:p>
            <a:pPr>
              <a:lnSpc>
                <a:spcPts val="2121"/>
              </a:lnSpc>
              <a:spcAft>
                <a:spcPts val="0"/>
              </a:spcAft>
              <a:defRPr sz="1560" b="0">
                <a:solidFill>
                  <a:srgbClr val="DAE0D0"/>
                </a:solidFill>
                <a:latin typeface="Microsoft YaHei"/>
              </a:defRPr>
            </a:pPr>
            <a:r>
              <a:t>再决定是否值得扩大接入。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先证明能节省真实工作，再判断可持续推广的经济性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实际落地 · 试点设计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嵌入品牌现有交付流程，逐步取得真实用户效果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057400"/>
            <a:ext cx="3467100" cy="2049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入组与资料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一个合法营销素材批次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授权确认／去标识／留存原图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2057400"/>
            <a:ext cx="3467100" cy="2049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86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接入与使用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86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3—5名设计、运营或审核用户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制作、交付、再次核验全过程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7699" y="2057400"/>
            <a:ext cx="3467100" cy="20497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4860" y="2186940"/>
            <a:ext cx="31927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前后对照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860" y="2606040"/>
            <a:ext cx="31927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同任务比较人工与系统方式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489960"/>
            <a:ext cx="316992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DAE0D0"/>
                </a:solidFill>
                <a:latin typeface="Microsoft YaHei"/>
              </a:defRPr>
            </a:pPr>
            <a:r>
              <a:t>记录正确率、耗时和异常处理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" y="462534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F4F4ED"/>
                </a:solidFill>
                <a:latin typeface="Microsoft YaHei"/>
              </a:defRPr>
            </a:pPr>
            <a:r>
              <a:t>试点材料：流程截图、样本清单、任务记录、匿名反馈、失败案例与改进前后对照。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" y="5242560"/>
            <a:ext cx="106680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0">
                <a:solidFill>
                  <a:srgbClr val="DAE0D0"/>
                </a:solidFill>
                <a:latin typeface="Microsoft YaHei"/>
              </a:defRPr>
            </a:pPr>
            <a:r>
              <a:t>进入常态使用的条件：核验稳定、画质可接受、材料可核对、失败可处理。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试点应证明是否减少来源追问成本，而非只证明界面能够打开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06  未来规划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Diamond 7"/>
          <p:cNvSpPr/>
          <p:nvPr/>
        </p:nvSpPr>
        <p:spPr>
          <a:xfrm>
            <a:off x="3429000" y="1508760"/>
            <a:ext cx="5334000" cy="4152900"/>
          </a:xfrm>
          <a:prstGeom prst="diamond">
            <a:avLst/>
          </a:prstGeom>
          <a:solidFill>
            <a:srgbClr val="52614E"/>
          </a:solidFill>
          <a:ln>
            <a:solidFill>
              <a:srgbClr val="C2CD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6420" y="2286000"/>
            <a:ext cx="1485900" cy="77053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467"/>
              </a:lnSpc>
              <a:spcAft>
                <a:spcPts val="0"/>
              </a:spcAft>
              <a:defRPr sz="4019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314700"/>
            <a:ext cx="4953000" cy="63581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4406"/>
              </a:lnSpc>
              <a:spcAft>
                <a:spcPts val="0"/>
              </a:spcAft>
              <a:defRPr sz="3240" b="1">
                <a:solidFill>
                  <a:srgbClr val="FFFFFF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从一个验证场景逐步走向常态使用。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应用与落地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以电商验证任务，再向创意、文创和媒体延伸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299" y="2385060"/>
            <a:ext cx="4114800" cy="22783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" y="2514600"/>
            <a:ext cx="384048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首个验证点：电商营销素材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" y="2933700"/>
            <a:ext cx="384048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品牌设计 → 合作交付 → 再次核验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" y="3695700"/>
            <a:ext cx="3733799" cy="67726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DAE0D0"/>
                </a:solidFill>
                <a:latin typeface="Microsoft YaHei"/>
              </a:defRPr>
            </a:pPr>
            <a:r>
              <a:t>观察：来源查找效率</a:t>
            </a:r>
          </a:p>
          <a:p>
            <a:pPr>
              <a:lnSpc>
                <a:spcPts val="2366"/>
              </a:lnSpc>
              <a:spcAft>
                <a:spcPts val="0"/>
              </a:spcAft>
              <a:defRPr sz="1739" b="0">
                <a:solidFill>
                  <a:srgbClr val="DAE0D0"/>
                </a:solidFill>
                <a:latin typeface="Microsoft YaHei"/>
              </a:defRPr>
            </a:pPr>
            <a:r>
              <a:t>检查：使用声明与复核提示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800600" y="2362200"/>
            <a:ext cx="2567940" cy="114300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8540" y="19431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05700" y="20726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创意设计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5700" y="24917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署名与素材交付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3505200"/>
            <a:ext cx="2567940" cy="15240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8540" y="32385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5700" y="33680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数字文创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700" y="37871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作品登记与使用线索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00600" y="3505200"/>
            <a:ext cx="2567940" cy="1447800"/>
          </a:xfrm>
          <a:prstGeom prst="line">
            <a:avLst/>
          </a:prstGeom>
          <a:ln w="15240">
            <a:solidFill>
              <a:srgbClr val="A7B5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68540" y="4533900"/>
            <a:ext cx="4328160" cy="982980"/>
          </a:xfrm>
          <a:prstGeom prst="roundRect">
            <a:avLst>
              <a:gd name="adj" fmla="val 8000"/>
            </a:avLst>
          </a:prstGeom>
          <a:solidFill>
            <a:srgbClr val="314435"/>
          </a:solidFill>
          <a:ln>
            <a:solidFill>
              <a:srgbClr val="ABB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5700" y="4663440"/>
            <a:ext cx="4053840" cy="376732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366"/>
              </a:lnSpc>
              <a:spcAft>
                <a:spcPts val="0"/>
              </a:spcAft>
              <a:defRPr sz="1739" b="1">
                <a:solidFill>
                  <a:srgbClr val="F4DD75"/>
                </a:solidFill>
                <a:latin typeface="Microsoft YaHei"/>
              </a:defRPr>
            </a:pPr>
            <a:r>
              <a:t>媒体传播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5700" y="5082540"/>
            <a:ext cx="4053840" cy="314553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876"/>
              </a:lnSpc>
              <a:spcAft>
                <a:spcPts val="0"/>
              </a:spcAft>
              <a:defRPr sz="1380" b="0">
                <a:solidFill>
                  <a:srgbClr val="F4F4ED"/>
                </a:solidFill>
                <a:latin typeface="Microsoft YaHei"/>
              </a:defRPr>
            </a:pPr>
            <a:r>
              <a:t>生成身份与来源辅助核验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落地成效以试用数据衡量，社会价值围绕可信使用展开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总结与展望 · 问题改进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把当前薄弱点，转化为有验证门槛的下一步工作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2034540"/>
            <a:ext cx="3086100" cy="6096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80" y="218694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当前问题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6660" y="2034540"/>
            <a:ext cx="3733799" cy="6096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39" y="218694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8100" y="2034540"/>
            <a:ext cx="4038600" cy="609600"/>
          </a:xfrm>
          <a:prstGeom prst="rect">
            <a:avLst/>
          </a:prstGeom>
          <a:solidFill>
            <a:srgbClr val="F0D56B"/>
          </a:solidFill>
          <a:ln>
            <a:solidFill>
              <a:srgbClr val="F0D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64780" y="218694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223326"/>
                </a:solidFill>
                <a:latin typeface="Microsoft YaHei"/>
              </a:defRPr>
            </a:pPr>
            <a:r>
              <a:t>验证门槛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299" y="2712720"/>
            <a:ext cx="30861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980" y="286512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裁剪后无法恢复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56660" y="2712720"/>
            <a:ext cx="3733799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3339" y="286512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验证鲁棒模型与对齐策略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8100" y="2712720"/>
            <a:ext cx="40386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4780" y="286512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同条件恢复＋误检＋画质同时报告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299" y="3390900"/>
            <a:ext cx="30861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980" y="354330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登记规模与短标识风险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56660" y="3390900"/>
            <a:ext cx="3733799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63339" y="354330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索引、较长标识与冲突分流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58100" y="3390900"/>
            <a:ext cx="40386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64780" y="354330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扩容负载和冲突用例通过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299" y="4069080"/>
            <a:ext cx="30861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980" y="422148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签名与登记安全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56660" y="4069080"/>
            <a:ext cx="3733799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63339" y="422148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受控访问、密钥隔离与备份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58100" y="4069080"/>
            <a:ext cx="40386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4780" y="422148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权限、泄露与恢复演练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299" y="4747260"/>
            <a:ext cx="30861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980" y="4899660"/>
            <a:ext cx="28727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尚缺真实用户成效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56660" y="4747260"/>
            <a:ext cx="3733799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63339" y="4899660"/>
            <a:ext cx="35204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完成同任务试用与反馈闭环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58100" y="4747260"/>
            <a:ext cx="4038600" cy="609600"/>
          </a:xfrm>
          <a:prstGeom prst="rect">
            <a:avLst/>
          </a:prstGeom>
          <a:solidFill>
            <a:srgbClr val="314435"/>
          </a:solidFill>
          <a:ln>
            <a:solidFill>
              <a:srgbClr val="314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4780" y="4899660"/>
            <a:ext cx="382524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原始任务记录和可追查改进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以失败分析推动改进，避免把未来能力写成现有能力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附录 · 评分覆盖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  <a:r>
              <a:t>七项评分分别对应需求、实现、证据与应用价值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299" y="194310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04216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创新性20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900" y="20421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场景任务、差异化与融合应用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20300" y="204216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299" y="246888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256794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需求分析15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0900" y="256794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问题剖析、调研设计与需求映射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0300" y="256794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6 / 22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299" y="299466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" y="309372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可行性20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0900" y="309372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总体架构、方法适配与部署资源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20300" y="309372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15 / 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299" y="352044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361950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实施15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0900" y="361950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原型、职责与验收交付物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0300" y="361950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11 / 23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299" y="404622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414528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验证10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0900" y="414528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条件、正负样本、失败与复查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0300" y="414528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25 / 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5299" y="457200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67106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效果15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0900" y="467106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案例、试点与成本收益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0300" y="467106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28 / 30 / 29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299" y="5097780"/>
            <a:ext cx="11201400" cy="457200"/>
          </a:xfrm>
          <a:prstGeom prst="rect">
            <a:avLst/>
          </a:prstGeom>
          <a:solidFill>
            <a:srgbClr val="314435"/>
          </a:solidFill>
          <a:ln>
            <a:solidFill>
              <a:srgbClr val="A7B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196840"/>
            <a:ext cx="265176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1">
                <a:solidFill>
                  <a:srgbClr val="F0D56B"/>
                </a:solidFill>
                <a:latin typeface="Microsoft YaHei"/>
              </a:defRPr>
            </a:pPr>
            <a:r>
              <a:t>总结5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0900" y="5196840"/>
            <a:ext cx="6477000" cy="3249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958"/>
              </a:lnSpc>
              <a:spcAft>
                <a:spcPts val="0"/>
              </a:spcAft>
              <a:defRPr sz="1439" b="0">
                <a:solidFill>
                  <a:srgbClr val="F4F4ED"/>
                </a:solidFill>
                <a:latin typeface="Microsoft YaHei"/>
              </a:defRPr>
            </a:pPr>
            <a:r>
              <a:t>开放问题与后续验证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20300" y="5196840"/>
            <a:ext cx="1638300" cy="30419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95"/>
              </a:lnSpc>
              <a:spcAft>
                <a:spcPts val="0"/>
              </a:spcAft>
              <a:defRPr sz="1320" b="0">
                <a:solidFill>
                  <a:srgbClr val="DAE0D0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最高档的论证与证据要求，贯穿场景、方法、验证和落地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3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ference2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93420"/>
          </a:xfrm>
          <a:prstGeom prst="rect">
            <a:avLst/>
          </a:prstGeom>
          <a:solidFill>
            <a:srgbClr val="24382B"/>
          </a:solidFill>
          <a:ln>
            <a:solidFill>
              <a:srgbClr val="243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259080" y="220980"/>
            <a:ext cx="228600" cy="22860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460" y="190500"/>
            <a:ext cx="10668000" cy="38709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448"/>
              </a:lnSpc>
              <a:spcAft>
                <a:spcPts val="0"/>
              </a:spcAft>
              <a:defRPr sz="1800" b="1">
                <a:solidFill>
                  <a:srgbClr val="F0D56B"/>
                </a:solidFill>
                <a:latin typeface="Microsoft YaHei"/>
              </a:defRPr>
            </a:pPr>
            <a:r>
              <a:t>未来规划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670560"/>
            <a:ext cx="11551920" cy="0"/>
          </a:xfrm>
          <a:prstGeom prst="line">
            <a:avLst/>
          </a:prstGeom>
          <a:ln w="15240">
            <a:solidFill>
              <a:srgbClr val="AAB5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299" y="982980"/>
            <a:ext cx="11201400" cy="52181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3508"/>
              </a:lnSpc>
              <a:spcAft>
                <a:spcPts val="0"/>
              </a:spcAft>
              <a:defRPr sz="2580" b="1">
                <a:solidFill>
                  <a:srgbClr val="F4F4ED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0820400" cy="142341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D7E8CA"/>
                </a:solidFill>
                <a:latin typeface="Microsoft YaHei"/>
              </a:defRPr>
            </a:pPr>
            <a:r>
              <a:t>为数字图像的可信传播</a:t>
            </a:r>
          </a:p>
          <a:p>
            <a:pPr>
              <a:lnSpc>
                <a:spcPts val="5304"/>
              </a:lnSpc>
              <a:spcAft>
                <a:spcPts val="0"/>
              </a:spcAft>
              <a:defRPr sz="3900" b="1">
                <a:solidFill>
                  <a:srgbClr val="D7E8CA"/>
                </a:solidFill>
                <a:latin typeface="Microsoft YaHei"/>
              </a:defRPr>
            </a:pPr>
            <a:r>
              <a:t>保留可核验的身份线索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6760" y="4206240"/>
            <a:ext cx="10591800" cy="44927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937"/>
              </a:lnSpc>
              <a:spcAft>
                <a:spcPts val="0"/>
              </a:spcAft>
              <a:defRPr sz="2160" b="1">
                <a:solidFill>
                  <a:srgbClr val="F0DB7B"/>
                </a:solidFill>
                <a:latin typeface="Microsoft YaHei"/>
              </a:defRPr>
            </a:pPr>
            <a:r>
              <a:t>图溯：从一次交付，到再次查找。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299" y="5996940"/>
            <a:ext cx="11201400" cy="495299"/>
          </a:xfrm>
          <a:prstGeom prst="roundRect">
            <a:avLst>
              <a:gd name="adj" fmla="val 8000"/>
            </a:avLst>
          </a:prstGeom>
          <a:solidFill>
            <a:srgbClr val="223A2A"/>
          </a:solidFill>
          <a:ln>
            <a:solidFill>
              <a:srgbClr val="A8B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460" y="6096000"/>
            <a:ext cx="10934700" cy="356006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2203"/>
              </a:lnSpc>
              <a:spcAft>
                <a:spcPts val="0"/>
              </a:spcAft>
              <a:defRPr sz="1620" b="1">
                <a:solidFill>
                  <a:srgbClr val="F0DC7B"/>
                </a:solidFill>
                <a:latin typeface="Microsoft YaHei"/>
              </a:defRPr>
            </a:pPr>
            <a:r>
              <a:t>让图片传播之后，来源仍有迹可循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" y="6606540"/>
            <a:ext cx="10210800" cy="242011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305"/>
              </a:lnSpc>
              <a:spcAft>
                <a:spcPts val="0"/>
              </a:spcAft>
              <a:defRPr sz="960" b="0">
                <a:solidFill>
                  <a:srgbClr val="DAE0D0"/>
                </a:solidFill>
                <a:latin typeface="Microsoft YaHei"/>
              </a:defRPr>
            </a:pPr>
            <a:r>
              <a:t>图溯 · AI＋场景创新 · 来源认证与可信传播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5200" y="6576060"/>
            <a:ext cx="762000" cy="293827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lnSpc>
                <a:spcPts val="1713"/>
              </a:lnSpc>
              <a:spcAft>
                <a:spcPts val="0"/>
              </a:spcAft>
              <a:defRPr sz="1260" b="0">
                <a:solidFill>
                  <a:srgbClr val="F0D56B"/>
                </a:solidFill>
                <a:latin typeface="Microsoft YaHe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