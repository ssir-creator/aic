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项目定位：面向品牌设计、运营和审核人员，为生成式电商营销素材保留可核验的来源线索。技术方案采用Hu等人在ICLR2026发表的球形水印。图片为AI生成的场景插图，不是我们的水印实验样本。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以小型品牌新品推广为具体场景。设计人员交付图片及说明，合作方转发时可能只保留图片，再次收到图片的人需要找回登记关联。此页为业务情境示意，不声称已发生实际试点。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不能将水印解码直接当作法律确权或有效授权。来源关联由技术提供线索，授权需核对范围和期限，盗用争议需人工审查业务材料。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调研尚未完成，建议访谈5到8名品牌、设计、运营或审核人员。询问最近一次交付、来源追问流程、图片画质底线及可接受等待时间。保留匿名原话，形成痛点到验收标准的映射。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元数据与文件名可能在转发后丢失，可见署名可能被裁剪，相似检索只说明相似不说明授权。隐形水印与登记系统结合也不是成熟场景自动空白区，应通过具体任务对比论证差异化。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这是计划的球形水印主路线，现有网页任意图片上传后的TrustMark路径属于后处理。业务登记与授权辅助审核由本项目应用层设计，不属于原论文算法模块。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直接引用Figure1。上半部分a：开发者离线建立Signature=(T,C)，API运行时对用户标识进行嵌入，生成或接收图像后进行提取。下半部分b：随机填充与水印混合、归一化、正交旋转、卡方半径缩放。我们用于电商作品编号而非直接嵌入个人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依次执行水印预处理x=[m重复N次,r]、GF(2)上的z1=T x、v=2 z1-1、单位球面归一化、C旋转与卡方半径缩放。T由单位矩阵与稀疏二进制R组成，C来自QR正交化。随后扩散生成。论文分布保持理论和经验检验不等于图像像素不变。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先用VAE编码传播图片，再以空条件求解ODE恢复初始噪声。对C施逆变换并量化，T逆映射解混合，使用奇数N多数投票恢复消息。反演误差和传播变换均可能造成失败。图中inverse不用缺字的Unicode上标减号。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理论在条件下证明二进制混合的三阶独立性与球面3-design，论文同时通过判别器和图像指标检验分布扰动。“精确高斯”的强表述不可直接推成实用场景绝对不可区分。Figure2的曲线是区分含水印与无水印样本的分类任务，不是水印提取成功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原论文的算法创新不归为我们原创。我们的场景创新需要通过具体业务流程、需求调研、对比任务和试用数据支撑。此页区分研究方法与应用层设计。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本页是产品目标体验示意，不是球形水印模型已经运行的截图。目前网站有AI生图后加TrustMark的独立路线；正式演示主路线必须接入球形水印并说明实际方法。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计划固定30条电商提示词与同一模型配置，分别测试原图、JPEG90、JPEG50、尺寸减半、中心裁剪70%。同时加无水印负样本与错误密钥。图为传播模拟示意，不是已经完成的模型结果。生成前后语义不一致时不应机械计算配对PSN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论文Figure3展示不同方法的生成例图，Figure5展示跨两数据集两模型平均的攻击表现。结果归原论文，不属于本项目实测。我们的球形水印电商统一样本、错误密钥和失败案例尚待运行。应保留强裁剪、重绘等失败说明，并区分检测TPR和比特AC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没有上线部署或实际合作成绩。使用自有或授权图片，拟邀请3到5名用户交替执行人工追问与系统来源查找任务。记录正确判断数、无法判断数、耗时与反馈。所需资源包括GPU生成与反演、受控登记和密钥管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主要贡献定位是AI＋电商营销素材场景方案。底层方法采用球形水印。下一步依序完成模型对接、统一评测、小规模用户试用。引用：Xiaoxiao Hu et al., Spherical Watermark: Encryption-Free, Lossless Watermarking for Diffusion Models, ICLR2026。官方仓库HXX5656/SphericalWatermark。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B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74320"/>
            <a:ext cx="7620000" cy="2731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50"/>
              </a:lnSpc>
              <a:spcAft>
                <a:spcPts val="0"/>
              </a:spcAft>
              <a:defRPr sz="1140" b="0">
                <a:solidFill>
                  <a:srgbClr val="C0C4D4"/>
                </a:solidFill>
                <a:latin typeface="Microsoft YaHei"/>
              </a:defRPr>
            </a:pPr>
            <a:r>
              <a:t>图溯  /  AIGC电商素材可信流转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1173480"/>
            <a:ext cx="11277600" cy="5839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98"/>
              </a:lnSpc>
              <a:spcAft>
                <a:spcPts val="0"/>
              </a:spcAft>
              <a:defRPr sz="2940" b="1">
                <a:solidFill>
                  <a:srgbClr val="FFFFFF"/>
                </a:solidFill>
                <a:latin typeface="Microsoft YaHei"/>
              </a:defRPr>
            </a:pPr>
            <a:r>
              <a:t>图溯</a:t>
            </a:r>
          </a:p>
        </p:txBody>
      </p:sp>
      <p:pic>
        <p:nvPicPr>
          <p:cNvPr id="4" name="Picture 3" descr="crop-1-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5905500" cy="6858000"/>
          </a:xfrm>
          <a:prstGeom prst="rect">
            <a:avLst/>
          </a:prstGeom>
          <a:solidFill>
            <a:srgbClr val="151B32"/>
          </a:solidFill>
          <a:ln>
            <a:solidFill>
              <a:srgbClr val="151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56260"/>
            <a:ext cx="4953000" cy="28346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0">
                <a:solidFill>
                  <a:srgbClr val="C0C4D4"/>
                </a:solidFill>
                <a:latin typeface="Microsoft YaHei"/>
              </a:defRPr>
            </a:pPr>
            <a:r>
              <a:t>TU SU  /  GENERATIVE IMAGE PROVENANCE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828800"/>
            <a:ext cx="4953000" cy="129905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9628"/>
              </a:lnSpc>
              <a:spcAft>
                <a:spcPts val="0"/>
              </a:spcAft>
              <a:defRPr sz="7080" b="1">
                <a:solidFill>
                  <a:srgbClr val="FFFFFF"/>
                </a:solidFill>
                <a:latin typeface="Microsoft YaHei"/>
              </a:defRPr>
            </a:pPr>
            <a:r>
              <a:t>图溯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3200400"/>
            <a:ext cx="4953000" cy="12576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4651"/>
              </a:lnSpc>
              <a:spcAft>
                <a:spcPts val="0"/>
              </a:spcAft>
              <a:defRPr sz="3419" b="1">
                <a:solidFill>
                  <a:srgbClr val="FFFFFF"/>
                </a:solidFill>
                <a:latin typeface="Microsoft YaHei"/>
              </a:defRPr>
            </a:pPr>
            <a:r>
              <a:t>AIGC电商素材</a:t>
            </a:r>
          </a:p>
          <a:p>
            <a:pPr>
              <a:lnSpc>
                <a:spcPts val="4651"/>
              </a:lnSpc>
              <a:spcAft>
                <a:spcPts val="0"/>
              </a:spcAft>
              <a:defRPr sz="3419" b="1">
                <a:solidFill>
                  <a:srgbClr val="FFFFFF"/>
                </a:solidFill>
                <a:latin typeface="Microsoft YaHei"/>
              </a:defRPr>
            </a:pPr>
            <a:r>
              <a:t>可信流转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4602480"/>
            <a:ext cx="807720" cy="38100"/>
          </a:xfrm>
          <a:prstGeom prst="rect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9120" y="4930140"/>
            <a:ext cx="49530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0">
                <a:solidFill>
                  <a:srgbClr val="C0C4D4"/>
                </a:solidFill>
                <a:latin typeface="Microsoft YaHei"/>
              </a:defRPr>
            </a:pPr>
            <a:r>
              <a:t>图片传播之后，来源仍有迹可循。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" y="6027420"/>
            <a:ext cx="4953000" cy="2731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50"/>
              </a:lnSpc>
              <a:spcAft>
                <a:spcPts val="0"/>
              </a:spcAft>
              <a:defRPr sz="1140" b="0">
                <a:solidFill>
                  <a:srgbClr val="C0C4D4"/>
                </a:solidFill>
                <a:latin typeface="Microsoft YaHei"/>
              </a:defRPr>
            </a:pPr>
            <a:r>
              <a:t>技术基础：Spherical Watermark · ICLR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680" y="6545580"/>
            <a:ext cx="10439400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0C4D4"/>
                </a:solidFill>
                <a:latin typeface="Microsoft YaHei"/>
              </a:defRPr>
            </a:pPr>
            <a:r>
              <a:t>场景插图为AI生成，非水印实验结果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25200" y="6522720"/>
            <a:ext cx="609600" cy="2286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0">
                <a:solidFill>
                  <a:srgbClr val="8768E8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74320"/>
            <a:ext cx="7620000" cy="2731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50"/>
              </a:lnSpc>
              <a:spcAft>
                <a:spcPts val="0"/>
              </a:spcAft>
              <a:defRPr sz="1140" b="0">
                <a:solidFill>
                  <a:srgbClr val="657087"/>
                </a:solidFill>
                <a:latin typeface="Microsoft YaHei"/>
              </a:defRPr>
            </a:pPr>
            <a:r>
              <a:t>图溯  /  AIGC电商素材可信流转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815340"/>
            <a:ext cx="11049000" cy="28346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1">
                <a:solidFill>
                  <a:srgbClr val="8768E8"/>
                </a:solidFill>
                <a:latin typeface="Microsoft YaHei"/>
              </a:defRPr>
            </a:pPr>
            <a:r>
              <a:t>01 / 具体场景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1173480"/>
            <a:ext cx="11277600" cy="5839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98"/>
              </a:lnSpc>
              <a:spcAft>
                <a:spcPts val="0"/>
              </a:spcAft>
              <a:defRPr sz="2940" b="1">
                <a:solidFill>
                  <a:srgbClr val="20273D"/>
                </a:solidFill>
                <a:latin typeface="Microsoft YaHei"/>
              </a:defRPr>
            </a:pPr>
            <a:r>
              <a:t>同一张营销图，三次流转后来源说明可能消失</a:t>
            </a:r>
          </a:p>
        </p:txBody>
      </p:sp>
      <p:pic>
        <p:nvPicPr>
          <p:cNvPr id="5" name="Picture 4" descr="crop-2-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2118360"/>
            <a:ext cx="3489960" cy="2171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7680" y="4541520"/>
            <a:ext cx="348996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20273D"/>
                </a:solidFill>
                <a:latin typeface="Microsoft YaHei"/>
              </a:defRPr>
            </a:pPr>
            <a:r>
              <a:t>品牌设计交付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4930140"/>
            <a:ext cx="3489960" cy="3456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121"/>
              </a:lnSpc>
              <a:spcAft>
                <a:spcPts val="0"/>
              </a:spcAft>
              <a:defRPr sz="1560" b="0">
                <a:solidFill>
                  <a:srgbClr val="657087"/>
                </a:solidFill>
                <a:latin typeface="Microsoft YaHei"/>
              </a:defRPr>
            </a:pPr>
            <a:r>
              <a:t>图片＋来源与使用说明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38600" y="3101340"/>
            <a:ext cx="213360" cy="152400"/>
          </a:xfrm>
          <a:prstGeom prst="rightArrow">
            <a:avLst/>
          </a:prstGeom>
          <a:solidFill>
            <a:srgbClr val="87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rop-2-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2118360"/>
            <a:ext cx="3489960" cy="2171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05300" y="4541520"/>
            <a:ext cx="348996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20273D"/>
                </a:solidFill>
                <a:latin typeface="Microsoft YaHei"/>
              </a:defRPr>
            </a:pPr>
            <a:r>
              <a:t>合作方转发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5300" y="4930140"/>
            <a:ext cx="3489960" cy="3456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121"/>
              </a:lnSpc>
              <a:spcAft>
                <a:spcPts val="0"/>
              </a:spcAft>
              <a:defRPr sz="1560" b="0">
                <a:solidFill>
                  <a:srgbClr val="657087"/>
                </a:solidFill>
                <a:latin typeface="Microsoft YaHei"/>
              </a:defRPr>
            </a:pPr>
            <a:r>
              <a:t>说明分离，文件可能改名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56220" y="3101340"/>
            <a:ext cx="213360" cy="152400"/>
          </a:xfrm>
          <a:prstGeom prst="rightArrow">
            <a:avLst/>
          </a:prstGeom>
          <a:solidFill>
            <a:srgbClr val="87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rop-2-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2920" y="2118360"/>
            <a:ext cx="3489960" cy="2171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22920" y="4541520"/>
            <a:ext cx="348996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20273D"/>
                </a:solidFill>
                <a:latin typeface="Microsoft YaHei"/>
              </a:defRPr>
            </a:pPr>
            <a:r>
              <a:t>运营再次收到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2920" y="4930140"/>
            <a:ext cx="3489960" cy="3456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121"/>
              </a:lnSpc>
              <a:spcAft>
                <a:spcPts val="0"/>
              </a:spcAft>
              <a:defRPr sz="1560" b="0">
                <a:solidFill>
                  <a:srgbClr val="657087"/>
                </a:solidFill>
                <a:latin typeface="Microsoft YaHei"/>
              </a:defRPr>
            </a:pPr>
            <a:r>
              <a:t>能看到图片，却难核对来处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5299" y="5570220"/>
            <a:ext cx="11193780" cy="464820"/>
          </a:xfrm>
          <a:prstGeom prst="roundRect">
            <a:avLst>
              <a:gd name="adj" fmla="val 8000"/>
            </a:avLst>
          </a:prstGeom>
          <a:solidFill>
            <a:srgbClr val="ECE9F6"/>
          </a:solidFill>
          <a:ln>
            <a:solidFill>
              <a:srgbClr val="EC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" y="5669280"/>
            <a:ext cx="10820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20273D"/>
                </a:solidFill>
                <a:latin typeface="Microsoft YaHei"/>
              </a:defRPr>
            </a:pPr>
            <a:r>
              <a:t>核心问题：图片内容保留了，附带的来源说明却可能没有跟随。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680" y="6545580"/>
            <a:ext cx="10439400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657087"/>
                </a:solidFill>
                <a:latin typeface="Microsoft YaHei"/>
              </a:defRPr>
            </a:pPr>
            <a:r>
              <a:t>应用情境示意 · 品牌新品营销素材交付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25200" y="6522720"/>
            <a:ext cx="609600" cy="2286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0">
                <a:solidFill>
                  <a:srgbClr val="8768E8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74320"/>
            <a:ext cx="7620000" cy="2731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50"/>
              </a:lnSpc>
              <a:spcAft>
                <a:spcPts val="0"/>
              </a:spcAft>
              <a:defRPr sz="1140" b="0">
                <a:solidFill>
                  <a:srgbClr val="657087"/>
                </a:solidFill>
                <a:latin typeface="Microsoft YaHei"/>
              </a:defRPr>
            </a:pPr>
            <a:r>
              <a:t>图溯  /  AIGC电商素材可信流转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815340"/>
            <a:ext cx="11049000" cy="28346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1">
                <a:solidFill>
                  <a:srgbClr val="8768E8"/>
                </a:solidFill>
                <a:latin typeface="Microsoft YaHei"/>
              </a:defRPr>
            </a:pPr>
            <a:r>
              <a:t>02 / 用户痛点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1173480"/>
            <a:ext cx="11277600" cy="5839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98"/>
              </a:lnSpc>
              <a:spcAft>
                <a:spcPts val="0"/>
              </a:spcAft>
              <a:defRPr sz="2940" b="1">
                <a:solidFill>
                  <a:srgbClr val="20273D"/>
                </a:solidFill>
                <a:latin typeface="Microsoft YaHei"/>
              </a:defRPr>
            </a:pPr>
            <a:r>
              <a:t>来源、授权与盗用争议，是三个不同的审核任务</a:t>
            </a:r>
          </a:p>
        </p:txBody>
      </p:sp>
      <p:sp>
        <p:nvSpPr>
          <p:cNvPr id="5" name="Oval 4"/>
          <p:cNvSpPr/>
          <p:nvPr/>
        </p:nvSpPr>
        <p:spPr>
          <a:xfrm>
            <a:off x="1257300" y="2430780"/>
            <a:ext cx="1722120" cy="1722120"/>
          </a:xfrm>
          <a:prstGeom prst="ellipse">
            <a:avLst/>
          </a:prstGeom>
          <a:solidFill>
            <a:srgbClr val="ECE9F6"/>
          </a:solidFill>
          <a:ln>
            <a:solidFill>
              <a:srgbClr val="EC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61160" y="2887980"/>
            <a:ext cx="1219200" cy="95707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6936"/>
              </a:lnSpc>
              <a:spcAft>
                <a:spcPts val="0"/>
              </a:spcAft>
              <a:defRPr sz="5100" b="1">
                <a:solidFill>
                  <a:srgbClr val="8768E8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299" y="4488180"/>
            <a:ext cx="3390900" cy="438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856"/>
              </a:lnSpc>
              <a:spcAft>
                <a:spcPts val="0"/>
              </a:spcAft>
              <a:defRPr sz="2100" b="1">
                <a:solidFill>
                  <a:srgbClr val="20273D"/>
                </a:solidFill>
                <a:latin typeface="Microsoft YaHei"/>
              </a:defRPr>
            </a:pPr>
            <a:r>
              <a:t>来源难找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299" y="4953000"/>
            <a:ext cx="33909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657087"/>
                </a:solidFill>
                <a:latin typeface="Microsoft YaHei"/>
              </a:defRPr>
            </a:pPr>
            <a:r>
              <a:t>附带说明丢失，找不到制作方</a:t>
            </a:r>
          </a:p>
        </p:txBody>
      </p:sp>
      <p:sp>
        <p:nvSpPr>
          <p:cNvPr id="9" name="Oval 8"/>
          <p:cNvSpPr/>
          <p:nvPr/>
        </p:nvSpPr>
        <p:spPr>
          <a:xfrm>
            <a:off x="5067300" y="2430780"/>
            <a:ext cx="1722120" cy="1722120"/>
          </a:xfrm>
          <a:prstGeom prst="ellipse">
            <a:avLst/>
          </a:prstGeom>
          <a:solidFill>
            <a:srgbClr val="ECE9F6"/>
          </a:solidFill>
          <a:ln>
            <a:solidFill>
              <a:srgbClr val="EC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71160" y="2887980"/>
            <a:ext cx="1219200" cy="95707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6936"/>
              </a:lnSpc>
              <a:spcAft>
                <a:spcPts val="0"/>
              </a:spcAft>
              <a:defRPr sz="5100" b="1">
                <a:solidFill>
                  <a:srgbClr val="8768E8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5300" y="4488180"/>
            <a:ext cx="3390900" cy="438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856"/>
              </a:lnSpc>
              <a:spcAft>
                <a:spcPts val="0"/>
              </a:spcAft>
              <a:defRPr sz="2100" b="1">
                <a:solidFill>
                  <a:srgbClr val="20273D"/>
                </a:solidFill>
                <a:latin typeface="Microsoft YaHei"/>
              </a:defRPr>
            </a:pPr>
            <a:r>
              <a:t>授权难核对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5300" y="4953000"/>
            <a:ext cx="33909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657087"/>
                </a:solidFill>
                <a:latin typeface="Microsoft YaHei"/>
              </a:defRPr>
            </a:pPr>
            <a:r>
              <a:t>不知道使用范围、期限与版本</a:t>
            </a:r>
          </a:p>
        </p:txBody>
      </p:sp>
      <p:sp>
        <p:nvSpPr>
          <p:cNvPr id="13" name="Oval 12"/>
          <p:cNvSpPr/>
          <p:nvPr/>
        </p:nvSpPr>
        <p:spPr>
          <a:xfrm>
            <a:off x="8877300" y="2430780"/>
            <a:ext cx="1722120" cy="1722120"/>
          </a:xfrm>
          <a:prstGeom prst="ellipse">
            <a:avLst/>
          </a:prstGeom>
          <a:solidFill>
            <a:srgbClr val="ECE9F6"/>
          </a:solidFill>
          <a:ln>
            <a:solidFill>
              <a:srgbClr val="EC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2887980"/>
            <a:ext cx="1219200" cy="95707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6936"/>
              </a:lnSpc>
              <a:spcAft>
                <a:spcPts val="0"/>
              </a:spcAft>
              <a:defRPr sz="5100" b="1">
                <a:solidFill>
                  <a:srgbClr val="8768E8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5300" y="4488180"/>
            <a:ext cx="3390900" cy="438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856"/>
              </a:lnSpc>
              <a:spcAft>
                <a:spcPts val="0"/>
              </a:spcAft>
              <a:defRPr sz="2100" b="1">
                <a:solidFill>
                  <a:srgbClr val="20273D"/>
                </a:solidFill>
                <a:latin typeface="Microsoft YaHei"/>
              </a:defRPr>
            </a:pPr>
            <a:r>
              <a:t>争议难处理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5300" y="4953000"/>
            <a:ext cx="33909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657087"/>
                </a:solidFill>
                <a:latin typeface="Microsoft YaHei"/>
              </a:defRPr>
            </a:pPr>
            <a:r>
              <a:t>需要可复查的登记与核验线索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680" y="6545580"/>
            <a:ext cx="10439400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657087"/>
                </a:solidFill>
                <a:latin typeface="Microsoft YaHei"/>
              </a:defRPr>
            </a:pPr>
            <a:r>
              <a:t>AI＋场景创新  ·  技术框架采用球形水印研究方法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25200" y="6522720"/>
            <a:ext cx="609600" cy="2286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0">
                <a:solidFill>
                  <a:srgbClr val="8768E8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74320"/>
            <a:ext cx="7620000" cy="2731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50"/>
              </a:lnSpc>
              <a:spcAft>
                <a:spcPts val="0"/>
              </a:spcAft>
              <a:defRPr sz="1140" b="0">
                <a:solidFill>
                  <a:srgbClr val="657087"/>
                </a:solidFill>
                <a:latin typeface="Microsoft YaHei"/>
              </a:defRPr>
            </a:pPr>
            <a:r>
              <a:t>图溯  /  AIGC电商素材可信流转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815340"/>
            <a:ext cx="11049000" cy="28346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1">
                <a:solidFill>
                  <a:srgbClr val="8768E8"/>
                </a:solidFill>
                <a:latin typeface="Microsoft YaHei"/>
              </a:defRPr>
            </a:pPr>
            <a:r>
              <a:t>03 / 用户需求与调研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1173480"/>
            <a:ext cx="11277600" cy="5839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98"/>
              </a:lnSpc>
              <a:spcAft>
                <a:spcPts val="0"/>
              </a:spcAft>
              <a:defRPr sz="2940" b="1">
                <a:solidFill>
                  <a:srgbClr val="20273D"/>
                </a:solidFill>
                <a:latin typeface="Microsoft YaHei"/>
              </a:defRPr>
            </a:pPr>
            <a:r>
              <a:t>需求按角色拆解，再用真实访谈验证</a:t>
            </a:r>
          </a:p>
        </p:txBody>
      </p:sp>
      <p:sp>
        <p:nvSpPr>
          <p:cNvPr id="5" name="Oval 4"/>
          <p:cNvSpPr/>
          <p:nvPr/>
        </p:nvSpPr>
        <p:spPr>
          <a:xfrm>
            <a:off x="541020" y="2400300"/>
            <a:ext cx="472440" cy="472440"/>
          </a:xfrm>
          <a:prstGeom prst="ellipse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2476500"/>
            <a:ext cx="3810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6340" y="2369820"/>
            <a:ext cx="2286000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529"/>
              </a:lnSpc>
              <a:spcAft>
                <a:spcPts val="0"/>
              </a:spcAft>
              <a:defRPr sz="1859" b="1">
                <a:solidFill>
                  <a:srgbClr val="20273D"/>
                </a:solidFill>
                <a:latin typeface="Microsoft YaHei"/>
              </a:defRPr>
            </a:pPr>
            <a:r>
              <a:t>品牌／设计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24300" y="2377440"/>
            <a:ext cx="17526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657087"/>
                </a:solidFill>
                <a:latin typeface="Microsoft YaHei"/>
              </a:defRPr>
            </a:pPr>
            <a:r>
              <a:t>生成与交付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58840" y="2461260"/>
            <a:ext cx="480060" cy="152400"/>
          </a:xfrm>
          <a:prstGeom prst="rightArrow">
            <a:avLst/>
          </a:prstGeom>
          <a:solidFill>
            <a:srgbClr val="87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13220" y="2377440"/>
            <a:ext cx="46482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0">
                <a:solidFill>
                  <a:srgbClr val="20273D"/>
                </a:solidFill>
                <a:latin typeface="Microsoft YaHei"/>
              </a:defRPr>
            </a:pPr>
            <a:r>
              <a:t>清晰观感＋可关联的素材编号</a:t>
            </a:r>
          </a:p>
        </p:txBody>
      </p:sp>
      <p:sp>
        <p:nvSpPr>
          <p:cNvPr id="11" name="Oval 10"/>
          <p:cNvSpPr/>
          <p:nvPr/>
        </p:nvSpPr>
        <p:spPr>
          <a:xfrm>
            <a:off x="541020" y="3444240"/>
            <a:ext cx="472440" cy="472440"/>
          </a:xfrm>
          <a:prstGeom prst="ellipse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700" y="3520440"/>
            <a:ext cx="3810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6340" y="3413760"/>
            <a:ext cx="2286000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529"/>
              </a:lnSpc>
              <a:spcAft>
                <a:spcPts val="0"/>
              </a:spcAft>
              <a:defRPr sz="1859" b="1">
                <a:solidFill>
                  <a:srgbClr val="20273D"/>
                </a:solidFill>
                <a:latin typeface="Microsoft YaHei"/>
              </a:defRPr>
            </a:pPr>
            <a:r>
              <a:t>店铺／代运营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24300" y="3421380"/>
            <a:ext cx="17526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657087"/>
                </a:solidFill>
                <a:latin typeface="Microsoft YaHei"/>
              </a:defRPr>
            </a:pPr>
            <a:r>
              <a:t>接收与使用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58840" y="3505200"/>
            <a:ext cx="480060" cy="152400"/>
          </a:xfrm>
          <a:prstGeom prst="rightArrow">
            <a:avLst/>
          </a:prstGeom>
          <a:solidFill>
            <a:srgbClr val="87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13220" y="3421380"/>
            <a:ext cx="46482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0">
                <a:solidFill>
                  <a:srgbClr val="20273D"/>
                </a:solidFill>
                <a:latin typeface="Microsoft YaHei"/>
              </a:defRPr>
            </a:pPr>
            <a:r>
              <a:t>上传图片即可查找来源线索</a:t>
            </a:r>
          </a:p>
        </p:txBody>
      </p:sp>
      <p:sp>
        <p:nvSpPr>
          <p:cNvPr id="17" name="Oval 16"/>
          <p:cNvSpPr/>
          <p:nvPr/>
        </p:nvSpPr>
        <p:spPr>
          <a:xfrm>
            <a:off x="541020" y="4488180"/>
            <a:ext cx="472440" cy="472440"/>
          </a:xfrm>
          <a:prstGeom prst="ellipse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700" y="4564380"/>
            <a:ext cx="3810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6340" y="4457700"/>
            <a:ext cx="2286000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529"/>
              </a:lnSpc>
              <a:spcAft>
                <a:spcPts val="0"/>
              </a:spcAft>
              <a:defRPr sz="1859" b="1">
                <a:solidFill>
                  <a:srgbClr val="20273D"/>
                </a:solidFill>
                <a:latin typeface="Microsoft YaHei"/>
              </a:defRPr>
            </a:pPr>
            <a:r>
              <a:t>品牌审核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24300" y="4465320"/>
            <a:ext cx="17526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657087"/>
                </a:solidFill>
                <a:latin typeface="Microsoft YaHei"/>
              </a:defRPr>
            </a:pPr>
            <a:r>
              <a:t>核对与复查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58840" y="4549140"/>
            <a:ext cx="480060" cy="152400"/>
          </a:xfrm>
          <a:prstGeom prst="rightArrow">
            <a:avLst/>
          </a:prstGeom>
          <a:solidFill>
            <a:srgbClr val="87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13220" y="4465320"/>
            <a:ext cx="46482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0">
                <a:solidFill>
                  <a:srgbClr val="20273D"/>
                </a:solidFill>
                <a:latin typeface="Microsoft YaHei"/>
              </a:defRPr>
            </a:pPr>
            <a:r>
              <a:t>登记声明＋失败提示＋核验历史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7680" y="5715000"/>
            <a:ext cx="11170920" cy="472440"/>
          </a:xfrm>
          <a:prstGeom prst="roundRect">
            <a:avLst>
              <a:gd name="adj" fmla="val 8000"/>
            </a:avLst>
          </a:prstGeom>
          <a:solidFill>
            <a:srgbClr val="ECE9F6"/>
          </a:solidFill>
          <a:ln>
            <a:solidFill>
              <a:srgbClr val="EC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560" y="5821680"/>
            <a:ext cx="107442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0">
                <a:solidFill>
                  <a:srgbClr val="20273D"/>
                </a:solidFill>
                <a:latin typeface="Microsoft YaHei"/>
              </a:defRPr>
            </a:pPr>
            <a:r>
              <a:t>拟访谈5—8人 → 收集真实案例 → 需求优先级 → 功能验收条件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680" y="6545580"/>
            <a:ext cx="10439400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657087"/>
                </a:solidFill>
                <a:latin typeface="Microsoft YaHei"/>
              </a:defRPr>
            </a:pPr>
            <a:r>
              <a:t>调研计划 · 尚未取得真实用户调研结论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25200" y="6522720"/>
            <a:ext cx="609600" cy="2286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0">
                <a:solidFill>
                  <a:srgbClr val="8768E8"/>
                </a:solidFill>
                <a:latin typeface="Microsoft Ya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74320"/>
            <a:ext cx="7620000" cy="2731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50"/>
              </a:lnSpc>
              <a:spcAft>
                <a:spcPts val="0"/>
              </a:spcAft>
              <a:defRPr sz="1140" b="0">
                <a:solidFill>
                  <a:srgbClr val="657087"/>
                </a:solidFill>
                <a:latin typeface="Microsoft YaHei"/>
              </a:defRPr>
            </a:pPr>
            <a:r>
              <a:t>图溯  /  AIGC电商素材可信流转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815340"/>
            <a:ext cx="11049000" cy="28346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1">
                <a:solidFill>
                  <a:srgbClr val="8768E8"/>
                </a:solidFill>
                <a:latin typeface="Microsoft YaHei"/>
              </a:defRPr>
            </a:pPr>
            <a:r>
              <a:t>04 / 现有方案对比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1173480"/>
            <a:ext cx="11277600" cy="5839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98"/>
              </a:lnSpc>
              <a:spcAft>
                <a:spcPts val="0"/>
              </a:spcAft>
              <a:defRPr sz="2940" b="1">
                <a:solidFill>
                  <a:srgbClr val="20273D"/>
                </a:solidFill>
                <a:latin typeface="Microsoft YaHei"/>
              </a:defRPr>
            </a:pPr>
            <a:r>
              <a:t>现有方式各有作用，缺口在传播后的登记关联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80" y="2186940"/>
            <a:ext cx="2575560" cy="426720"/>
          </a:xfrm>
          <a:prstGeom prst="rect">
            <a:avLst/>
          </a:prstGeom>
          <a:solidFill>
            <a:srgbClr val="151B32"/>
          </a:solidFill>
          <a:ln>
            <a:solidFill>
              <a:srgbClr val="151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2286000"/>
            <a:ext cx="2362200" cy="3456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121"/>
              </a:lnSpc>
              <a:spcAft>
                <a:spcPts val="0"/>
              </a:spcAft>
              <a:defRPr sz="1560" b="1">
                <a:solidFill>
                  <a:srgbClr val="FFFFFF"/>
                </a:solidFill>
                <a:latin typeface="Microsoft YaHei"/>
              </a:defRPr>
            </a:pPr>
            <a:r>
              <a:t>方式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3215640" y="2186940"/>
            <a:ext cx="3101340" cy="426720"/>
          </a:xfrm>
          <a:prstGeom prst="rect">
            <a:avLst/>
          </a:prstGeom>
          <a:solidFill>
            <a:srgbClr val="151B32"/>
          </a:solidFill>
          <a:ln>
            <a:solidFill>
              <a:srgbClr val="151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2286000"/>
            <a:ext cx="2887980" cy="3456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121"/>
              </a:lnSpc>
              <a:spcAft>
                <a:spcPts val="0"/>
              </a:spcAft>
              <a:defRPr sz="1560" b="1">
                <a:solidFill>
                  <a:srgbClr val="FFFFFF"/>
                </a:solidFill>
                <a:latin typeface="Microsoft YaHei"/>
              </a:defRPr>
            </a:pPr>
            <a:r>
              <a:t>适合做什么</a:t>
            </a:r>
          </a:p>
        </p:txBody>
      </p:sp>
      <p:sp>
        <p:nvSpPr>
          <p:cNvPr id="9" name="Rectangle 8"/>
          <p:cNvSpPr/>
          <p:nvPr/>
        </p:nvSpPr>
        <p:spPr>
          <a:xfrm>
            <a:off x="6469380" y="2186940"/>
            <a:ext cx="5189220" cy="426720"/>
          </a:xfrm>
          <a:prstGeom prst="rect">
            <a:avLst/>
          </a:prstGeom>
          <a:solidFill>
            <a:srgbClr val="151B32"/>
          </a:solidFill>
          <a:ln>
            <a:solidFill>
              <a:srgbClr val="151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1300" y="2286000"/>
            <a:ext cx="4975860" cy="3456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121"/>
              </a:lnSpc>
              <a:spcAft>
                <a:spcPts val="0"/>
              </a:spcAft>
              <a:defRPr sz="1560" b="1">
                <a:solidFill>
                  <a:srgbClr val="FFFFFF"/>
                </a:solidFill>
                <a:latin typeface="Microsoft YaHei"/>
              </a:defRPr>
            </a:pPr>
            <a:r>
              <a:t>传播后仍需解决什么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80" y="2621280"/>
            <a:ext cx="2575560" cy="670560"/>
          </a:xfrm>
          <a:prstGeom prst="rect">
            <a:avLst/>
          </a:prstGeom>
          <a:solidFill>
            <a:srgbClr val="ECE9F6"/>
          </a:solidFill>
          <a:ln>
            <a:solidFill>
              <a:srgbClr val="EC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2773680"/>
            <a:ext cx="23469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20273D"/>
                </a:solidFill>
                <a:latin typeface="Microsoft YaHei"/>
              </a:defRPr>
            </a:pPr>
            <a:r>
              <a:t>可见署名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15640" y="2621280"/>
            <a:ext cx="3101340" cy="670560"/>
          </a:xfrm>
          <a:prstGeom prst="rect">
            <a:avLst/>
          </a:prstGeom>
          <a:solidFill>
            <a:srgbClr val="ECE9F6"/>
          </a:solidFill>
          <a:ln>
            <a:solidFill>
              <a:srgbClr val="EC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773680"/>
            <a:ext cx="287274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20273D"/>
                </a:solidFill>
                <a:latin typeface="Microsoft YaHei"/>
              </a:defRPr>
            </a:pPr>
            <a:r>
              <a:t>直接展示署名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69380" y="2621280"/>
            <a:ext cx="5189220" cy="670560"/>
          </a:xfrm>
          <a:prstGeom prst="rect">
            <a:avLst/>
          </a:prstGeom>
          <a:solidFill>
            <a:srgbClr val="ECE9F6"/>
          </a:solidFill>
          <a:ln>
            <a:solidFill>
              <a:srgbClr val="EC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91300" y="2773680"/>
            <a:ext cx="496062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20273D"/>
                </a:solidFill>
                <a:latin typeface="Microsoft YaHei"/>
              </a:defRPr>
            </a:pPr>
            <a:r>
              <a:t>视觉遮挡，可能被覆盖或裁掉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7680" y="3314700"/>
            <a:ext cx="2575560" cy="670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3467100"/>
            <a:ext cx="23469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20273D"/>
                </a:solidFill>
                <a:latin typeface="Microsoft YaHei"/>
              </a:defRPr>
            </a:pPr>
            <a:r>
              <a:t>元数据／文件名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15640" y="3314700"/>
            <a:ext cx="3101340" cy="670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3467100"/>
            <a:ext cx="287274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20273D"/>
                </a:solidFill>
                <a:latin typeface="Microsoft YaHei"/>
              </a:defRPr>
            </a:pPr>
            <a:r>
              <a:t>附带创建与来源说明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69380" y="3314700"/>
            <a:ext cx="5189220" cy="670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91300" y="3467100"/>
            <a:ext cx="496062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20273D"/>
                </a:solidFill>
                <a:latin typeface="Microsoft YaHei"/>
              </a:defRPr>
            </a:pPr>
            <a:r>
              <a:t>说明可能与图片分离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7680" y="4008120"/>
            <a:ext cx="2575560" cy="670560"/>
          </a:xfrm>
          <a:prstGeom prst="rect">
            <a:avLst/>
          </a:prstGeom>
          <a:solidFill>
            <a:srgbClr val="ECE9F6"/>
          </a:solidFill>
          <a:ln>
            <a:solidFill>
              <a:srgbClr val="EC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600" y="4160520"/>
            <a:ext cx="23469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20273D"/>
                </a:solidFill>
                <a:latin typeface="Microsoft YaHei"/>
              </a:defRPr>
            </a:pPr>
            <a:r>
              <a:t>相似检索／人工追问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15640" y="4008120"/>
            <a:ext cx="3101340" cy="670560"/>
          </a:xfrm>
          <a:prstGeom prst="rect">
            <a:avLst/>
          </a:prstGeom>
          <a:solidFill>
            <a:srgbClr val="ECE9F6"/>
          </a:solidFill>
          <a:ln>
            <a:solidFill>
              <a:srgbClr val="EC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7560" y="4160520"/>
            <a:ext cx="287274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20273D"/>
                </a:solidFill>
                <a:latin typeface="Microsoft YaHei"/>
              </a:defRPr>
            </a:pPr>
            <a:r>
              <a:t>找回相似作品或补充证据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69380" y="4008120"/>
            <a:ext cx="5189220" cy="670560"/>
          </a:xfrm>
          <a:prstGeom prst="rect">
            <a:avLst/>
          </a:prstGeom>
          <a:solidFill>
            <a:srgbClr val="ECE9F6"/>
          </a:solidFill>
          <a:ln>
            <a:solidFill>
              <a:srgbClr val="EC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91300" y="4160520"/>
            <a:ext cx="496062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20273D"/>
                </a:solidFill>
                <a:latin typeface="Microsoft YaHei"/>
              </a:defRPr>
            </a:pPr>
            <a:r>
              <a:t>相似与来源、授权不能直接等同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7680" y="4701540"/>
            <a:ext cx="2575560" cy="670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600" y="4853940"/>
            <a:ext cx="23469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20273D"/>
                </a:solidFill>
                <a:latin typeface="Microsoft YaHei"/>
              </a:defRPr>
            </a:pPr>
            <a:r>
              <a:t>生成式水印＋登记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15640" y="4701540"/>
            <a:ext cx="3101340" cy="670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37560" y="4853940"/>
            <a:ext cx="287274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20273D"/>
                </a:solidFill>
                <a:latin typeface="Microsoft YaHei"/>
              </a:defRPr>
            </a:pPr>
            <a:r>
              <a:t>把标识嵌入生成过程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69380" y="4701540"/>
            <a:ext cx="5189220" cy="670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91300" y="4853940"/>
            <a:ext cx="496062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20273D"/>
                </a:solidFill>
                <a:latin typeface="Microsoft YaHei"/>
              </a:defRPr>
            </a:pPr>
            <a:r>
              <a:t>需验证画质、恢复能力与误检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80" y="5867400"/>
            <a:ext cx="11049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20273D"/>
                </a:solidFill>
                <a:latin typeface="Microsoft YaHei"/>
              </a:defRPr>
            </a:pPr>
            <a:r>
              <a:t>图溯的应用设计：以匿名标识连接登记，再辅助来源核对与人工审核。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7680" y="6545580"/>
            <a:ext cx="10439400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657087"/>
                </a:solidFill>
                <a:latin typeface="Microsoft YaHei"/>
              </a:defRPr>
            </a:pPr>
            <a:r>
              <a:t>AI＋场景创新  ·  技术框架采用球形水印研究方法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25200" y="6522720"/>
            <a:ext cx="609600" cy="2286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0">
                <a:solidFill>
                  <a:srgbClr val="8768E8"/>
                </a:solidFill>
                <a:latin typeface="Microsoft Ya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74320"/>
            <a:ext cx="7620000" cy="2731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50"/>
              </a:lnSpc>
              <a:spcAft>
                <a:spcPts val="0"/>
              </a:spcAft>
              <a:defRPr sz="1140" b="0">
                <a:solidFill>
                  <a:srgbClr val="657087"/>
                </a:solidFill>
                <a:latin typeface="Microsoft YaHei"/>
              </a:defRPr>
            </a:pPr>
            <a:r>
              <a:t>图溯  /  AIGC电商素材可信流转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815340"/>
            <a:ext cx="11049000" cy="28346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1">
                <a:solidFill>
                  <a:srgbClr val="8768E8"/>
                </a:solidFill>
                <a:latin typeface="Microsoft YaHei"/>
              </a:defRPr>
            </a:pPr>
            <a:r>
              <a:t>05 / 场景解决方案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1173480"/>
            <a:ext cx="11277600" cy="5839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98"/>
              </a:lnSpc>
              <a:spcAft>
                <a:spcPts val="0"/>
              </a:spcAft>
              <a:defRPr sz="2940" b="1">
                <a:solidFill>
                  <a:srgbClr val="20273D"/>
                </a:solidFill>
                <a:latin typeface="Microsoft YaHei"/>
              </a:defRPr>
            </a:pPr>
            <a:r>
              <a:t>生成即带标识，传播后恢复标识并关联登记</a:t>
            </a:r>
          </a:p>
        </p:txBody>
      </p:sp>
      <p:pic>
        <p:nvPicPr>
          <p:cNvPr id="5" name="Picture 4" descr="crop-6-11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286000"/>
            <a:ext cx="2933700" cy="2743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33400" y="2628900"/>
            <a:ext cx="2247900" cy="1104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781300"/>
            <a:ext cx="19431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20273D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69920"/>
            <a:ext cx="19431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657087"/>
                </a:solidFill>
                <a:latin typeface="Microsoft YaHei"/>
              </a:defRPr>
            </a:pPr>
            <a:r>
              <a:t>描述＋匿名编号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86100" y="2628900"/>
            <a:ext cx="2247900" cy="1104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38500" y="2781300"/>
            <a:ext cx="19431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20273D"/>
                </a:solidFill>
                <a:latin typeface="Microsoft YaHei"/>
              </a:defRPr>
            </a:pPr>
            <a:r>
              <a:t>生成保护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8500" y="3169920"/>
            <a:ext cx="19431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657087"/>
                </a:solidFill>
                <a:latin typeface="Microsoft YaHei"/>
              </a:defRPr>
            </a:pPr>
            <a:r>
              <a:t>球形水印＋扩散模型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76900" y="2628900"/>
            <a:ext cx="2247900" cy="1104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29300" y="2781300"/>
            <a:ext cx="19431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20273D"/>
                </a:solidFill>
                <a:latin typeface="Microsoft YaHei"/>
              </a:defRPr>
            </a:pPr>
            <a:r>
              <a:t>收到图片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29300" y="3169920"/>
            <a:ext cx="19431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657087"/>
                </a:solidFill>
                <a:latin typeface="Microsoft YaHei"/>
              </a:defRPr>
            </a:pPr>
            <a:r>
              <a:t>反演＋标识恢复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804160" y="3116580"/>
            <a:ext cx="220980" cy="152400"/>
          </a:xfrm>
          <a:prstGeom prst="rightArrow">
            <a:avLst/>
          </a:prstGeom>
          <a:solidFill>
            <a:srgbClr val="87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5379720" y="3116580"/>
            <a:ext cx="236220" cy="152400"/>
          </a:xfrm>
          <a:prstGeom prst="rightArrow">
            <a:avLst/>
          </a:prstGeom>
          <a:solidFill>
            <a:srgbClr val="87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962900" y="3116580"/>
            <a:ext cx="533400" cy="152400"/>
          </a:xfrm>
          <a:prstGeom prst="rightArrow">
            <a:avLst/>
          </a:prstGeom>
          <a:solidFill>
            <a:srgbClr val="87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108960" y="4503420"/>
            <a:ext cx="4815840" cy="868680"/>
          </a:xfrm>
          <a:prstGeom prst="roundRect">
            <a:avLst>
              <a:gd name="adj" fmla="val 8000"/>
            </a:avLst>
          </a:prstGeom>
          <a:solidFill>
            <a:srgbClr val="ECE9F6"/>
          </a:solidFill>
          <a:ln>
            <a:solidFill>
              <a:srgbClr val="EC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22320" y="4610100"/>
            <a:ext cx="4343400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529"/>
              </a:lnSpc>
              <a:spcAft>
                <a:spcPts val="0"/>
              </a:spcAft>
              <a:defRPr sz="1859" b="1">
                <a:solidFill>
                  <a:srgbClr val="20273D"/>
                </a:solidFill>
                <a:latin typeface="Microsoft YaHei"/>
              </a:defRPr>
            </a:pPr>
            <a:r>
              <a:t>匿名素材登记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22320" y="4975860"/>
            <a:ext cx="43434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657087"/>
                </a:solidFill>
                <a:latin typeface="Microsoft YaHei"/>
              </a:defRPr>
            </a:pPr>
            <a:r>
              <a:t>创建信息、项目声明与核验记录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187440" y="3947160"/>
            <a:ext cx="396240" cy="152400"/>
          </a:xfrm>
          <a:prstGeom prst="rightArrow">
            <a:avLst/>
          </a:prstGeom>
          <a:solidFill>
            <a:srgbClr val="87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3880" y="5745480"/>
            <a:ext cx="108966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20273D"/>
                </a:solidFill>
                <a:latin typeface="Microsoft YaHei"/>
              </a:defRPr>
            </a:pPr>
            <a:r>
              <a:t>来源核验入口：上传收到的图片，不必预先知道它经过怎样的转发。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680" y="6545580"/>
            <a:ext cx="10439400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657087"/>
                </a:solidFill>
                <a:latin typeface="Microsoft YaHei"/>
              </a:defRPr>
            </a:pPr>
            <a:r>
              <a:t>蓝紫区域为应用设计；核心生成与提取方法参考球形水印论文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25200" y="6522720"/>
            <a:ext cx="609600" cy="2286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0">
                <a:solidFill>
                  <a:srgbClr val="8768E8"/>
                </a:solidFill>
                <a:latin typeface="Microsoft Ya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74320"/>
            <a:ext cx="7620000" cy="2731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50"/>
              </a:lnSpc>
              <a:spcAft>
                <a:spcPts val="0"/>
              </a:spcAft>
              <a:defRPr sz="1140" b="0">
                <a:solidFill>
                  <a:srgbClr val="657087"/>
                </a:solidFill>
                <a:latin typeface="Microsoft YaHei"/>
              </a:defRPr>
            </a:pPr>
            <a:r>
              <a:t>图溯  /  AIGC电商素材可信流转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815340"/>
            <a:ext cx="11049000" cy="28346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1">
                <a:solidFill>
                  <a:srgbClr val="8768E8"/>
                </a:solidFill>
                <a:latin typeface="Microsoft YaHei"/>
              </a:defRPr>
            </a:pPr>
            <a:r>
              <a:t>06 / 技术总体框架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1173480"/>
            <a:ext cx="11277600" cy="5839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98"/>
              </a:lnSpc>
              <a:spcAft>
                <a:spcPts val="0"/>
              </a:spcAft>
              <a:defRPr sz="2940" b="1">
                <a:solidFill>
                  <a:srgbClr val="20273D"/>
                </a:solidFill>
                <a:latin typeface="Microsoft YaHei"/>
              </a:defRPr>
            </a:pPr>
            <a:r>
              <a:t>核心研究框架：球形水印的离线构建与在线运行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7680" y="2057400"/>
            <a:ext cx="11186160" cy="37337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rame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2164080"/>
            <a:ext cx="7437120" cy="3535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1980" y="5974080"/>
            <a:ext cx="108204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20273D"/>
                </a:solidFill>
                <a:latin typeface="Microsoft YaHei"/>
              </a:defRPr>
            </a:pPr>
            <a:r>
              <a:t>离线：Signature K=(T,C)　　在线：B → S → G　　提取：G逆过程 → S逆过程 → B逆过程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80" y="6545580"/>
            <a:ext cx="10439400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657087"/>
                </a:solidFill>
                <a:latin typeface="Microsoft YaHei"/>
              </a:defRPr>
            </a:pPr>
            <a:r>
              <a:t>原图引用：Hu et al., Spherical Watermark, ICLR 2026, Figure 1（PDF第3页）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5200" y="6522720"/>
            <a:ext cx="609600" cy="2286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0">
                <a:solidFill>
                  <a:srgbClr val="8768E8"/>
                </a:solidFill>
                <a:latin typeface="Microsoft YaHe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74320"/>
            <a:ext cx="7620000" cy="2731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50"/>
              </a:lnSpc>
              <a:spcAft>
                <a:spcPts val="0"/>
              </a:spcAft>
              <a:defRPr sz="1140" b="0">
                <a:solidFill>
                  <a:srgbClr val="657087"/>
                </a:solidFill>
                <a:latin typeface="Microsoft YaHei"/>
              </a:defRPr>
            </a:pPr>
            <a:r>
              <a:t>图溯  /  AIGC电商素材可信流转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815340"/>
            <a:ext cx="11049000" cy="28346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1">
                <a:solidFill>
                  <a:srgbClr val="8768E8"/>
                </a:solidFill>
                <a:latin typeface="Microsoft YaHei"/>
              </a:defRPr>
            </a:pPr>
            <a:r>
              <a:t>07 / 核心方法·生成端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1173480"/>
            <a:ext cx="11277600" cy="5839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98"/>
              </a:lnSpc>
              <a:spcAft>
                <a:spcPts val="0"/>
              </a:spcAft>
              <a:defRPr sz="2940" b="1">
                <a:solidFill>
                  <a:srgbClr val="20273D"/>
                </a:solidFill>
                <a:latin typeface="Microsoft YaHei"/>
              </a:defRPr>
            </a:pPr>
            <a:r>
              <a:t>生成端：将作品比特映射为适配扩散模型的噪声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7680" y="2057400"/>
            <a:ext cx="1118616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730" y="2148840"/>
            <a:ext cx="10386060" cy="2225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10540" y="4937760"/>
            <a:ext cx="38100" cy="792480"/>
          </a:xfrm>
          <a:prstGeom prst="rect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8180" y="4953000"/>
            <a:ext cx="307086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20273D"/>
                </a:solidFill>
                <a:latin typeface="Microsoft YaHei"/>
              </a:defRPr>
            </a:pPr>
            <a:r>
              <a:t>① 重复与混合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180" y="5295900"/>
            <a:ext cx="30708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657087"/>
                </a:solidFill>
                <a:latin typeface="Microsoft YaHei"/>
              </a:defRPr>
            </a:pPr>
            <a:r>
              <a:t>x=[m,…,m,r]；z(1)=T 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44340" y="4937760"/>
            <a:ext cx="38100" cy="792480"/>
          </a:xfrm>
          <a:prstGeom prst="rect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1980" y="4953000"/>
            <a:ext cx="31242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20273D"/>
                </a:solidFill>
                <a:latin typeface="Microsoft YaHei"/>
              </a:defRPr>
            </a:pPr>
            <a:r>
              <a:t>② 球面与旋转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1980" y="5295900"/>
            <a:ext cx="31242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657087"/>
                </a:solidFill>
                <a:latin typeface="Microsoft YaHei"/>
              </a:defRPr>
            </a:pPr>
            <a:r>
              <a:t>单位球面归一化，再施加C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1480" y="4937760"/>
            <a:ext cx="38100" cy="792480"/>
          </a:xfrm>
          <a:prstGeom prst="rect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9120" y="4953000"/>
            <a:ext cx="341376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20273D"/>
                </a:solidFill>
                <a:latin typeface="Microsoft YaHei"/>
              </a:defRPr>
            </a:pPr>
            <a:r>
              <a:t>③ 半径与生成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9120" y="5295900"/>
            <a:ext cx="34137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657087"/>
                </a:solidFill>
                <a:latin typeface="Microsoft YaHei"/>
              </a:defRPr>
            </a:pPr>
            <a:r>
              <a:t>r²服从卡方分布；zw进入G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680" y="6545580"/>
            <a:ext cx="10439400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657087"/>
                </a:solidFill>
                <a:latin typeface="Microsoft YaHei"/>
              </a:defRPr>
            </a:pPr>
            <a:r>
              <a:t>原图引用：Figure 1(b)；公式依据论文式(5)、(9)—(11)。三项解释为中文注释。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25200" y="6522720"/>
            <a:ext cx="609600" cy="2286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0">
                <a:solidFill>
                  <a:srgbClr val="8768E8"/>
                </a:solidFill>
                <a:latin typeface="Microsoft Ya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74320"/>
            <a:ext cx="7620000" cy="2731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50"/>
              </a:lnSpc>
              <a:spcAft>
                <a:spcPts val="0"/>
              </a:spcAft>
              <a:defRPr sz="1140" b="0">
                <a:solidFill>
                  <a:srgbClr val="657087"/>
                </a:solidFill>
                <a:latin typeface="Microsoft YaHei"/>
              </a:defRPr>
            </a:pPr>
            <a:r>
              <a:t>图溯  /  AIGC电商素材可信流转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815340"/>
            <a:ext cx="11049000" cy="28346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1">
                <a:solidFill>
                  <a:srgbClr val="8768E8"/>
                </a:solidFill>
                <a:latin typeface="Microsoft YaHei"/>
              </a:defRPr>
            </a:pPr>
            <a:r>
              <a:t>08 / 核心方法·溯源端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1173480"/>
            <a:ext cx="11277600" cy="5839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98"/>
              </a:lnSpc>
              <a:spcAft>
                <a:spcPts val="0"/>
              </a:spcAft>
              <a:defRPr sz="2940" b="1">
                <a:solidFill>
                  <a:srgbClr val="20273D"/>
                </a:solidFill>
                <a:latin typeface="Microsoft YaHei"/>
              </a:defRPr>
            </a:pPr>
            <a:r>
              <a:t>溯源端：反演噪声，经逆变换恢复重复消息</a:t>
            </a:r>
          </a:p>
        </p:txBody>
      </p:sp>
      <p:pic>
        <p:nvPicPr>
          <p:cNvPr id="5" name="Picture 4" descr="crop-9-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" y="2209800"/>
            <a:ext cx="2781300" cy="2484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718560" y="2727960"/>
            <a:ext cx="2362200" cy="1104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70960" y="2880360"/>
            <a:ext cx="2057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20273D"/>
                </a:solidFill>
                <a:latin typeface="Microsoft YaHei"/>
              </a:defRPr>
            </a:pPr>
            <a:r>
              <a:t>图像反演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70960" y="3268980"/>
            <a:ext cx="20574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657087"/>
                </a:solidFill>
                <a:latin typeface="Microsoft YaHei"/>
              </a:defRPr>
            </a:pPr>
            <a:r>
              <a:t>VAE编码＋ODE求解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07480" y="2727960"/>
            <a:ext cx="2362200" cy="1104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9880" y="2880360"/>
            <a:ext cx="2057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20273D"/>
                </a:solidFill>
                <a:latin typeface="Microsoft YaHei"/>
              </a:defRPr>
            </a:pPr>
            <a:r>
              <a:t>逆映射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9880" y="3268980"/>
            <a:ext cx="2057400" cy="57363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657087"/>
                </a:solidFill>
                <a:latin typeface="Microsoft YaHei"/>
              </a:defRPr>
            </a:pPr>
            <a:r>
              <a:t>旋转逆变换＋二进制解混</a:t>
            </a:r>
          </a:p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657087"/>
                </a:solidFill>
                <a:latin typeface="Microsoft YaHei"/>
              </a:defRPr>
            </a:pPr>
            <a:r>
              <a:t>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04020" y="2727960"/>
            <a:ext cx="2362200" cy="1104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56420" y="2880360"/>
            <a:ext cx="2057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20273D"/>
                </a:solidFill>
                <a:latin typeface="Microsoft YaHei"/>
              </a:defRPr>
            </a:pPr>
            <a:r>
              <a:t>消息恢复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56420" y="3268980"/>
            <a:ext cx="20574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657087"/>
                </a:solidFill>
                <a:latin typeface="Microsoft YaHei"/>
              </a:defRPr>
            </a:pPr>
            <a:r>
              <a:t>重复比特多数投票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352800" y="3185160"/>
            <a:ext cx="312420" cy="152400"/>
          </a:xfrm>
          <a:prstGeom prst="rightArrow">
            <a:avLst/>
          </a:prstGeom>
          <a:solidFill>
            <a:srgbClr val="87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6149340" y="3185160"/>
            <a:ext cx="312420" cy="152400"/>
          </a:xfrm>
          <a:prstGeom prst="rightArrow">
            <a:avLst/>
          </a:prstGeom>
          <a:solidFill>
            <a:srgbClr val="87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8953500" y="3185160"/>
            <a:ext cx="312420" cy="152400"/>
          </a:xfrm>
          <a:prstGeom prst="rightArrow">
            <a:avLst/>
          </a:prstGeom>
          <a:solidFill>
            <a:srgbClr val="87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764279" y="4160520"/>
            <a:ext cx="7909560" cy="617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extract_formu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8110" y="4213860"/>
            <a:ext cx="7581899" cy="51054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3764279" y="4960620"/>
            <a:ext cx="7909560" cy="71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62399" y="5029200"/>
            <a:ext cx="74066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20273D"/>
                </a:solidFill>
                <a:latin typeface="Microsoft YaHei"/>
              </a:defRPr>
            </a:pPr>
            <a:r>
              <a:t>登记关联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2399" y="5372100"/>
            <a:ext cx="7360920" cy="3456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121"/>
              </a:lnSpc>
              <a:spcAft>
                <a:spcPts val="0"/>
              </a:spcAft>
              <a:defRPr sz="1560" b="0">
                <a:solidFill>
                  <a:srgbClr val="657087"/>
                </a:solidFill>
                <a:latin typeface="Microsoft YaHei"/>
              </a:defRPr>
            </a:pPr>
            <a:r>
              <a:t>恢复的匿名编号 → 登记记录 → 来源线索／人工复核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9120" y="5852160"/>
            <a:ext cx="10668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20273D"/>
                </a:solidFill>
                <a:latin typeface="Microsoft YaHei"/>
              </a:defRPr>
            </a:pPr>
            <a:r>
              <a:t>未恢复到有效标识时，输出“暂时无法确认”，而不是推断图片无权属。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680" y="6545580"/>
            <a:ext cx="10439400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657087"/>
                </a:solidFill>
                <a:latin typeface="Microsoft YaHei"/>
              </a:defRPr>
            </a:pPr>
            <a:r>
              <a:t>技术依据：论文第3.2节、式(12)—(13)；登记匹配为本项目应用层设计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25200" y="6522720"/>
            <a:ext cx="609600" cy="2286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0">
                <a:solidFill>
                  <a:srgbClr val="8768E8"/>
                </a:solidFill>
                <a:latin typeface="Microsoft YaHe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74320"/>
            <a:ext cx="7620000" cy="2731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50"/>
              </a:lnSpc>
              <a:spcAft>
                <a:spcPts val="0"/>
              </a:spcAft>
              <a:defRPr sz="1140" b="0">
                <a:solidFill>
                  <a:srgbClr val="657087"/>
                </a:solidFill>
                <a:latin typeface="Microsoft YaHei"/>
              </a:defRPr>
            </a:pPr>
            <a:r>
              <a:t>图溯  /  AIGC电商素材可信流转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815340"/>
            <a:ext cx="11049000" cy="28346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1">
                <a:solidFill>
                  <a:srgbClr val="8768E8"/>
                </a:solidFill>
                <a:latin typeface="Microsoft YaHei"/>
              </a:defRPr>
            </a:pPr>
            <a:r>
              <a:t>09 / 方法为何适配场景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1173480"/>
            <a:ext cx="11277600" cy="5839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98"/>
              </a:lnSpc>
              <a:spcAft>
                <a:spcPts val="0"/>
              </a:spcAft>
              <a:defRPr sz="2940" b="1">
                <a:solidFill>
                  <a:srgbClr val="20273D"/>
                </a:solidFill>
                <a:latin typeface="Microsoft YaHei"/>
              </a:defRPr>
            </a:pPr>
            <a:r>
              <a:t>技术适配：兼顾生成先验、观感与传播后恢复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7680" y="2103120"/>
            <a:ext cx="6294120" cy="20650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mbed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2636520"/>
            <a:ext cx="5958840" cy="883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87680" y="4358640"/>
            <a:ext cx="6294120" cy="15621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4495800"/>
            <a:ext cx="5958840" cy="12496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284720" y="2247900"/>
            <a:ext cx="38100" cy="792480"/>
          </a:xfrm>
          <a:prstGeom prst="rect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2263140"/>
            <a:ext cx="421386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20273D"/>
                </a:solidFill>
                <a:latin typeface="Microsoft YaHei"/>
              </a:defRPr>
            </a:pPr>
            <a:r>
              <a:t>先验适配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606040"/>
            <a:ext cx="42138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657087"/>
                </a:solidFill>
                <a:latin typeface="Microsoft YaHei"/>
              </a:defRPr>
            </a:pPr>
            <a:r>
              <a:t>球面映射与随机半径构造潜在噪声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84720" y="3512820"/>
            <a:ext cx="38100" cy="792480"/>
          </a:xfrm>
          <a:prstGeom prst="rect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3528060"/>
            <a:ext cx="421386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20273D"/>
                </a:solidFill>
                <a:latin typeface="Microsoft YaHei"/>
              </a:defRPr>
            </a:pPr>
            <a:r>
              <a:t>商品观感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3870960"/>
            <a:ext cx="42138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657087"/>
                </a:solidFill>
                <a:latin typeface="Microsoft YaHei"/>
              </a:defRPr>
            </a:pPr>
            <a:r>
              <a:t>目标是降低质量扰动，仍需人工检查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84720" y="4777740"/>
            <a:ext cx="38100" cy="792480"/>
          </a:xfrm>
          <a:prstGeom prst="rect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4792980"/>
            <a:ext cx="421386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20273D"/>
                </a:solidFill>
                <a:latin typeface="Microsoft YaHei"/>
              </a:defRPr>
            </a:pPr>
            <a:r>
              <a:t>传播核验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5135880"/>
            <a:ext cx="42138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657087"/>
                </a:solidFill>
                <a:latin typeface="Microsoft YaHei"/>
              </a:defRPr>
            </a:pPr>
            <a:r>
              <a:t>在反演误差下评估恢复与误检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680" y="6545580"/>
            <a:ext cx="10439400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657087"/>
                </a:solidFill>
                <a:latin typeface="Microsoft YaHei"/>
              </a:defRPr>
            </a:pPr>
            <a:r>
              <a:t>左上：原文式(10)；左下：Figure 2。论文分类实验用于分布可区分性分析。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25200" y="6522720"/>
            <a:ext cx="609600" cy="2286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0">
                <a:solidFill>
                  <a:srgbClr val="8768E8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74320"/>
            <a:ext cx="7620000" cy="2731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50"/>
              </a:lnSpc>
              <a:spcAft>
                <a:spcPts val="0"/>
              </a:spcAft>
              <a:defRPr sz="1140" b="0">
                <a:solidFill>
                  <a:srgbClr val="657087"/>
                </a:solidFill>
                <a:latin typeface="Microsoft YaHei"/>
              </a:defRPr>
            </a:pPr>
            <a:r>
              <a:t>图溯  /  AIGC电商素材可信流转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815340"/>
            <a:ext cx="11049000" cy="28346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1">
                <a:solidFill>
                  <a:srgbClr val="8768E8"/>
                </a:solidFill>
                <a:latin typeface="Microsoft YaHei"/>
              </a:defRPr>
            </a:pPr>
            <a:r>
              <a:t>10 / 差异化与创新点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1173480"/>
            <a:ext cx="11277600" cy="5839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98"/>
              </a:lnSpc>
              <a:spcAft>
                <a:spcPts val="0"/>
              </a:spcAft>
              <a:defRPr sz="2940" b="1">
                <a:solidFill>
                  <a:srgbClr val="20273D"/>
                </a:solidFill>
                <a:latin typeface="Microsoft YaHei"/>
              </a:defRPr>
            </a:pPr>
            <a:r>
              <a:t>场景创新：把研究方法接入素材交付与核验任务</a:t>
            </a:r>
          </a:p>
        </p:txBody>
      </p:sp>
      <p:pic>
        <p:nvPicPr>
          <p:cNvPr id="5" name="Picture 4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99" y="2331720"/>
            <a:ext cx="7391400" cy="1905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2240280"/>
            <a:ext cx="3429000" cy="3566160"/>
          </a:xfrm>
          <a:prstGeom prst="roundRect">
            <a:avLst>
              <a:gd name="adj" fmla="val 8000"/>
            </a:avLst>
          </a:prstGeom>
          <a:solidFill>
            <a:srgbClr val="ECE9F6"/>
          </a:solidFill>
          <a:ln>
            <a:solidFill>
              <a:srgbClr val="EC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35340" y="2491740"/>
            <a:ext cx="29718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74"/>
              </a:lnSpc>
              <a:spcAft>
                <a:spcPts val="0"/>
              </a:spcAft>
              <a:defRPr sz="2039" b="1">
                <a:solidFill>
                  <a:srgbClr val="20273D"/>
                </a:solidFill>
                <a:latin typeface="Microsoft YaHei"/>
              </a:defRPr>
            </a:pPr>
            <a:r>
              <a:t>我们的应用设计</a:t>
            </a:r>
          </a:p>
        </p:txBody>
      </p:sp>
      <p:sp>
        <p:nvSpPr>
          <p:cNvPr id="8" name="Rectangle 7"/>
          <p:cNvSpPr/>
          <p:nvPr/>
        </p:nvSpPr>
        <p:spPr>
          <a:xfrm>
            <a:off x="8420100" y="3154680"/>
            <a:ext cx="38100" cy="792480"/>
          </a:xfrm>
          <a:prstGeom prst="rect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87740" y="3169920"/>
            <a:ext cx="27736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20273D"/>
                </a:solidFill>
                <a:latin typeface="Microsoft YaHei"/>
              </a:defRPr>
            </a:pPr>
            <a:r>
              <a:t>匿名登记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87740" y="3512820"/>
            <a:ext cx="277368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657087"/>
                </a:solidFill>
                <a:latin typeface="Microsoft YaHei"/>
              </a:defRPr>
            </a:pPr>
            <a:r>
              <a:t>标识连接项目与来源声明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20100" y="4076699"/>
            <a:ext cx="38100" cy="792480"/>
          </a:xfrm>
          <a:prstGeom prst="rect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87740" y="4091939"/>
            <a:ext cx="27736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20273D"/>
                </a:solidFill>
                <a:latin typeface="Microsoft YaHei"/>
              </a:defRPr>
            </a:pPr>
            <a:r>
              <a:t>直接查找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87740" y="4434840"/>
            <a:ext cx="277368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657087"/>
                </a:solidFill>
                <a:latin typeface="Microsoft YaHei"/>
              </a:defRPr>
            </a:pPr>
            <a:r>
              <a:t>收到图片后上传即可核验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20100" y="4991100"/>
            <a:ext cx="38100" cy="792480"/>
          </a:xfrm>
          <a:prstGeom prst="rect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87740" y="5006340"/>
            <a:ext cx="27736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20273D"/>
                </a:solidFill>
                <a:latin typeface="Microsoft YaHei"/>
              </a:defRPr>
            </a:pPr>
            <a:r>
              <a:t>复核与留证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87740" y="5349240"/>
            <a:ext cx="277368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657087"/>
                </a:solidFill>
                <a:latin typeface="Microsoft YaHei"/>
              </a:defRPr>
            </a:pPr>
            <a:r>
              <a:t>异常分流、历史记录可查看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4831080"/>
            <a:ext cx="723900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20273D"/>
                </a:solidFill>
                <a:latin typeface="Microsoft YaHei"/>
              </a:defRPr>
            </a:pPr>
            <a:r>
              <a:t>算法层：采用球形水印论文方法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5303520"/>
            <a:ext cx="72390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0">
                <a:solidFill>
                  <a:srgbClr val="657087"/>
                </a:solidFill>
                <a:latin typeface="Microsoft YaHei"/>
              </a:defRPr>
            </a:pPr>
            <a:r>
              <a:t>应用层：重构电商素材的交付与来源核对流程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680" y="6545580"/>
            <a:ext cx="10439400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657087"/>
                </a:solidFill>
                <a:latin typeface="Microsoft YaHei"/>
              </a:defRPr>
            </a:pPr>
            <a:r>
              <a:t>论文图：Figure 1(a)；应用设计为本项目方案，成效须经用户任务验证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25200" y="6522720"/>
            <a:ext cx="609600" cy="2286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0">
                <a:solidFill>
                  <a:srgbClr val="8768E8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74320"/>
            <a:ext cx="7620000" cy="2731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50"/>
              </a:lnSpc>
              <a:spcAft>
                <a:spcPts val="0"/>
              </a:spcAft>
              <a:defRPr sz="1140" b="0">
                <a:solidFill>
                  <a:srgbClr val="657087"/>
                </a:solidFill>
                <a:latin typeface="Microsoft YaHei"/>
              </a:defRPr>
            </a:pPr>
            <a:r>
              <a:t>图溯  /  AIGC电商素材可信流转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815340"/>
            <a:ext cx="11049000" cy="28346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1">
                <a:solidFill>
                  <a:srgbClr val="8768E8"/>
                </a:solidFill>
                <a:latin typeface="Microsoft YaHei"/>
              </a:defRPr>
            </a:pPr>
            <a:r>
              <a:t>11 / 产品演示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1173480"/>
            <a:ext cx="11277600" cy="5839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98"/>
              </a:lnSpc>
              <a:spcAft>
                <a:spcPts val="0"/>
              </a:spcAft>
              <a:defRPr sz="2940" b="1">
                <a:solidFill>
                  <a:srgbClr val="20273D"/>
                </a:solidFill>
                <a:latin typeface="Microsoft YaHei"/>
              </a:defRPr>
            </a:pPr>
            <a:r>
              <a:t>体验闭环：描述画面、下载交付、上传收到的图片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86940"/>
            <a:ext cx="3276600" cy="3627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8660" y="2400300"/>
            <a:ext cx="278130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20273D"/>
                </a:solidFill>
                <a:latin typeface="Microsoft YaHei"/>
              </a:defRPr>
            </a:pPr>
            <a:r>
              <a:t>01  图片保护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1040" y="2903220"/>
            <a:ext cx="2849880" cy="1158240"/>
          </a:xfrm>
          <a:prstGeom prst="roundRect">
            <a:avLst>
              <a:gd name="adj" fmla="val 8000"/>
            </a:avLst>
          </a:prstGeom>
          <a:solidFill>
            <a:srgbClr val="ECE9F6"/>
          </a:solidFill>
          <a:ln>
            <a:solidFill>
              <a:srgbClr val="EC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1060" y="3086100"/>
            <a:ext cx="2522220" cy="61508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121"/>
              </a:lnSpc>
              <a:spcAft>
                <a:spcPts val="0"/>
              </a:spcAft>
              <a:defRPr sz="1560" b="0">
                <a:solidFill>
                  <a:srgbClr val="657087"/>
                </a:solidFill>
                <a:latin typeface="Microsoft YaHei"/>
              </a:defRPr>
            </a:pPr>
            <a:r>
              <a:t>描述主体、背景、光线</a:t>
            </a:r>
          </a:p>
          <a:p>
            <a:pPr>
              <a:lnSpc>
                <a:spcPts val="2121"/>
              </a:lnSpc>
              <a:spcAft>
                <a:spcPts val="0"/>
              </a:spcAft>
              <a:defRPr sz="1560" b="0">
                <a:solidFill>
                  <a:srgbClr val="657087"/>
                </a:solidFill>
                <a:latin typeface="Microsoft YaHei"/>
              </a:defRPr>
            </a:pPr>
            <a:r>
              <a:t>与营销画面风格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1040" y="4968240"/>
            <a:ext cx="2842260" cy="457200"/>
          </a:xfrm>
          <a:prstGeom prst="roundRect">
            <a:avLst>
              <a:gd name="adj" fmla="val 8000"/>
            </a:avLst>
          </a:prstGeom>
          <a:solidFill>
            <a:srgbClr val="151B32"/>
          </a:solidFill>
          <a:ln>
            <a:solidFill>
              <a:srgbClr val="151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1060" y="5082540"/>
            <a:ext cx="252984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生成并添加来源标识</a:t>
            </a:r>
          </a:p>
        </p:txBody>
      </p:sp>
      <p:pic>
        <p:nvPicPr>
          <p:cNvPr id="11" name="Picture 10" descr="crop-12-5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100" y="2186940"/>
            <a:ext cx="3604260" cy="3627120"/>
          </a:xfrm>
          <a:prstGeom prst="rect">
            <a:avLst/>
          </a:prstGeom>
        </p:spPr>
      </p:pic>
      <p:sp>
        <p:nvSpPr>
          <p:cNvPr id="12" name="Right Arrow 11"/>
          <p:cNvSpPr/>
          <p:nvPr/>
        </p:nvSpPr>
        <p:spPr>
          <a:xfrm>
            <a:off x="3855720" y="3741420"/>
            <a:ext cx="297180" cy="152400"/>
          </a:xfrm>
          <a:prstGeom prst="rightArrow">
            <a:avLst/>
          </a:prstGeom>
          <a:solidFill>
            <a:srgbClr val="87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67699" y="2186940"/>
            <a:ext cx="3421380" cy="3627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392680"/>
            <a:ext cx="301752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20273D"/>
                </a:solidFill>
                <a:latin typeface="Microsoft YaHei"/>
              </a:defRPr>
            </a:pPr>
            <a:r>
              <a:t>02  图片溯源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65820" y="2880360"/>
            <a:ext cx="3009900" cy="1135380"/>
          </a:xfrm>
          <a:prstGeom prst="roundRect">
            <a:avLst>
              <a:gd name="adj" fmla="val 8000"/>
            </a:avLst>
          </a:prstGeom>
          <a:solidFill>
            <a:srgbClr val="ECE9F6"/>
          </a:solidFill>
          <a:ln>
            <a:solidFill>
              <a:srgbClr val="EC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33460" y="3124200"/>
            <a:ext cx="26670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657087"/>
                </a:solidFill>
                <a:latin typeface="Microsoft YaHei"/>
              </a:defRPr>
            </a:pPr>
            <a:r>
              <a:t>上传收到的营销图片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65820" y="4312920"/>
            <a:ext cx="3009900" cy="1127760"/>
          </a:xfrm>
          <a:prstGeom prst="roundRect">
            <a:avLst>
              <a:gd name="adj" fmla="val 8000"/>
            </a:avLst>
          </a:prstGeom>
          <a:solidFill>
            <a:srgbClr val="E7F2EF"/>
          </a:solidFill>
          <a:ln>
            <a:solidFill>
              <a:srgbClr val="E7F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4472940"/>
            <a:ext cx="2667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187C67"/>
                </a:solidFill>
                <a:latin typeface="Microsoft YaHei"/>
              </a:defRPr>
            </a:pPr>
            <a:r>
              <a:t>展示来源线索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4869180"/>
            <a:ext cx="2667000" cy="57363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657087"/>
                </a:solidFill>
                <a:latin typeface="Microsoft YaHei"/>
              </a:defRPr>
            </a:pPr>
            <a:r>
              <a:t>素材编号＋登记声明</a:t>
            </a:r>
          </a:p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657087"/>
                </a:solidFill>
                <a:latin typeface="Microsoft YaHei"/>
              </a:defRPr>
            </a:pPr>
            <a:r>
              <a:t>授权状态由人工核对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901940" y="3741420"/>
            <a:ext cx="289560" cy="152400"/>
          </a:xfrm>
          <a:prstGeom prst="rightArrow">
            <a:avLst/>
          </a:prstGeom>
          <a:solidFill>
            <a:srgbClr val="87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680" y="6545580"/>
            <a:ext cx="10439400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657087"/>
                </a:solidFill>
                <a:latin typeface="Microsoft YaHei"/>
              </a:defRPr>
            </a:pPr>
            <a:r>
              <a:t>产品目标体验示意 · 中间配图为AI生成场景插图，非水印处理样本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25200" y="6522720"/>
            <a:ext cx="609600" cy="2286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0">
                <a:solidFill>
                  <a:srgbClr val="8768E8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74320"/>
            <a:ext cx="7620000" cy="2731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50"/>
              </a:lnSpc>
              <a:spcAft>
                <a:spcPts val="0"/>
              </a:spcAft>
              <a:defRPr sz="1140" b="0">
                <a:solidFill>
                  <a:srgbClr val="657087"/>
                </a:solidFill>
                <a:latin typeface="Microsoft YaHei"/>
              </a:defRPr>
            </a:pPr>
            <a:r>
              <a:t>图溯  /  AIGC电商素材可信流转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815340"/>
            <a:ext cx="11049000" cy="28346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1">
                <a:solidFill>
                  <a:srgbClr val="8768E8"/>
                </a:solidFill>
                <a:latin typeface="Microsoft YaHei"/>
              </a:defRPr>
            </a:pPr>
            <a:r>
              <a:t>12 / 测试方案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1173480"/>
            <a:ext cx="11277600" cy="5839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98"/>
              </a:lnSpc>
              <a:spcAft>
                <a:spcPts val="0"/>
              </a:spcAft>
              <a:defRPr sz="2940" b="1">
                <a:solidFill>
                  <a:srgbClr val="20273D"/>
                </a:solidFill>
                <a:latin typeface="Microsoft YaHei"/>
              </a:defRPr>
            </a:pPr>
            <a:r>
              <a:t>测试设计：质量、恢复、误检与任务耗时共同验证</a:t>
            </a:r>
          </a:p>
        </p:txBody>
      </p:sp>
      <p:pic>
        <p:nvPicPr>
          <p:cNvPr id="5" name="Picture 4" descr="crop-13-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09800"/>
            <a:ext cx="2621280" cy="18059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160520"/>
            <a:ext cx="262128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20273D"/>
                </a:solidFill>
                <a:latin typeface="Microsoft YaHei"/>
              </a:defRPr>
            </a:pPr>
            <a:r>
              <a:t>原图</a:t>
            </a:r>
          </a:p>
        </p:txBody>
      </p:sp>
      <p:pic>
        <p:nvPicPr>
          <p:cNvPr id="7" name="Picture 6" descr="crop-13-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420" y="2209800"/>
            <a:ext cx="2621280" cy="18059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60420" y="4160520"/>
            <a:ext cx="262128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20273D"/>
                </a:solidFill>
                <a:latin typeface="Microsoft YaHei"/>
              </a:defRPr>
            </a:pPr>
            <a:r>
              <a:t>压缩</a:t>
            </a:r>
          </a:p>
        </p:txBody>
      </p:sp>
      <p:pic>
        <p:nvPicPr>
          <p:cNvPr id="9" name="Picture 8" descr="crop-13-8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209800"/>
            <a:ext cx="2621280" cy="18059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4160520"/>
            <a:ext cx="262128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20273D"/>
                </a:solidFill>
                <a:latin typeface="Microsoft YaHei"/>
              </a:defRPr>
            </a:pPr>
            <a:r>
              <a:t>尺寸减半</a:t>
            </a:r>
          </a:p>
        </p:txBody>
      </p:sp>
      <p:pic>
        <p:nvPicPr>
          <p:cNvPr id="11" name="Picture 10" descr="crop-13-119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5420" y="2209800"/>
            <a:ext cx="2621280" cy="18059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75420" y="4160520"/>
            <a:ext cx="262128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20273D"/>
                </a:solidFill>
                <a:latin typeface="Microsoft YaHei"/>
              </a:defRPr>
            </a:pPr>
            <a:r>
              <a:t>裁剪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8160" y="4937760"/>
            <a:ext cx="38100" cy="792480"/>
          </a:xfrm>
          <a:prstGeom prst="rect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953000"/>
            <a:ext cx="242316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20273D"/>
                </a:solidFill>
                <a:latin typeface="Microsoft YaHei"/>
              </a:defRPr>
            </a:pPr>
            <a:r>
              <a:t>质量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95900"/>
            <a:ext cx="24231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657087"/>
                </a:solidFill>
                <a:latin typeface="Microsoft YaHei"/>
              </a:defRPr>
            </a:pPr>
            <a:r>
              <a:t>感知指标＋商品细节检查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8040" y="4937760"/>
            <a:ext cx="38100" cy="792480"/>
          </a:xfrm>
          <a:prstGeom prst="rect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5680" y="4953000"/>
            <a:ext cx="242316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20273D"/>
                </a:solidFill>
                <a:latin typeface="Microsoft YaHei"/>
              </a:defRPr>
            </a:pPr>
            <a:r>
              <a:t>恢复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5680" y="5295900"/>
            <a:ext cx="24231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657087"/>
                </a:solidFill>
                <a:latin typeface="Microsoft YaHei"/>
              </a:defRPr>
            </a:pPr>
            <a:r>
              <a:t>消息恢复与登记匹配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937760"/>
            <a:ext cx="38100" cy="792480"/>
          </a:xfrm>
          <a:prstGeom prst="rect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5560" y="4953000"/>
            <a:ext cx="242316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20273D"/>
                </a:solidFill>
                <a:latin typeface="Microsoft YaHei"/>
              </a:defRPr>
            </a:pPr>
            <a:r>
              <a:t>误检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5560" y="5295900"/>
            <a:ext cx="24231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657087"/>
                </a:solidFill>
                <a:latin typeface="Microsoft YaHei"/>
              </a:defRPr>
            </a:pPr>
            <a:r>
              <a:t>无水印图＋错误密钥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67800" y="4937760"/>
            <a:ext cx="38100" cy="792480"/>
          </a:xfrm>
          <a:prstGeom prst="rect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4953000"/>
            <a:ext cx="242316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20273D"/>
                </a:solidFill>
                <a:latin typeface="Microsoft YaHei"/>
              </a:defRPr>
            </a:pPr>
            <a:r>
              <a:t>任务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5295900"/>
            <a:ext cx="24231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657087"/>
                </a:solidFill>
                <a:latin typeface="Microsoft YaHei"/>
              </a:defRPr>
            </a:pPr>
            <a:r>
              <a:t>耗时＋可判定率＋异常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680" y="6545580"/>
            <a:ext cx="10439400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657087"/>
                </a:solidFill>
                <a:latin typeface="Microsoft YaHei"/>
              </a:defRPr>
            </a:pPr>
            <a:r>
              <a:t>测试计划 · 缩略图为变换示意；正式测试需保存参数与原始样本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25200" y="6522720"/>
            <a:ext cx="609600" cy="2286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0">
                <a:solidFill>
                  <a:srgbClr val="8768E8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74320"/>
            <a:ext cx="7620000" cy="2731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50"/>
              </a:lnSpc>
              <a:spcAft>
                <a:spcPts val="0"/>
              </a:spcAft>
              <a:defRPr sz="1140" b="0">
                <a:solidFill>
                  <a:srgbClr val="657087"/>
                </a:solidFill>
                <a:latin typeface="Microsoft YaHei"/>
              </a:defRPr>
            </a:pPr>
            <a:r>
              <a:t>图溯  /  AIGC电商素材可信流转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815340"/>
            <a:ext cx="11049000" cy="28346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1">
                <a:solidFill>
                  <a:srgbClr val="8768E8"/>
                </a:solidFill>
                <a:latin typeface="Microsoft YaHei"/>
              </a:defRPr>
            </a:pPr>
            <a:r>
              <a:t>13 / 结果与失败分析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1173480"/>
            <a:ext cx="11277600" cy="5839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98"/>
              </a:lnSpc>
              <a:spcAft>
                <a:spcPts val="0"/>
              </a:spcAft>
              <a:defRPr sz="2940" b="1">
                <a:solidFill>
                  <a:srgbClr val="20273D"/>
                </a:solidFill>
                <a:latin typeface="Microsoft YaHei"/>
              </a:defRPr>
            </a:pPr>
            <a:r>
              <a:t>论文证据：画质对照与多类传播攻击下的表现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7680" y="2118360"/>
            <a:ext cx="11186160" cy="15925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2186940"/>
            <a:ext cx="5455920" cy="1432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87680" y="3893820"/>
            <a:ext cx="79705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tt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9830" y="3970020"/>
            <a:ext cx="4030980" cy="2087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63000" y="4069080"/>
            <a:ext cx="27432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74"/>
              </a:lnSpc>
              <a:spcAft>
                <a:spcPts val="0"/>
              </a:spcAft>
              <a:defRPr sz="2039" b="1">
                <a:solidFill>
                  <a:srgbClr val="8768E8"/>
                </a:solidFill>
                <a:latin typeface="Microsoft YaHei"/>
              </a:defRPr>
            </a:pPr>
            <a:r>
              <a:t>原论文实验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0" y="4556760"/>
            <a:ext cx="2743200" cy="6358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657087"/>
                </a:solidFill>
                <a:latin typeface="Microsoft YaHei"/>
              </a:defRPr>
            </a:pPr>
            <a:r>
              <a:t>画质、压缩、裁剪</a:t>
            </a:r>
          </a:p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657087"/>
                </a:solidFill>
                <a:latin typeface="Microsoft YaHei"/>
              </a:defRPr>
            </a:pPr>
            <a:r>
              <a:t>及其他攻击条件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0" y="5318760"/>
            <a:ext cx="274320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20273D"/>
                </a:solidFill>
                <a:latin typeface="Microsoft YaHei"/>
              </a:defRPr>
            </a:pPr>
            <a:r>
              <a:t>本项目实测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0" y="5737860"/>
            <a:ext cx="27432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657087"/>
                </a:solidFill>
                <a:latin typeface="Microsoft YaHei"/>
              </a:defRPr>
            </a:pPr>
            <a:r>
              <a:t>统一评测与失败案例待完成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680" y="6545580"/>
            <a:ext cx="10439400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657087"/>
                </a:solidFill>
                <a:latin typeface="Microsoft YaHei"/>
              </a:defRPr>
            </a:pPr>
            <a:r>
              <a:t>原图引用：Figure 3（PDF第7页）、Figure 5（第9页）。图中数据均来自论文。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25200" y="6522720"/>
            <a:ext cx="609600" cy="2286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0">
                <a:solidFill>
                  <a:srgbClr val="8768E8"/>
                </a:solidFill>
                <a:latin typeface="Microsoft Ya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74320"/>
            <a:ext cx="7620000" cy="2731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50"/>
              </a:lnSpc>
              <a:spcAft>
                <a:spcPts val="0"/>
              </a:spcAft>
              <a:defRPr sz="1140" b="0">
                <a:solidFill>
                  <a:srgbClr val="657087"/>
                </a:solidFill>
                <a:latin typeface="Microsoft YaHei"/>
              </a:defRPr>
            </a:pPr>
            <a:r>
              <a:t>图溯  /  AIGC电商素材可信流转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815340"/>
            <a:ext cx="11049000" cy="28346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1">
                <a:solidFill>
                  <a:srgbClr val="8768E8"/>
                </a:solidFill>
                <a:latin typeface="Microsoft YaHei"/>
              </a:defRPr>
            </a:pPr>
            <a:r>
              <a:t>14 / 应用价值与落地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1173480"/>
            <a:ext cx="11277600" cy="5839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98"/>
              </a:lnSpc>
              <a:spcAft>
                <a:spcPts val="0"/>
              </a:spcAft>
              <a:defRPr sz="2940" b="1">
                <a:solidFill>
                  <a:srgbClr val="20273D"/>
                </a:solidFill>
                <a:latin typeface="Microsoft YaHei"/>
              </a:defRPr>
            </a:pPr>
            <a:r>
              <a:t>落地验证：先做小规模任务试用，再接入日常流程</a:t>
            </a:r>
          </a:p>
        </p:txBody>
      </p:sp>
      <p:sp>
        <p:nvSpPr>
          <p:cNvPr id="5" name="Oval 4"/>
          <p:cNvSpPr/>
          <p:nvPr/>
        </p:nvSpPr>
        <p:spPr>
          <a:xfrm>
            <a:off x="1074420" y="2567940"/>
            <a:ext cx="1325880" cy="1325880"/>
          </a:xfrm>
          <a:prstGeom prst="ellipse">
            <a:avLst/>
          </a:prstGeom>
          <a:solidFill>
            <a:srgbClr val="ECE9F6"/>
          </a:solidFill>
          <a:ln>
            <a:solidFill>
              <a:srgbClr val="EC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56360" y="3032760"/>
            <a:ext cx="1866899" cy="7498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5304"/>
              </a:lnSpc>
              <a:spcAft>
                <a:spcPts val="0"/>
              </a:spcAft>
              <a:defRPr sz="3900" b="1">
                <a:solidFill>
                  <a:srgbClr val="8768E8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0540" y="4221480"/>
            <a:ext cx="253746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74"/>
              </a:lnSpc>
              <a:spcAft>
                <a:spcPts val="0"/>
              </a:spcAft>
              <a:defRPr sz="2039" b="1">
                <a:solidFill>
                  <a:srgbClr val="20273D"/>
                </a:solidFill>
                <a:latin typeface="Microsoft YaHei"/>
              </a:defRPr>
            </a:pPr>
            <a:r>
              <a:t>准备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0540" y="4701540"/>
            <a:ext cx="257556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657087"/>
                </a:solidFill>
                <a:latin typeface="Microsoft YaHei"/>
              </a:defRPr>
            </a:pPr>
            <a:r>
              <a:t>合法素材＋GPU模型环境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89860" y="3154680"/>
            <a:ext cx="533400" cy="152400"/>
          </a:xfrm>
          <a:prstGeom prst="rightArrow">
            <a:avLst/>
          </a:prstGeom>
          <a:solidFill>
            <a:srgbClr val="87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931920" y="2567940"/>
            <a:ext cx="1325880" cy="1325880"/>
          </a:xfrm>
          <a:prstGeom prst="ellipse">
            <a:avLst/>
          </a:prstGeom>
          <a:solidFill>
            <a:srgbClr val="ECE9F6"/>
          </a:solidFill>
          <a:ln>
            <a:solidFill>
              <a:srgbClr val="EC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13860" y="3032760"/>
            <a:ext cx="1866899" cy="7498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5304"/>
              </a:lnSpc>
              <a:spcAft>
                <a:spcPts val="0"/>
              </a:spcAft>
              <a:defRPr sz="3900" b="1">
                <a:solidFill>
                  <a:srgbClr val="8768E8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8040" y="4221480"/>
            <a:ext cx="253746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74"/>
              </a:lnSpc>
              <a:spcAft>
                <a:spcPts val="0"/>
              </a:spcAft>
              <a:defRPr sz="2039" b="1">
                <a:solidFill>
                  <a:srgbClr val="20273D"/>
                </a:solidFill>
                <a:latin typeface="Microsoft YaHei"/>
              </a:defRPr>
            </a:pPr>
            <a:r>
              <a:t>试用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8040" y="4701540"/>
            <a:ext cx="257556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657087"/>
                </a:solidFill>
                <a:latin typeface="Microsoft YaHei"/>
              </a:defRPr>
            </a:pPr>
            <a:r>
              <a:t>3—5名设计／运营使用者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547360" y="3154680"/>
            <a:ext cx="533400" cy="152400"/>
          </a:xfrm>
          <a:prstGeom prst="rightArrow">
            <a:avLst/>
          </a:prstGeom>
          <a:solidFill>
            <a:srgbClr val="87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89420" y="2567940"/>
            <a:ext cx="1325880" cy="1325880"/>
          </a:xfrm>
          <a:prstGeom prst="ellipse">
            <a:avLst/>
          </a:prstGeom>
          <a:solidFill>
            <a:srgbClr val="ECE9F6"/>
          </a:solidFill>
          <a:ln>
            <a:solidFill>
              <a:srgbClr val="EC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71360" y="3032760"/>
            <a:ext cx="1866899" cy="7498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5304"/>
              </a:lnSpc>
              <a:spcAft>
                <a:spcPts val="0"/>
              </a:spcAft>
              <a:defRPr sz="3900" b="1">
                <a:solidFill>
                  <a:srgbClr val="8768E8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5540" y="4221480"/>
            <a:ext cx="253746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74"/>
              </a:lnSpc>
              <a:spcAft>
                <a:spcPts val="0"/>
              </a:spcAft>
              <a:defRPr sz="2039" b="1">
                <a:solidFill>
                  <a:srgbClr val="20273D"/>
                </a:solidFill>
                <a:latin typeface="Microsoft YaHei"/>
              </a:defRPr>
            </a:pPr>
            <a:r>
              <a:t>对比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5540" y="4701540"/>
            <a:ext cx="257556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657087"/>
                </a:solidFill>
                <a:latin typeface="Microsoft YaHei"/>
              </a:defRPr>
            </a:pPr>
            <a:r>
              <a:t>人工追问与系统核验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404860" y="3154680"/>
            <a:ext cx="533400" cy="152400"/>
          </a:xfrm>
          <a:prstGeom prst="rightArrow">
            <a:avLst/>
          </a:prstGeom>
          <a:solidFill>
            <a:srgbClr val="87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46920" y="2567940"/>
            <a:ext cx="1325880" cy="1325880"/>
          </a:xfrm>
          <a:prstGeom prst="ellipse">
            <a:avLst/>
          </a:prstGeom>
          <a:solidFill>
            <a:srgbClr val="ECE9F6"/>
          </a:solidFill>
          <a:ln>
            <a:solidFill>
              <a:srgbClr val="EC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28860" y="3032760"/>
            <a:ext cx="1866899" cy="7498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5304"/>
              </a:lnSpc>
              <a:spcAft>
                <a:spcPts val="0"/>
              </a:spcAft>
              <a:defRPr sz="3900" b="1">
                <a:solidFill>
                  <a:srgbClr val="8768E8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3040" y="4221480"/>
            <a:ext cx="253746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74"/>
              </a:lnSpc>
              <a:spcAft>
                <a:spcPts val="0"/>
              </a:spcAft>
              <a:defRPr sz="2039" b="1">
                <a:solidFill>
                  <a:srgbClr val="20273D"/>
                </a:solidFill>
                <a:latin typeface="Microsoft YaHei"/>
              </a:defRPr>
            </a:pPr>
            <a:r>
              <a:t>接入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3040" y="4701540"/>
            <a:ext cx="257556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657087"/>
                </a:solidFill>
                <a:latin typeface="Microsoft YaHei"/>
              </a:defRPr>
            </a:pPr>
            <a:r>
              <a:t>根据真实反馈完善流程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0540" y="5646420"/>
            <a:ext cx="11148060" cy="472440"/>
          </a:xfrm>
          <a:prstGeom prst="roundRect">
            <a:avLst>
              <a:gd name="adj" fmla="val 8000"/>
            </a:avLst>
          </a:prstGeom>
          <a:solidFill>
            <a:srgbClr val="151B32"/>
          </a:solidFill>
          <a:ln>
            <a:solidFill>
              <a:srgbClr val="151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0560" y="5768340"/>
            <a:ext cx="107442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FFFFFF"/>
                </a:solidFill>
                <a:latin typeface="Microsoft YaHei"/>
              </a:defRPr>
            </a:pPr>
            <a:r>
              <a:t>预期价值：减少来源追问与素材核对成本；量化收益以试用结果为准。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680" y="6545580"/>
            <a:ext cx="10439400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657087"/>
                </a:solidFill>
                <a:latin typeface="Microsoft YaHei"/>
              </a:defRPr>
            </a:pPr>
            <a:r>
              <a:t>试用计划 · 未声称已有商户合作、上线规模或商业收益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25200" y="6522720"/>
            <a:ext cx="609600" cy="2286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0">
                <a:solidFill>
                  <a:srgbClr val="8768E8"/>
                </a:solidFill>
                <a:latin typeface="Microsoft Ya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B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74320"/>
            <a:ext cx="7620000" cy="2731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50"/>
              </a:lnSpc>
              <a:spcAft>
                <a:spcPts val="0"/>
              </a:spcAft>
              <a:defRPr sz="1140" b="0">
                <a:solidFill>
                  <a:srgbClr val="C0C4D4"/>
                </a:solidFill>
                <a:latin typeface="Microsoft YaHei"/>
              </a:defRPr>
            </a:pPr>
            <a:r>
              <a:t>图溯  /  AIGC电商素材可信流转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815340"/>
            <a:ext cx="11049000" cy="28346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1">
                <a:solidFill>
                  <a:srgbClr val="8768E8"/>
                </a:solidFill>
                <a:latin typeface="Microsoft YaHei"/>
              </a:defRPr>
            </a:pPr>
            <a:r>
              <a:t>15 / 总结与下一步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1173480"/>
            <a:ext cx="11277600" cy="5839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98"/>
              </a:lnSpc>
              <a:spcAft>
                <a:spcPts val="0"/>
              </a:spcAft>
              <a:defRPr sz="2940" b="1">
                <a:solidFill>
                  <a:srgbClr val="FFFFFF"/>
                </a:solidFill>
                <a:latin typeface="Microsoft YaHei"/>
              </a:defRPr>
            </a:pPr>
            <a:r>
              <a:t>让营销素材传播后，仍有可核验的来源线索</a:t>
            </a:r>
          </a:p>
        </p:txBody>
      </p:sp>
      <p:sp>
        <p:nvSpPr>
          <p:cNvPr id="5" name="Oval 4"/>
          <p:cNvSpPr/>
          <p:nvPr/>
        </p:nvSpPr>
        <p:spPr>
          <a:xfrm>
            <a:off x="8305800" y="1920240"/>
            <a:ext cx="2895600" cy="2895600"/>
          </a:xfrm>
          <a:prstGeom prst="ellipse">
            <a:avLst/>
          </a:prstGeom>
          <a:noFill/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19260" y="1920240"/>
            <a:ext cx="868680" cy="2895600"/>
          </a:xfrm>
          <a:prstGeom prst="ellipse">
            <a:avLst/>
          </a:prstGeom>
          <a:noFill/>
          <a:ln>
            <a:solidFill>
              <a:srgbClr val="B6A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05800" y="2933700"/>
            <a:ext cx="2895600" cy="868680"/>
          </a:xfrm>
          <a:prstGeom prst="ellipse">
            <a:avLst/>
          </a:prstGeom>
          <a:noFill/>
          <a:ln>
            <a:solidFill>
              <a:srgbClr val="B6A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84920" y="1920240"/>
            <a:ext cx="1737360" cy="2895600"/>
          </a:xfrm>
          <a:prstGeom prst="ellipse">
            <a:avLst/>
          </a:prstGeom>
          <a:noFill/>
          <a:ln>
            <a:solidFill>
              <a:srgbClr val="B6A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05800" y="2499360"/>
            <a:ext cx="2895600" cy="1737360"/>
          </a:xfrm>
          <a:prstGeom prst="ellipse">
            <a:avLst/>
          </a:prstGeom>
          <a:noFill/>
          <a:ln>
            <a:solidFill>
              <a:srgbClr val="B6A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22970" y="1920240"/>
            <a:ext cx="2461260" cy="2895600"/>
          </a:xfrm>
          <a:prstGeom prst="ellipse">
            <a:avLst/>
          </a:prstGeom>
          <a:noFill/>
          <a:ln>
            <a:solidFill>
              <a:srgbClr val="B6A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05800" y="2137410"/>
            <a:ext cx="2895600" cy="2461260"/>
          </a:xfrm>
          <a:prstGeom prst="ellipse">
            <a:avLst/>
          </a:prstGeom>
          <a:noFill/>
          <a:ln>
            <a:solidFill>
              <a:srgbClr val="B6A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34497" y="3337560"/>
            <a:ext cx="60960" cy="60960"/>
          </a:xfrm>
          <a:prstGeom prst="ellipse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53147" y="3584858"/>
            <a:ext cx="60960" cy="60960"/>
          </a:xfrm>
          <a:prstGeom prst="ellipse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64476" y="2866717"/>
            <a:ext cx="60960" cy="60960"/>
          </a:xfrm>
          <a:prstGeom prst="ellipse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63342" y="3781421"/>
            <a:ext cx="60960" cy="60960"/>
          </a:xfrm>
          <a:prstGeom prst="ellipse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098696" y="3227013"/>
            <a:ext cx="60960" cy="60960"/>
          </a:xfrm>
          <a:prstGeom prst="ellipse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14712" y="2961389"/>
            <a:ext cx="60960" cy="60960"/>
          </a:xfrm>
          <a:prstGeom prst="ellipse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25104" y="4073519"/>
            <a:ext cx="60960" cy="60960"/>
          </a:xfrm>
          <a:prstGeom prst="ellipse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45979" y="2610942"/>
            <a:ext cx="60960" cy="60960"/>
          </a:xfrm>
          <a:prstGeom prst="ellipse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41681" y="3636770"/>
            <a:ext cx="60960" cy="60960"/>
          </a:xfrm>
          <a:prstGeom prst="ellipse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71335" y="3688834"/>
            <a:ext cx="60960" cy="60960"/>
          </a:xfrm>
          <a:prstGeom prst="ellipse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34002" y="2460367"/>
            <a:ext cx="60960" cy="60960"/>
          </a:xfrm>
          <a:prstGeom prst="ellipse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26122" y="4304949"/>
            <a:ext cx="60960" cy="60960"/>
          </a:xfrm>
          <a:prstGeom prst="ellipse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808921" y="2807224"/>
            <a:ext cx="60960" cy="60960"/>
          </a:xfrm>
          <a:prstGeom prst="ellipse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795965" y="3102235"/>
            <a:ext cx="60960" cy="60960"/>
          </a:xfrm>
          <a:prstGeom prst="ellipse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67968" y="4268426"/>
            <a:ext cx="60960" cy="60960"/>
          </a:xfrm>
          <a:prstGeom prst="ellipse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72519" y="2170333"/>
            <a:ext cx="60960" cy="60960"/>
          </a:xfrm>
          <a:prstGeom prst="ellipse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651151" y="4120640"/>
            <a:ext cx="60960" cy="60960"/>
          </a:xfrm>
          <a:prstGeom prst="ellipse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473628" y="3388448"/>
            <a:ext cx="60960" cy="60960"/>
          </a:xfrm>
          <a:prstGeom prst="ellipse">
            <a:avLst/>
          </a:prstGeom>
          <a:solidFill>
            <a:srgbClr val="8768E8"/>
          </a:solidFill>
          <a:ln>
            <a:solidFill>
              <a:srgbClr val="87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1500" y="2438400"/>
            <a:ext cx="762000" cy="62544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4324"/>
              </a:lnSpc>
              <a:spcAft>
                <a:spcPts val="0"/>
              </a:spcAft>
              <a:defRPr sz="3179" b="1">
                <a:solidFill>
                  <a:srgbClr val="8768E8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69720" y="2453640"/>
            <a:ext cx="6134100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529"/>
              </a:lnSpc>
              <a:spcAft>
                <a:spcPts val="0"/>
              </a:spcAft>
              <a:defRPr sz="1859" b="1">
                <a:solidFill>
                  <a:srgbClr val="FFFFFF"/>
                </a:solidFill>
                <a:latin typeface="Microsoft YaHei"/>
              </a:defRPr>
            </a:pPr>
            <a:r>
              <a:t>方法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7340" y="2903220"/>
            <a:ext cx="61341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C0C4D4"/>
                </a:solidFill>
                <a:latin typeface="Microsoft YaHei"/>
              </a:defRPr>
            </a:pPr>
            <a:r>
              <a:t>采用球形水印的生成与恢复框架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" y="3581400"/>
            <a:ext cx="762000" cy="62544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4324"/>
              </a:lnSpc>
              <a:spcAft>
                <a:spcPts val="0"/>
              </a:spcAft>
              <a:defRPr sz="3179" b="1">
                <a:solidFill>
                  <a:srgbClr val="8768E8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69720" y="3596640"/>
            <a:ext cx="6134100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529"/>
              </a:lnSpc>
              <a:spcAft>
                <a:spcPts val="0"/>
              </a:spcAft>
              <a:defRPr sz="1859" b="1">
                <a:solidFill>
                  <a:srgbClr val="FFFFFF"/>
                </a:solidFill>
                <a:latin typeface="Microsoft YaHei"/>
              </a:defRPr>
            </a:pPr>
            <a:r>
              <a:t>闭环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7340" y="4046220"/>
            <a:ext cx="61341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C0C4D4"/>
                </a:solidFill>
                <a:latin typeface="Microsoft YaHei"/>
              </a:defRPr>
            </a:pPr>
            <a:r>
              <a:t>匿名登记、素材交付与收到图片后的查找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4724400"/>
            <a:ext cx="762000" cy="62544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4324"/>
              </a:lnSpc>
              <a:spcAft>
                <a:spcPts val="0"/>
              </a:spcAft>
              <a:defRPr sz="3179" b="1">
                <a:solidFill>
                  <a:srgbClr val="8768E8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69720" y="4739640"/>
            <a:ext cx="6134100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529"/>
              </a:lnSpc>
              <a:spcAft>
                <a:spcPts val="0"/>
              </a:spcAft>
              <a:defRPr sz="1859" b="1">
                <a:solidFill>
                  <a:srgbClr val="FFFFFF"/>
                </a:solidFill>
                <a:latin typeface="Microsoft YaHei"/>
              </a:defRPr>
            </a:pPr>
            <a:r>
              <a:t>下一步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77340" y="5189220"/>
            <a:ext cx="61341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C0C4D4"/>
                </a:solidFill>
                <a:latin typeface="Microsoft YaHei"/>
              </a:defRPr>
            </a:pPr>
            <a:r>
              <a:t>模型接通 → 统一评测 → 用户任务试用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7680" y="6545580"/>
            <a:ext cx="10439400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0C4D4"/>
                </a:solidFill>
                <a:latin typeface="Microsoft YaHei"/>
              </a:defRPr>
            </a:pPr>
            <a:r>
              <a:t>参考：Hu et al., Spherical Watermark, ICLR 2026 · https://github.com/HXX5656/SphericalWatermark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25200" y="6522720"/>
            <a:ext cx="609600" cy="2286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0">
                <a:solidFill>
                  <a:srgbClr val="8768E8"/>
                </a:solidFill>
                <a:latin typeface="Microsoft Ya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