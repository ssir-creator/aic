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开场：图溯面向数字图像可信传播，围绕来源认证、溯源和知识产权保护提供可核验的身份线索。底层技术采用球形水印研究方法。整体应用架构为本项目方案，不将研究方法表述为团队原创。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先从数字图像的广泛价值讲起，不以电商或AIGC限定整个问题。左侧是创作，传播使图像进入多种使用任务，右侧这些任务都依赖一定的来源、署名或授权信息。无市场规模数字。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本页使用程序绘制的原创营销设计样张作为情境道具，不是AI生成照片、不是实测传播案例。演示附带说明与图片分离，并不表示一切转发都会剥离元数据。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AIGC是放大问题和提供生成式水印落点的技术入口，不是将所有隐私、侵权问题归因于AI。扩散模型可以高质量生成图像，技术认证可辅助确定生成系统或预设身份，不保证事实真实。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认证核验标识匹配，溯源关联登记记录，权益保护以这些线索辅助署名授权核对。水印不是自动法律确权，也不是检测所有AI图像。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此页为定性任务对比。可见署名、元数据、相似检索、隐形水印各有用途，并不宣称已有水印登记应用不存在。图溯的差异化需在同一用户任务中验证。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电商仅为首个验证点，问题背景不限电商。情境：设计方制作新品图，品牌交付代运营或合作方，再次收到图的运营人员需要找回登记来源并核对使用材料。不是已有真实试点案例。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用户需求为基于任务的需求假设，尚非完成访谈的统计结论。拟访谈创作者、运营、审核人员，追问最近一次交付、来源追问过程和画质底线；观察对比人工追问与系统来源查找。不得虚构问卷百分比。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图溯应用框架图为本项目设计。算法层采用球形水印，登记层与交互层为应用设计。该框架描述目标主路线；现有原型后处理水印路径不能自动视为球形水印生成模型已接通。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选型依据论文方法特性，而非保证其在当前样本绝对最佳。生成先验适配、质量扰动与恢复能力要分别验证。无额外训练不等于无计算成本，提取仍有反演开销。</a:t>
            </a:r>
          </a:p>
          <a:p>
            <a:r>
              <a:t>来源及说明：方法依据：Hu et al., Spherical Watermark, ICLR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Figure1(b)：重复水印及随机填充，经GF(2)可逆混合T，映射到单位球面，施加正交旋转C，再以卡方随机半径缩放。签名K=(T,C)固定且保密。归一化与半径选择依据论文构造与假设，不能夸大为像素无损或无限不可检测。</a:t>
            </a:r>
          </a:p>
          <a:p>
            <a:r>
              <a:t>来源及说明：原图：Spherical Watermark Figure1(b)，PDF第3页；核心方法采用原论文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论文提取先VAE编码和近似扩散反演，再对C施逆变换、量化、T逆映射，并多数投票恢复重复消息。应用层以匿名编号关联登记；无有效匹配、冲突或错误时分流，不把失败当无版权。</a:t>
            </a:r>
          </a:p>
          <a:p>
            <a:r>
              <a:t>来源及说明：上图：Figure1(a)；下方为图溯核验任务设计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底层球形水印算法来自论文，不归为本项目原创。场景创新为主动身份标记与收到图片后的来源查找衔接；应用差异化仍须调研与对比任务支撑。技术难点包括反演恢复、误检、签名管理、登记安全与异常状态。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截图来自本次真实运行的现有网页原型。左侧演示可见署名，右侧演示内置轻量水印的实际来源查询；均不是球形水印模型运行截图。示例图片为自绘营销设计样张。此页讲交互，不报告论文模型效果。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拟固定提示词、模型、采样步数和分辨率管理。条件包括原始图、JPEG90/JPEG50、缩放50%、中心裁剪70%，并纳入无水印负样本和错误签名。指标报告实际定义及样本数，避免检测TPR与比特准确率混用。访谈与小规模用户任务均未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2026-10-15在/workspace/AIC执行python -m unittest -v，13项工作流测试通过，部分模型链路使用夹具，不能表述为球形水印GPU性能验证。右侧Figure5数据归原论文，不是项目实测。主要观察压缩、裁剪、噪声等条件与恢复变化，不能从图中编造项目提升百分比。</a:t>
            </a:r>
          </a:p>
          <a:p>
            <a:r>
              <a:t>来源及说明：右图：球形水印原论文Figure5。项目GPU同配置评测与用户任务数据尚未取得，详见备注。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先选择自有或授权素材，拟邀设计或运营使用者，执行交付与来源查找。比较人工追问和系统核验的任务耗时、正确判断与无法确认。未来拓展场景为计划，不声称已有部署客户、专利、营收或市场份额。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结语回扣大背景、核心矛盾和场景方案。当前方案以生成式水印技术为基础，将匿名登记与传播后核验连接起来。未来改善反演稳定性、误检控制、抗重绘与隐私保护。参考文献：Hu et al. Spherical Watermark: Encryption-Free, Lossless Watermarking for Diffusion Models. ICLR2026；相关Tree-Ring、Gaussian Shading、PRC等背景文献。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项目概述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图溯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087880"/>
            <a:ext cx="6934200" cy="12161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488"/>
              </a:lnSpc>
              <a:spcAft>
                <a:spcPts val="0"/>
              </a:spcAft>
              <a:defRPr sz="3300" b="1">
                <a:solidFill>
                  <a:srgbClr val="F3FBF8"/>
                </a:solidFill>
                <a:latin typeface="Microsoft YaHei"/>
              </a:defRPr>
            </a:pPr>
            <a:r>
              <a:t>面向数字图像可信传播的</a:t>
            </a:r>
          </a:p>
          <a:p>
            <a:pPr>
              <a:lnSpc>
                <a:spcPts val="4488"/>
              </a:lnSpc>
              <a:spcAft>
                <a:spcPts val="0"/>
              </a:spcAft>
              <a:defRPr sz="3300" b="1">
                <a:solidFill>
                  <a:srgbClr val="F3FBF8"/>
                </a:solidFill>
                <a:latin typeface="Microsoft YaHei"/>
              </a:defRPr>
            </a:pPr>
            <a:r>
              <a:t>来源认证与溯源方案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80" y="3550920"/>
            <a:ext cx="65532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0">
                <a:solidFill>
                  <a:srgbClr val="B0C8BF"/>
                </a:solidFill>
                <a:latin typeface="Microsoft YaHei"/>
              </a:defRPr>
            </a:pPr>
            <a:r>
              <a:t>让图片传播之后，来源仍有迹可循。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3880" y="4351020"/>
            <a:ext cx="1333500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60" y="4396740"/>
            <a:ext cx="1120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来源认证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4351020"/>
            <a:ext cx="1333500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1220" y="4396740"/>
            <a:ext cx="1120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可信溯源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5200" y="4351020"/>
            <a:ext cx="1333500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4396740"/>
            <a:ext cx="1120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权益线索</a:t>
            </a:r>
          </a:p>
        </p:txBody>
      </p:sp>
      <p:sp>
        <p:nvSpPr>
          <p:cNvPr id="15" name="Oval 14"/>
          <p:cNvSpPr/>
          <p:nvPr/>
        </p:nvSpPr>
        <p:spPr>
          <a:xfrm>
            <a:off x="8199120" y="1996439"/>
            <a:ext cx="2651760" cy="2651760"/>
          </a:xfrm>
          <a:prstGeom prst="ellipse">
            <a:avLst/>
          </a:prstGeom>
          <a:noFill/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27235" y="1996439"/>
            <a:ext cx="795527" cy="2651760"/>
          </a:xfrm>
          <a:prstGeom prst="ellipse">
            <a:avLst/>
          </a:prstGeom>
          <a:noFill/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02954" y="1996439"/>
            <a:ext cx="1644091" cy="2651760"/>
          </a:xfrm>
          <a:prstGeom prst="ellipse">
            <a:avLst/>
          </a:prstGeom>
          <a:noFill/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99120" y="2924556"/>
            <a:ext cx="2651760" cy="795527"/>
          </a:xfrm>
          <a:prstGeom prst="ellipse">
            <a:avLst/>
          </a:prstGeom>
          <a:noFill/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99120" y="2500274"/>
            <a:ext cx="2651760" cy="1644091"/>
          </a:xfrm>
          <a:prstGeom prst="ellipse">
            <a:avLst/>
          </a:prstGeom>
          <a:noFill/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001000" y="4991100"/>
            <a:ext cx="3048000" cy="0"/>
          </a:xfrm>
          <a:prstGeom prst="line">
            <a:avLst/>
          </a:prstGeom>
          <a:ln w="1524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15300" y="521208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76DFC0"/>
                </a:solidFill>
                <a:latin typeface="Microsoft YaHei"/>
              </a:defRPr>
            </a:pPr>
            <a:r>
              <a:t>生成身份  →  传播核验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AI＋场景创新 · 以可核验身份连接创作、传播与使用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大背景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图像不仅传递信息，也承载创意、品牌与资产价值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2712720"/>
            <a:ext cx="2087880" cy="13258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2842260"/>
            <a:ext cx="178308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图像创作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3246120"/>
            <a:ext cx="1783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摄影／设计／生成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97480" y="3291840"/>
            <a:ext cx="57150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91939" y="2423160"/>
            <a:ext cx="1905000" cy="1905000"/>
          </a:xfrm>
          <a:prstGeom prst="ellipse">
            <a:avLst/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6260" y="3032760"/>
            <a:ext cx="1600200" cy="4907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264"/>
              </a:lnSpc>
              <a:spcAft>
                <a:spcPts val="0"/>
              </a:spcAft>
              <a:defRPr sz="2400" b="1">
                <a:solidFill>
                  <a:srgbClr val="F3FBF8"/>
                </a:solidFill>
                <a:latin typeface="Microsoft YaHei"/>
              </a:defRPr>
            </a:pPr>
            <a:r>
              <a:t>数字图像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7220" y="3528060"/>
            <a:ext cx="1447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B0C8BF"/>
                </a:solidFill>
                <a:latin typeface="Microsoft YaHei"/>
              </a:defRPr>
            </a:pPr>
            <a:r>
              <a:t>可复制 · 易流转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103620" y="2392680"/>
            <a:ext cx="1516380" cy="982980"/>
          </a:xfrm>
          <a:prstGeom prst="line">
            <a:avLst/>
          </a:prstGeom>
          <a:ln w="1524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20000" y="1950720"/>
            <a:ext cx="4061460" cy="96012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080260"/>
            <a:ext cx="375666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内容传播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484120"/>
            <a:ext cx="37566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新闻、社交与知识交流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03620" y="3375660"/>
            <a:ext cx="1516380" cy="297180"/>
          </a:xfrm>
          <a:prstGeom prst="line">
            <a:avLst/>
          </a:prstGeom>
          <a:ln w="1524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20000" y="3230880"/>
            <a:ext cx="4061460" cy="96012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360420"/>
            <a:ext cx="375666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创意表达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764279"/>
            <a:ext cx="37566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设计、艺术与数字文创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03620" y="3375660"/>
            <a:ext cx="1516380" cy="1577340"/>
          </a:xfrm>
          <a:prstGeom prst="line">
            <a:avLst/>
          </a:prstGeom>
          <a:ln w="1524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20000" y="4511040"/>
            <a:ext cx="4061460" cy="96012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640580"/>
            <a:ext cx="375666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商业使用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044440"/>
            <a:ext cx="37566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品牌营销与素材交付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" y="4998720"/>
            <a:ext cx="5257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76DFC0"/>
                </a:solidFill>
                <a:latin typeface="Microsoft YaHei"/>
              </a:defRPr>
            </a:pPr>
            <a:r>
              <a:t>价值依赖使用，使用需要可信线索。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来源身份，是图像价值被可靠使用的重要基础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核心矛盾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画面可以完整保留，来源说明却可能在传播中脱落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63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381250"/>
            <a:ext cx="1691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0580" y="4061460"/>
            <a:ext cx="1920240" cy="335280"/>
          </a:xfrm>
          <a:prstGeom prst="roundRect">
            <a:avLst>
              <a:gd name="adj" fmla="val 8000"/>
            </a:avLst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6780" y="4107179"/>
            <a:ext cx="176784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061F1B"/>
                </a:solidFill>
                <a:latin typeface="Microsoft YaHei"/>
              </a:defRPr>
            </a:pPr>
            <a:r>
              <a:t>来源：拾光设计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BF8"/>
                </a:solidFill>
                <a:latin typeface="Microsoft YaHei"/>
              </a:defRPr>
            </a:pPr>
            <a:r>
              <a:t>创作者交付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B0C8BF"/>
                </a:solidFill>
                <a:latin typeface="Microsoft YaHei"/>
              </a:defRPr>
            </a:pPr>
            <a:r>
              <a:t>图片＋署名＋使用说明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580" y="2381250"/>
            <a:ext cx="169164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482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BF8"/>
                </a:solidFill>
                <a:latin typeface="Microsoft YaHei"/>
              </a:defRPr>
            </a:pPr>
            <a:r>
              <a:t>群聊／平台转发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B0C8BF"/>
                </a:solidFill>
                <a:latin typeface="Microsoft YaHei"/>
              </a:defRPr>
            </a:pPr>
            <a:r>
              <a:t>图片被另存、改名或编辑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97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381250"/>
            <a:ext cx="1691640" cy="1691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249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BF8"/>
                </a:solidFill>
                <a:latin typeface="Microsoft YaHei"/>
              </a:defRPr>
            </a:pPr>
            <a:r>
              <a:t>再次收到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49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B0C8BF"/>
                </a:solidFill>
                <a:latin typeface="Microsoft YaHei"/>
              </a:defRPr>
            </a:pPr>
            <a:r>
              <a:t>可见内容，难核对来处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223260" y="3154680"/>
            <a:ext cx="91440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261860" y="3154680"/>
            <a:ext cx="91440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24400" y="1714500"/>
            <a:ext cx="2286000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31080" y="1760220"/>
            <a:ext cx="20726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来源说明未随图保留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需要让可核验的身份线索进入图像本身，而非只依赖附件说明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技术趋势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AIGC让图像更易生产，也让“凭外观看来源”更困难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34540"/>
            <a:ext cx="4876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76DFC0"/>
                </a:solidFill>
                <a:latin typeface="Microsoft YaHei"/>
              </a:defRPr>
            </a:pPr>
            <a:r>
              <a:t>生产端：从专业工具走向自然语言生成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697480"/>
            <a:ext cx="2209800" cy="115062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827020"/>
            <a:ext cx="1905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描述需求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30880"/>
            <a:ext cx="19050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主体／背景／光线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33700" y="3169920"/>
            <a:ext cx="44196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82340" y="2697480"/>
            <a:ext cx="2171700" cy="115062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4740" y="2827020"/>
            <a:ext cx="1866899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生成模型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4740" y="3230880"/>
            <a:ext cx="1866899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可规模化生成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56960" y="2019300"/>
            <a:ext cx="0" cy="3429000"/>
          </a:xfrm>
          <a:prstGeom prst="line">
            <a:avLst/>
          </a:prstGeom>
          <a:ln w="1524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28460" y="2034540"/>
            <a:ext cx="4953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76DFC0"/>
                </a:solidFill>
                <a:latin typeface="Microsoft YaHei"/>
              </a:defRPr>
            </a:pPr>
            <a:r>
              <a:t>核验端：外观逼真不代表身份清楚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51320" y="2758440"/>
            <a:ext cx="0" cy="655320"/>
          </a:xfrm>
          <a:prstGeom prst="line">
            <a:avLst/>
          </a:prstGeom>
          <a:ln w="3048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11340" y="2720340"/>
            <a:ext cx="4716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BF8"/>
                </a:solidFill>
                <a:latin typeface="Microsoft YaHei"/>
              </a:defRPr>
            </a:pPr>
            <a:r>
              <a:t>视觉判断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1340" y="3063240"/>
            <a:ext cx="4716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看起来像照片，不能说明生成来源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51320" y="3771900"/>
            <a:ext cx="0" cy="655320"/>
          </a:xfrm>
          <a:prstGeom prst="line">
            <a:avLst/>
          </a:prstGeom>
          <a:ln w="3048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11340" y="3733799"/>
            <a:ext cx="4716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BF8"/>
                </a:solidFill>
                <a:latin typeface="Microsoft YaHei"/>
              </a:defRPr>
            </a:pPr>
            <a:r>
              <a:t>身份归因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1340" y="4076699"/>
            <a:ext cx="4716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需要可验证的标识和匹配规则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51320" y="4785360"/>
            <a:ext cx="0" cy="655320"/>
          </a:xfrm>
          <a:prstGeom prst="line">
            <a:avLst/>
          </a:prstGeom>
          <a:ln w="3048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11340" y="4747260"/>
            <a:ext cx="4716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BF8"/>
                </a:solidFill>
                <a:latin typeface="Microsoft YaHei"/>
              </a:defRPr>
            </a:pPr>
            <a:r>
              <a:t>使用决策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1340" y="5090160"/>
            <a:ext cx="4716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还需核对登记声明与授权材料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02480"/>
            <a:ext cx="4953000" cy="7394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BF8"/>
                </a:solidFill>
                <a:latin typeface="Microsoft YaHei"/>
              </a:defRPr>
            </a:pPr>
            <a:r>
              <a:t>能力提升  →  内容增多</a:t>
            </a:r>
          </a:p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BF8"/>
                </a:solidFill>
                <a:latin typeface="Microsoft YaHei"/>
              </a:defRPr>
            </a:pPr>
            <a:r>
              <a:t>来源核验需要主动标记机制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选择生成式水印，是因为它能在内容生成时建立身份线索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需求定义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认证、溯源与权益保护，需要衔接，但不能相互替代</a:t>
            </a:r>
          </a:p>
        </p:txBody>
      </p:sp>
      <p:sp>
        <p:nvSpPr>
          <p:cNvPr id="7" name="Oval 6"/>
          <p:cNvSpPr/>
          <p:nvPr/>
        </p:nvSpPr>
        <p:spPr>
          <a:xfrm>
            <a:off x="1501140" y="2042160"/>
            <a:ext cx="1249680" cy="1249680"/>
          </a:xfrm>
          <a:prstGeom prst="ellipse">
            <a:avLst/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2339340"/>
            <a:ext cx="914400" cy="7290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140"/>
              </a:lnSpc>
              <a:spcAft>
                <a:spcPts val="0"/>
              </a:spcAft>
              <a:defRPr sz="3779" b="1">
                <a:solidFill>
                  <a:srgbClr val="76DFC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80" y="3596640"/>
            <a:ext cx="3124200" cy="4492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937"/>
              </a:lnSpc>
              <a:spcAft>
                <a:spcPts val="0"/>
              </a:spcAft>
              <a:defRPr sz="2160" b="1">
                <a:solidFill>
                  <a:srgbClr val="F3FBF8"/>
                </a:solidFill>
                <a:latin typeface="Microsoft YaHei"/>
              </a:defRPr>
            </a:pPr>
            <a:r>
              <a:t>来源认证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80" y="4091939"/>
            <a:ext cx="3124200" cy="65653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B0C8BF"/>
                </a:solidFill>
                <a:latin typeface="Microsoft YaHei"/>
              </a:defRPr>
            </a:pPr>
            <a:r>
              <a:t>这张图是否带有</a:t>
            </a:r>
          </a:p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B0C8BF"/>
                </a:solidFill>
                <a:latin typeface="Microsoft YaHei"/>
              </a:defRPr>
            </a:pPr>
            <a:r>
              <a:t>匹配的身份标识？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0560" y="5067300"/>
            <a:ext cx="3124200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13020"/>
            <a:ext cx="2910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输出：匹配／无法确认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7140" y="2598420"/>
            <a:ext cx="495299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87340" y="2042160"/>
            <a:ext cx="1249680" cy="1249680"/>
          </a:xfrm>
          <a:prstGeom prst="ellipse">
            <a:avLst/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339340"/>
            <a:ext cx="914400" cy="7290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140"/>
              </a:lnSpc>
              <a:spcAft>
                <a:spcPts val="0"/>
              </a:spcAft>
              <a:defRPr sz="3779" b="1">
                <a:solidFill>
                  <a:srgbClr val="76DFC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2480" y="3596640"/>
            <a:ext cx="3124200" cy="4492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937"/>
              </a:lnSpc>
              <a:spcAft>
                <a:spcPts val="0"/>
              </a:spcAft>
              <a:defRPr sz="2160" b="1">
                <a:solidFill>
                  <a:srgbClr val="F3FBF8"/>
                </a:solidFill>
                <a:latin typeface="Microsoft YaHei"/>
              </a:defRPr>
            </a:pPr>
            <a:r>
              <a:t>可信溯源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2480" y="4091939"/>
            <a:ext cx="3124200" cy="65653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B0C8BF"/>
                </a:solidFill>
                <a:latin typeface="Microsoft YaHei"/>
              </a:defRPr>
            </a:pPr>
            <a:r>
              <a:t>恢复的编号关联到</a:t>
            </a:r>
          </a:p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B0C8BF"/>
                </a:solidFill>
                <a:latin typeface="Microsoft YaHei"/>
              </a:defRPr>
            </a:pPr>
            <a:r>
              <a:t>哪条来源登记？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6760" y="5067300"/>
            <a:ext cx="3124200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113020"/>
            <a:ext cx="2910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输出：登记与历史线索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673340" y="2598420"/>
            <a:ext cx="495299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73540" y="2042160"/>
            <a:ext cx="1249680" cy="1249680"/>
          </a:xfrm>
          <a:prstGeom prst="ellipse">
            <a:avLst/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339340"/>
            <a:ext cx="914400" cy="72908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140"/>
              </a:lnSpc>
              <a:spcAft>
                <a:spcPts val="0"/>
              </a:spcAft>
              <a:defRPr sz="3779" b="1">
                <a:solidFill>
                  <a:srgbClr val="76DFC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8680" y="3596640"/>
            <a:ext cx="3124200" cy="4492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937"/>
              </a:lnSpc>
              <a:spcAft>
                <a:spcPts val="0"/>
              </a:spcAft>
              <a:defRPr sz="2160" b="1">
                <a:solidFill>
                  <a:srgbClr val="F3FBF8"/>
                </a:solidFill>
                <a:latin typeface="Microsoft YaHei"/>
              </a:defRPr>
            </a:pPr>
            <a:r>
              <a:t>权益保护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8680" y="4091939"/>
            <a:ext cx="3124200" cy="65653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B0C8BF"/>
                </a:solidFill>
                <a:latin typeface="Microsoft YaHei"/>
              </a:defRPr>
            </a:pPr>
            <a:r>
              <a:t>相关材料是否支持</a:t>
            </a:r>
          </a:p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B0C8BF"/>
                </a:solidFill>
                <a:latin typeface="Microsoft YaHei"/>
              </a:defRPr>
            </a:pPr>
            <a:r>
              <a:t>署名和使用声明？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42960" y="5067300"/>
            <a:ext cx="3124200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5113020"/>
            <a:ext cx="2910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输出：辅助检查与复核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先核验身份，再关联来源，最后辅助判断使用依据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现有方案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单一保护方式，难以覆盖传播后的完整核验任务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87880"/>
            <a:ext cx="1905000" cy="41910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" y="217932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061F1B"/>
                </a:solidFill>
                <a:latin typeface="Microsoft YaHei"/>
              </a:defRPr>
            </a:pPr>
            <a:r>
              <a:t>现有方式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7460" y="2087880"/>
            <a:ext cx="3581400" cy="41910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9380" y="217932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061F1B"/>
                </a:solidFill>
                <a:latin typeface="Microsoft YaHei"/>
              </a:defRPr>
            </a:pPr>
            <a:r>
              <a:t>能够解决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8400" y="2087880"/>
            <a:ext cx="5448300" cy="41910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320" y="217932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061F1B"/>
                </a:solidFill>
                <a:latin typeface="Microsoft YaHei"/>
              </a:defRPr>
            </a:pPr>
            <a:r>
              <a:t>传播后仍存在的缺口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299" y="2514600"/>
            <a:ext cx="1905000" cy="70866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" y="268224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可见署名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37460" y="2514600"/>
            <a:ext cx="3581400" cy="70866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9380" y="268224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直接展示作者或品牌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2514600"/>
            <a:ext cx="5448300" cy="70866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320" y="268224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可能被覆盖或裁掉，也会占用画面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299" y="3246120"/>
            <a:ext cx="1905000" cy="708660"/>
          </a:xfrm>
          <a:prstGeom prst="rect">
            <a:avLst/>
          </a:prstGeom>
          <a:solidFill>
            <a:srgbClr val="061F1B"/>
          </a:solidFill>
          <a:ln>
            <a:solidFill>
              <a:srgbClr val="061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" y="341376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元数据／文件名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37460" y="3246120"/>
            <a:ext cx="3581400" cy="708660"/>
          </a:xfrm>
          <a:prstGeom prst="rect">
            <a:avLst/>
          </a:prstGeom>
          <a:solidFill>
            <a:srgbClr val="061F1B"/>
          </a:solidFill>
          <a:ln>
            <a:solidFill>
              <a:srgbClr val="061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9380" y="341376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保存创建与来源说明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8400" y="3246120"/>
            <a:ext cx="5448300" cy="708660"/>
          </a:xfrm>
          <a:prstGeom prst="rect">
            <a:avLst/>
          </a:prstGeom>
          <a:solidFill>
            <a:srgbClr val="061F1B"/>
          </a:solidFill>
          <a:ln>
            <a:solidFill>
              <a:srgbClr val="061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320" y="341376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信息可能在平台转发、改名时丢失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299" y="3977639"/>
            <a:ext cx="1905000" cy="70866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414528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相似图检索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37460" y="3977639"/>
            <a:ext cx="3581400" cy="70866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9380" y="414528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找到相似内容与候选作品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8400" y="3977639"/>
            <a:ext cx="5448300" cy="70866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0320" y="414528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相似不等于来源一致，更不等于有效授权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299" y="4709160"/>
            <a:ext cx="1905000" cy="708660"/>
          </a:xfrm>
          <a:prstGeom prst="rect">
            <a:avLst/>
          </a:prstGeom>
          <a:solidFill>
            <a:srgbClr val="061F1B"/>
          </a:solidFill>
          <a:ln>
            <a:solidFill>
              <a:srgbClr val="061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" y="487680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3FBF8"/>
                </a:solidFill>
                <a:latin typeface="Microsoft YaHei"/>
              </a:defRPr>
            </a:pPr>
            <a:r>
              <a:t>隐形水印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37460" y="4709160"/>
            <a:ext cx="3581400" cy="708660"/>
          </a:xfrm>
          <a:prstGeom prst="rect">
            <a:avLst/>
          </a:prstGeom>
          <a:solidFill>
            <a:srgbClr val="061F1B"/>
          </a:solidFill>
          <a:ln>
            <a:solidFill>
              <a:srgbClr val="061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9380" y="487680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3FBF8"/>
                </a:solidFill>
                <a:latin typeface="Microsoft YaHei"/>
              </a:defRPr>
            </a:pPr>
            <a:r>
              <a:t>在图像中保存可检测信号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8400" y="4709160"/>
            <a:ext cx="5448300" cy="708660"/>
          </a:xfrm>
          <a:prstGeom prst="rect">
            <a:avLst/>
          </a:prstGeom>
          <a:solidFill>
            <a:srgbClr val="061F1B"/>
          </a:solidFill>
          <a:ln>
            <a:solidFill>
              <a:srgbClr val="061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0320" y="487680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3FBF8"/>
                </a:solidFill>
                <a:latin typeface="Microsoft YaHei"/>
              </a:defRPr>
            </a:pPr>
            <a:r>
              <a:t>仍需登记关联、误检控制与失败复核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图溯的切入点：把图像中的标识与登记、核验和复核流程连接起来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验证场景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用一张电商营销图，贯穿生成、交付与再次核验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73580"/>
            <a:ext cx="3467100" cy="53340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BF8"/>
                </a:solidFill>
                <a:latin typeface="Microsoft YaHei"/>
              </a:defRPr>
            </a:pPr>
            <a:r>
              <a:t>品牌／设计方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54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895600"/>
            <a:ext cx="1539240" cy="1539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249680" y="4351020"/>
            <a:ext cx="1767840" cy="335280"/>
          </a:xfrm>
          <a:prstGeom prst="roundRect">
            <a:avLst>
              <a:gd name="adj" fmla="val 8000"/>
            </a:avLst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396740"/>
            <a:ext cx="161544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061F1B"/>
                </a:solidFill>
                <a:latin typeface="Microsoft YaHei"/>
              </a:defRPr>
            </a:pPr>
            <a:r>
              <a:t>作品编号：TS-001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B0C8BF"/>
                </a:solidFill>
                <a:latin typeface="Microsoft YaHei"/>
              </a:defRPr>
            </a:pPr>
            <a:r>
              <a:t>制作与交付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15740" y="3459480"/>
            <a:ext cx="28956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1500" y="1973580"/>
            <a:ext cx="3467100" cy="53340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39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BF8"/>
                </a:solidFill>
                <a:latin typeface="Microsoft YaHei"/>
              </a:defRPr>
            </a:pPr>
            <a:r>
              <a:t>合作／传播方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16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180" y="2895600"/>
            <a:ext cx="1539240" cy="1539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339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B0C8BF"/>
                </a:solidFill>
                <a:latin typeface="Microsoft YaHei"/>
              </a:defRPr>
            </a:pPr>
            <a:r>
              <a:t>接收与再次传播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01940" y="3459480"/>
            <a:ext cx="28956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7699" y="1973580"/>
            <a:ext cx="3467100" cy="53340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01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BF8"/>
                </a:solidFill>
                <a:latin typeface="Microsoft YaHei"/>
              </a:defRPr>
            </a:pPr>
            <a:r>
              <a:t>运营／审核方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78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emo-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380" y="2895600"/>
            <a:ext cx="1539240" cy="15392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201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B0C8BF"/>
                </a:solidFill>
                <a:latin typeface="Microsoft YaHei"/>
              </a:defRPr>
            </a:pPr>
            <a:r>
              <a:t>收到图片并决定使用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62900" y="5356860"/>
            <a:ext cx="3352800" cy="327660"/>
          </a:xfrm>
          <a:prstGeom prst="roundRect">
            <a:avLst>
              <a:gd name="adj" fmla="val 8000"/>
            </a:avLst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9579" y="5402580"/>
            <a:ext cx="31394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061F1B"/>
                </a:solidFill>
                <a:latin typeface="Microsoft YaHei"/>
              </a:defRPr>
            </a:pPr>
            <a:r>
              <a:t>上传收到的图 → 查找来源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用户不必知道图片经历过哪些处理，也能发起来源查找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需求分析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把用户的疑问，转化为可实现、可验收的系统要求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299" y="2004060"/>
            <a:ext cx="35052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76DFC0"/>
                </a:solidFill>
                <a:latin typeface="Microsoft YaHei"/>
              </a:defRPr>
            </a:pPr>
            <a:r>
              <a:t>用户疑问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4360" y="2004060"/>
            <a:ext cx="34671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76DFC0"/>
                </a:solidFill>
                <a:latin typeface="Microsoft YaHei"/>
              </a:defRPr>
            </a:pPr>
            <a:r>
              <a:t>系统要求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04060"/>
            <a:ext cx="34671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76DFC0"/>
                </a:solidFill>
                <a:latin typeface="Microsoft YaHei"/>
              </a:defRPr>
            </a:pPr>
            <a:r>
              <a:t>验收关注点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299" y="2552700"/>
            <a:ext cx="35052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69748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加标识会不会影响图片？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4360" y="2552700"/>
            <a:ext cx="34671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660" y="269748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生成保护＋前后对照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552700"/>
            <a:ext cx="34671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269748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视觉质量与局部细节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299" y="3261360"/>
            <a:ext cx="35052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340614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收到图片后怎么找到来源？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4360" y="3261360"/>
            <a:ext cx="34671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8660" y="340614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直接上传＋恢复编号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61360"/>
            <a:ext cx="34671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3900" y="340614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匹配正确率与无法确认率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299" y="3970020"/>
            <a:ext cx="35052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411480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这个结果能不能直接使用？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4360" y="3970020"/>
            <a:ext cx="34671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8660" y="411480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登记展示＋授权辅助检查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970020"/>
            <a:ext cx="34671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3900" y="411480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信息完整性与复核提示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299" y="4678680"/>
            <a:ext cx="35052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482346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图片太多，能否重复查阅？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4360" y="4678680"/>
            <a:ext cx="34671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8660" y="482346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素材与核验记录统一管理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678680"/>
            <a:ext cx="3467100" cy="60198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3900" y="482346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BF8"/>
                </a:solidFill>
                <a:latin typeface="Microsoft YaHei"/>
              </a:defRPr>
            </a:pPr>
            <a:r>
              <a:t>任务耗时与记录可追查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访谈与任务观察 → 需求优先级 → 功能设计 → 验收指标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总体方案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生成侧建立身份，接收侧恢复身份，登记层连接两端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1912620"/>
            <a:ext cx="1333500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980" y="1958340"/>
            <a:ext cx="1120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生成与交付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299" y="4709160"/>
            <a:ext cx="1333500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80" y="4754880"/>
            <a:ext cx="1120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接收与核验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3600" y="188976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019300"/>
            <a:ext cx="24003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用户描述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23160"/>
            <a:ext cx="24003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画面与制作需求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18760" y="188976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1160" y="2019300"/>
            <a:ext cx="24003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身份嵌入＋生成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1160" y="2423160"/>
            <a:ext cx="24003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匿名编号 → 潜在噪声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6360" y="188976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8760" y="2019300"/>
            <a:ext cx="24003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交付图片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8760" y="2423160"/>
            <a:ext cx="24003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下载并发布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22520" y="2362200"/>
            <a:ext cx="28956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8145780" y="2362200"/>
            <a:ext cx="69342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95800" y="3360420"/>
            <a:ext cx="4457700" cy="100584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8200" y="3489960"/>
            <a:ext cx="41529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匿名来源登记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8200" y="3893820"/>
            <a:ext cx="41529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作品编号／项目声明／署名／核验历史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67500" y="2987040"/>
            <a:ext cx="0" cy="373380"/>
          </a:xfrm>
          <a:prstGeom prst="line">
            <a:avLst/>
          </a:prstGeom>
          <a:ln w="1524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133600" y="467868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4808220"/>
            <a:ext cx="24003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收到图片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212080"/>
            <a:ext cx="24003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上传待核验图像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18760" y="467868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71160" y="4808220"/>
            <a:ext cx="24003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反演＋恢复消息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1160" y="5212080"/>
            <a:ext cx="24003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生成身份 → 匿名编号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6360" y="467868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8760" y="4808220"/>
            <a:ext cx="24003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显示来源线索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8760" y="5212080"/>
            <a:ext cx="24003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有效匹配／人工复核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922520" y="5173980"/>
            <a:ext cx="28956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8145780" y="5173980"/>
            <a:ext cx="69342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6667500" y="4366260"/>
            <a:ext cx="0" cy="312420"/>
          </a:xfrm>
          <a:prstGeom prst="line">
            <a:avLst/>
          </a:prstGeom>
          <a:ln w="1524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363200" y="2987040"/>
            <a:ext cx="0" cy="1691640"/>
          </a:xfrm>
          <a:prstGeom prst="line">
            <a:avLst/>
          </a:prstGeom>
          <a:ln w="22859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97340" y="3535680"/>
            <a:ext cx="2438400" cy="57363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B0C8BF"/>
                </a:solidFill>
                <a:latin typeface="Microsoft YaHei"/>
              </a:defRPr>
            </a:pPr>
            <a:r>
              <a:t>网络传播</a:t>
            </a:r>
          </a:p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B0C8BF"/>
                </a:solidFill>
                <a:latin typeface="Microsoft YaHei"/>
              </a:defRPr>
            </a:pPr>
            <a:r>
              <a:t>压缩／转发／编辑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从图像到登记的关联闭环，是方案的应用核心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技术选型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球形水印，适配“生成时标记、传播后核验”的需求</a:t>
            </a:r>
          </a:p>
        </p:txBody>
      </p:sp>
      <p:sp>
        <p:nvSpPr>
          <p:cNvPr id="7" name="Oval 6"/>
          <p:cNvSpPr/>
          <p:nvPr/>
        </p:nvSpPr>
        <p:spPr>
          <a:xfrm>
            <a:off x="5143500" y="2514600"/>
            <a:ext cx="1905000" cy="1905000"/>
          </a:xfrm>
          <a:prstGeom prst="ellipse">
            <a:avLst/>
          </a:prstGeom>
          <a:noFill/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10250" y="2514600"/>
            <a:ext cx="571500" cy="1905000"/>
          </a:xfrm>
          <a:prstGeom prst="ellipse">
            <a:avLst/>
          </a:prstGeom>
          <a:noFill/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450" y="2514600"/>
            <a:ext cx="1181100" cy="1905000"/>
          </a:xfrm>
          <a:prstGeom prst="ellipse">
            <a:avLst/>
          </a:prstGeom>
          <a:noFill/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43500" y="3181350"/>
            <a:ext cx="1905000" cy="571500"/>
          </a:xfrm>
          <a:prstGeom prst="ellipse">
            <a:avLst/>
          </a:prstGeom>
          <a:noFill/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43500" y="2876550"/>
            <a:ext cx="1905000" cy="1181100"/>
          </a:xfrm>
          <a:prstGeom prst="ellipse">
            <a:avLst/>
          </a:prstGeom>
          <a:noFill/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3060" y="3238500"/>
            <a:ext cx="14859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BF8"/>
                </a:solidFill>
                <a:latin typeface="Microsoft YaHei"/>
              </a:defRPr>
            </a:pPr>
            <a:r>
              <a:t>球形水印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2194560" y="2415540"/>
            <a:ext cx="3901440" cy="1051560"/>
          </a:xfrm>
          <a:prstGeom prst="line">
            <a:avLst/>
          </a:prstGeom>
          <a:ln w="1524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" y="1958340"/>
            <a:ext cx="3581400" cy="10591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760" y="2087880"/>
            <a:ext cx="32766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生成先验适配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" y="249174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将身份映射到扩散模型潜在噪声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96000" y="2415540"/>
            <a:ext cx="3505200" cy="1051560"/>
          </a:xfrm>
          <a:prstGeom prst="line">
            <a:avLst/>
          </a:prstGeom>
          <a:ln w="1524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01000" y="1958340"/>
            <a:ext cx="3581400" cy="10591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3399" y="2087880"/>
            <a:ext cx="32766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质量保护目标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3399" y="249174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兼顾标识嵌入与生成内容观感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194560" y="3467100"/>
            <a:ext cx="3901440" cy="1516380"/>
          </a:xfrm>
          <a:prstGeom prst="line">
            <a:avLst/>
          </a:prstGeom>
          <a:ln w="1524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4360" y="4526280"/>
            <a:ext cx="3581400" cy="10591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760" y="4655820"/>
            <a:ext cx="32766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生成端集成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760" y="505968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依托预训练生成模型构建路线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3467100"/>
            <a:ext cx="3505200" cy="1516380"/>
          </a:xfrm>
          <a:prstGeom prst="line">
            <a:avLst/>
          </a:prstGeom>
          <a:ln w="1524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01000" y="4526280"/>
            <a:ext cx="3581400" cy="10591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3399" y="4655820"/>
            <a:ext cx="32766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传播后恢复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3399" y="505968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通过反演与逆变换恢复消息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选型围绕场景需求展开，最终效果由统一测试验证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生成端技术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把作品身份映射为噪声，再参与扩散生成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1973580"/>
            <a:ext cx="11201400" cy="2682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5030"/>
            <a:ext cx="10911840" cy="233934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571500" y="5021580"/>
            <a:ext cx="0" cy="655320"/>
          </a:xfrm>
          <a:prstGeom prst="line">
            <a:avLst/>
          </a:prstGeom>
          <a:ln w="3048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98348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BF8"/>
                </a:solidFill>
                <a:latin typeface="Microsoft YaHei"/>
              </a:defRPr>
            </a:pPr>
            <a:r>
              <a:t>① 身份编码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2638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重复消息＋随机填充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34840" y="5021580"/>
            <a:ext cx="0" cy="655320"/>
          </a:xfrm>
          <a:prstGeom prst="line">
            <a:avLst/>
          </a:prstGeom>
          <a:ln w="3048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94860" y="498348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BF8"/>
                </a:solidFill>
                <a:latin typeface="Microsoft YaHei"/>
              </a:defRPr>
            </a:pPr>
            <a:r>
              <a:t>② 球面映射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860" y="532638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归一化＋正交旋转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67699" y="5021580"/>
            <a:ext cx="0" cy="655320"/>
          </a:xfrm>
          <a:prstGeom prst="line">
            <a:avLst/>
          </a:prstGeom>
          <a:ln w="3048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27720" y="498348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BF8"/>
                </a:solidFill>
                <a:latin typeface="Microsoft YaHei"/>
              </a:defRPr>
            </a:pPr>
            <a:r>
              <a:t>③ 潜在生成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7720" y="532638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随机半径＋扩散去噪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身份信息随生成过程进入图像，为后续核验留下可恢复信号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核验端技术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恢复标识之后，还要完成来源关联与有效性检查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1912620"/>
            <a:ext cx="11201400" cy="18668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019300"/>
            <a:ext cx="6400800" cy="16535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5299" y="4274820"/>
            <a:ext cx="2514600" cy="12115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4404360"/>
            <a:ext cx="2209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上传收到的图片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4808220"/>
            <a:ext cx="22098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无需说明传播过程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78480" y="4785360"/>
            <a:ext cx="22098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0900" y="4274820"/>
            <a:ext cx="2514600" cy="12115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3300" y="4404360"/>
            <a:ext cx="2209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反演与消息恢复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300" y="4808220"/>
            <a:ext cx="22098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执行论文提取链路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74080" y="4785360"/>
            <a:ext cx="22098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86500" y="4274820"/>
            <a:ext cx="2514600" cy="12115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8900" y="4404360"/>
            <a:ext cx="2209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登记关联与检查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900" y="4808220"/>
            <a:ext cx="22098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有效编号／声明核对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69680" y="4785360"/>
            <a:ext cx="220980" cy="152400"/>
          </a:xfrm>
          <a:prstGeom prst="rightArrow">
            <a:avLst/>
          </a:prstGeom>
          <a:solidFill>
            <a:srgbClr val="7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82100" y="4274820"/>
            <a:ext cx="2514600" cy="12115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4500" y="4404360"/>
            <a:ext cx="2209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结果与复核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500" y="4808220"/>
            <a:ext cx="22098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来源线索／无法确认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技术检测提供线索，授权与权属判断仍需结合登记和业务材料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创新与壁垒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把研究方法转化为可使用、可复查的可信传播流程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81199"/>
            <a:ext cx="11201400" cy="701040"/>
          </a:xfrm>
          <a:prstGeom prst="rect">
            <a:avLst/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040" y="2141220"/>
            <a:ext cx="107442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F3FBF8"/>
                </a:solidFill>
                <a:latin typeface="Microsoft YaHei"/>
              </a:defRPr>
            </a:pPr>
            <a:r>
              <a:t>研究基础：球形水印的编码、噪声构造与反演恢复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09800" y="2682240"/>
            <a:ext cx="0" cy="464820"/>
          </a:xfrm>
          <a:prstGeom prst="line">
            <a:avLst/>
          </a:prstGeom>
          <a:ln w="1524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5299" y="3147060"/>
            <a:ext cx="3467100" cy="188213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3276600"/>
            <a:ext cx="31623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流程融合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3680460"/>
            <a:ext cx="31623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从生成、交付到再次核验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76DFC0"/>
                </a:solidFill>
                <a:latin typeface="Microsoft YaHei"/>
              </a:defRPr>
            </a:pPr>
            <a:r>
              <a:t>难点：算法与登记一致关联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0" y="2682240"/>
            <a:ext cx="0" cy="464820"/>
          </a:xfrm>
          <a:prstGeom prst="line">
            <a:avLst/>
          </a:prstGeom>
          <a:ln w="1524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81500" y="3147060"/>
            <a:ext cx="3467100" cy="188213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3900" y="3276600"/>
            <a:ext cx="31623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低门槛核验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3900" y="3680460"/>
            <a:ext cx="31623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收到图片后直接上传查询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39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76DFC0"/>
                </a:solidFill>
                <a:latin typeface="Microsoft YaHei"/>
              </a:defRPr>
            </a:pPr>
            <a:r>
              <a:t>难点：误检、冲突和无法确认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82200" y="2682240"/>
            <a:ext cx="0" cy="464820"/>
          </a:xfrm>
          <a:prstGeom prst="line">
            <a:avLst/>
          </a:prstGeom>
          <a:ln w="15240">
            <a:solidFill>
              <a:srgbClr val="76D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67699" y="3147060"/>
            <a:ext cx="3467100" cy="188213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0100" y="3276600"/>
            <a:ext cx="31623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可追查管理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0100" y="3680460"/>
            <a:ext cx="31623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署名声明与核验记录衔接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1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76DFC0"/>
                </a:solidFill>
                <a:latin typeface="Microsoft YaHei"/>
              </a:defRPr>
            </a:pPr>
            <a:r>
              <a:t>难点：签名、隐私与记录安全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" y="5387340"/>
            <a:ext cx="107442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B0C8BF"/>
                </a:solidFill>
                <a:latin typeface="Microsoft YaHei"/>
              </a:defRPr>
            </a:pPr>
            <a:r>
              <a:t>应用贡献围绕任务闭环展开，技术壁垒由稳定运行与严格验证积累。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场景融合与工程能力，需要用用户任务和真实数据证明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功能演示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保护与核验，落在用户看得见的两次操作上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1935480"/>
            <a:ext cx="5410200" cy="3314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duct-prot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" y="2004060"/>
            <a:ext cx="5082540" cy="31775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299" y="5410200"/>
            <a:ext cx="54102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3FBF8"/>
                </a:solidFill>
                <a:latin typeface="Microsoft YaHei"/>
              </a:defRPr>
            </a:pPr>
            <a:r>
              <a:t>图片保护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1180" y="5463540"/>
            <a:ext cx="4000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B0C8BF"/>
                </a:solidFill>
                <a:latin typeface="Microsoft YaHei"/>
              </a:defRPr>
            </a:pPr>
            <a:r>
              <a:t>上传／填写署名／预览／下载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935480"/>
            <a:ext cx="5410200" cy="3314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oduct-tr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330" y="2004060"/>
            <a:ext cx="5082540" cy="31775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6500" y="5410200"/>
            <a:ext cx="54102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3FBF8"/>
                </a:solidFill>
                <a:latin typeface="Microsoft YaHei"/>
              </a:defRPr>
            </a:pPr>
            <a:r>
              <a:t>图片溯源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2379" y="5463540"/>
            <a:ext cx="40005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B0C8BF"/>
                </a:solidFill>
                <a:latin typeface="Microsoft YaHei"/>
              </a:defRPr>
            </a:pPr>
            <a:r>
              <a:t>上传收到的图片／查看登记线索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减少操作解释，把保护结果和核验线索直接展示给用户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测试方案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用质量、恢复、误检与任务效率共同评价方案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8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61F1B"/>
                </a:solidFill>
                <a:latin typeface="Microsoft YaHei"/>
              </a:defRPr>
            </a:pPr>
            <a:r>
              <a:t>视觉质量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299" y="2750820"/>
            <a:ext cx="2514600" cy="13639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80360"/>
            <a:ext cx="2209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图像观感与局部细节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284220"/>
            <a:ext cx="22098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图像指标＋盲评观察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9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61F1B"/>
                </a:solidFill>
                <a:latin typeface="Microsoft YaHei"/>
              </a:defRPr>
            </a:pPr>
            <a:r>
              <a:t>标识恢复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900" y="2750820"/>
            <a:ext cx="2514600" cy="13639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3300" y="2880360"/>
            <a:ext cx="2209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原图与传播后图像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3300" y="3284220"/>
            <a:ext cx="22098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消息恢复率＋匹配情况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60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61F1B"/>
                </a:solidFill>
                <a:latin typeface="Microsoft YaHei"/>
              </a:defRPr>
            </a:pPr>
            <a:r>
              <a:t>错误控制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750820"/>
            <a:ext cx="2514600" cy="13639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8900" y="2880360"/>
            <a:ext cx="2209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无水印与错误签名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3284220"/>
            <a:ext cx="22098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误检率＋冲突与异常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21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16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61F1B"/>
                </a:solidFill>
                <a:latin typeface="Microsoft YaHei"/>
              </a:defRPr>
            </a:pPr>
            <a:r>
              <a:t>使用效率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2100" y="2750820"/>
            <a:ext cx="2514600" cy="13639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4500" y="2880360"/>
            <a:ext cx="2209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人工追问与系统查找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4500" y="3284220"/>
            <a:ext cx="22098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任务耗时＋正确判断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" y="4610100"/>
            <a:ext cx="108204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传播条件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32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原始交付图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9654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322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轻度／明显压缩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444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尺寸缩小一半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7898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8566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较大面积裁剪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20200" y="5090160"/>
            <a:ext cx="2286000" cy="32766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5135880"/>
            <a:ext cx="20726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BF8"/>
                </a:solidFill>
                <a:latin typeface="Microsoft YaHei"/>
              </a:defRPr>
            </a:pPr>
            <a:r>
              <a:t>重绘等失败条件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同时记录成功、失败与无法确认，让验证覆盖真实使用边界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验证与分析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现有工作流可复查，核心方法按统一条件继续评价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1943100"/>
            <a:ext cx="3276600" cy="100584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2072640"/>
            <a:ext cx="2971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可复查的软件链路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2476500"/>
            <a:ext cx="29718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处理／登记／来源查询／历史记录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" y="3246120"/>
            <a:ext cx="3200400" cy="88452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6364"/>
              </a:lnSpc>
              <a:spcAft>
                <a:spcPts val="0"/>
              </a:spcAft>
              <a:defRPr sz="4680" b="1">
                <a:solidFill>
                  <a:srgbClr val="76DFC0"/>
                </a:solidFill>
                <a:latin typeface="Microsoft YaHei"/>
              </a:defRPr>
            </a:pPr>
            <a:r>
              <a:t>13 /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" y="4046220"/>
            <a:ext cx="30099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3FBF8"/>
                </a:solidFill>
                <a:latin typeface="Microsoft YaHei"/>
              </a:defRPr>
            </a:pPr>
            <a:r>
              <a:t>工作流单元测试通过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" y="4610100"/>
            <a:ext cx="3009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B0C8BF"/>
                </a:solidFill>
                <a:latin typeface="Microsoft YaHei"/>
              </a:defRPr>
            </a:pPr>
            <a:r>
              <a:t>失败不生成成功记录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" y="4991100"/>
            <a:ext cx="3009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B0C8BF"/>
                </a:solidFill>
                <a:latin typeface="Microsoft YaHei"/>
              </a:defRPr>
            </a:pPr>
            <a:r>
              <a:t>服务错误与未检出分开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" y="5372100"/>
            <a:ext cx="3009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B0C8BF"/>
                </a:solidFill>
                <a:latin typeface="Microsoft YaHei"/>
              </a:defRPr>
            </a:pPr>
            <a:r>
              <a:t>登记与检测结果分开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5760" y="1943100"/>
            <a:ext cx="7520940" cy="3642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t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2065020"/>
            <a:ext cx="6568440" cy="33985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分析恢复能力，也保留强裁剪、重绘等条件下的失败边界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应用与落地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以电商验证任务，再向创意、文创和媒体延伸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2385060"/>
            <a:ext cx="4114800" cy="22783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2514600"/>
            <a:ext cx="3810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首个验证点：电商营销素材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2918460"/>
            <a:ext cx="38100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品牌设计 → 合作交付 → 再次核验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420" y="3695700"/>
            <a:ext cx="3733799" cy="67726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0">
                <a:solidFill>
                  <a:srgbClr val="B0C8BF"/>
                </a:solidFill>
                <a:latin typeface="Microsoft YaHei"/>
              </a:defRPr>
            </a:pPr>
            <a:r>
              <a:t>观察：来源查找效率</a:t>
            </a:r>
          </a:p>
          <a:p>
            <a:pPr>
              <a:lnSpc>
                <a:spcPts val="2366"/>
              </a:lnSpc>
              <a:spcAft>
                <a:spcPts val="0"/>
              </a:spcAft>
              <a:defRPr sz="1739" b="0">
                <a:solidFill>
                  <a:srgbClr val="B0C8BF"/>
                </a:solidFill>
                <a:latin typeface="Microsoft YaHei"/>
              </a:defRPr>
            </a:pPr>
            <a:r>
              <a:t>检查：使用声明与复核提示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800600" y="2362200"/>
            <a:ext cx="2567940" cy="1143000"/>
          </a:xfrm>
          <a:prstGeom prst="line">
            <a:avLst/>
          </a:prstGeom>
          <a:ln w="1524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68540" y="1943100"/>
            <a:ext cx="4328160" cy="9829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0940" y="2072640"/>
            <a:ext cx="402336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创意设计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0940" y="2476500"/>
            <a:ext cx="40233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署名与素材交付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3505200"/>
            <a:ext cx="2567940" cy="152400"/>
          </a:xfrm>
          <a:prstGeom prst="line">
            <a:avLst/>
          </a:prstGeom>
          <a:ln w="1524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8540" y="3238500"/>
            <a:ext cx="4328160" cy="9829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0940" y="3368040"/>
            <a:ext cx="402336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数字文创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0940" y="3771900"/>
            <a:ext cx="40233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作品登记与使用线索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505200"/>
            <a:ext cx="2567940" cy="1447800"/>
          </a:xfrm>
          <a:prstGeom prst="line">
            <a:avLst/>
          </a:prstGeom>
          <a:ln w="1524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68540" y="4533900"/>
            <a:ext cx="4328160" cy="982980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0940" y="4663440"/>
            <a:ext cx="402336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BF8"/>
                </a:solidFill>
                <a:latin typeface="Microsoft YaHei"/>
              </a:defRPr>
            </a:pPr>
            <a:r>
              <a:t>媒体传播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0940" y="5067300"/>
            <a:ext cx="40233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B0C8BF"/>
                </a:solidFill>
                <a:latin typeface="Microsoft YaHei"/>
              </a:defRPr>
            </a:pPr>
            <a:r>
              <a:t>生成身份与来源辅助核验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落地成效以试用数据衡量，社会价值围绕可信使用展开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9100" y="342900"/>
            <a:ext cx="609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" y="342900"/>
            <a:ext cx="22860" cy="274320"/>
          </a:xfrm>
          <a:prstGeom prst="rect">
            <a:avLst/>
          </a:prstGeom>
          <a:solidFill>
            <a:srgbClr val="76DFC0"/>
          </a:solidFill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6280" y="335280"/>
            <a:ext cx="99060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1">
                <a:solidFill>
                  <a:srgbClr val="B0C8BF"/>
                </a:solidFill>
                <a:latin typeface="Microsoft YaHei"/>
              </a:defRPr>
            </a:pPr>
            <a:r>
              <a:t>图溯  /  总结与展望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5299" y="777240"/>
            <a:ext cx="11201401" cy="0"/>
          </a:xfrm>
          <a:prstGeom prst="line">
            <a:avLst/>
          </a:prstGeom>
          <a:ln w="7620">
            <a:solidFill>
              <a:srgbClr val="285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1028700"/>
            <a:ext cx="11201400" cy="56327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835"/>
              </a:lnSpc>
              <a:spcAft>
                <a:spcPts val="0"/>
              </a:spcAft>
              <a:defRPr sz="2820" b="1">
                <a:solidFill>
                  <a:srgbClr val="F3FBF8"/>
                </a:solidFill>
                <a:latin typeface="Microsoft YaHei"/>
              </a:defRPr>
            </a:pPr>
            <a:r>
              <a:t>让图像的身份线索，跟得上内容的传播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34540"/>
            <a:ext cx="838200" cy="62544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324"/>
              </a:lnSpc>
              <a:spcAft>
                <a:spcPts val="0"/>
              </a:spcAft>
              <a:defRPr sz="3179" b="1">
                <a:solidFill>
                  <a:srgbClr val="76DFC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49780"/>
            <a:ext cx="64770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BF8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76500"/>
            <a:ext cx="6477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B0C8BF"/>
                </a:solidFill>
                <a:latin typeface="Microsoft YaHei"/>
              </a:defRPr>
            </a:pPr>
            <a:r>
              <a:t>内容易流转，来源与使用依据可能脱落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62300"/>
            <a:ext cx="838200" cy="62544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324"/>
              </a:lnSpc>
              <a:spcAft>
                <a:spcPts val="0"/>
              </a:spcAft>
              <a:defRPr sz="3179" b="1">
                <a:solidFill>
                  <a:srgbClr val="76DFC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77540"/>
            <a:ext cx="64770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BF8"/>
                </a:solidFill>
                <a:latin typeface="Microsoft YaHei"/>
              </a:defRPr>
            </a:pPr>
            <a:r>
              <a:t>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04260"/>
            <a:ext cx="6477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B0C8BF"/>
                </a:solidFill>
                <a:latin typeface="Microsoft YaHei"/>
              </a:defRPr>
            </a:pPr>
            <a:r>
              <a:t>生成时建立身份，传播后恢复并关联登记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0060"/>
            <a:ext cx="838200" cy="62544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324"/>
              </a:lnSpc>
              <a:spcAft>
                <a:spcPts val="0"/>
              </a:spcAft>
              <a:defRPr sz="3179" b="1">
                <a:solidFill>
                  <a:srgbClr val="76DFC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05300"/>
            <a:ext cx="64770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BF8"/>
                </a:solidFill>
                <a:latin typeface="Microsoft YaHei"/>
              </a:defRPr>
            </a:pPr>
            <a:r>
              <a:t>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732020"/>
            <a:ext cx="6477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B0C8BF"/>
                </a:solidFill>
                <a:latin typeface="Microsoft YaHei"/>
              </a:defRPr>
            </a:pPr>
            <a:r>
              <a:t>辅助认证、来源查找与知识产权保护</a:t>
            </a:r>
          </a:p>
        </p:txBody>
      </p:sp>
      <p:sp>
        <p:nvSpPr>
          <p:cNvPr id="16" name="Oval 15"/>
          <p:cNvSpPr/>
          <p:nvPr/>
        </p:nvSpPr>
        <p:spPr>
          <a:xfrm>
            <a:off x="8953500" y="2453640"/>
            <a:ext cx="2209800" cy="2209800"/>
          </a:xfrm>
          <a:prstGeom prst="ellipse">
            <a:avLst/>
          </a:prstGeom>
          <a:noFill/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26930" y="2453640"/>
            <a:ext cx="662940" cy="2209800"/>
          </a:xfrm>
          <a:prstGeom prst="ellipse">
            <a:avLst/>
          </a:prstGeom>
          <a:noFill/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73362" y="2453640"/>
            <a:ext cx="1370076" cy="2209800"/>
          </a:xfrm>
          <a:prstGeom prst="ellipse">
            <a:avLst/>
          </a:prstGeom>
          <a:noFill/>
          <a:ln>
            <a:solidFill>
              <a:srgbClr val="76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53500" y="3227070"/>
            <a:ext cx="2209800" cy="662940"/>
          </a:xfrm>
          <a:prstGeom prst="ellipse">
            <a:avLst/>
          </a:prstGeom>
          <a:noFill/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53500" y="2873502"/>
            <a:ext cx="2209800" cy="1370076"/>
          </a:xfrm>
          <a:prstGeom prst="ellipse">
            <a:avLst/>
          </a:prstGeom>
          <a:noFill/>
          <a:ln>
            <a:solidFill>
              <a:srgbClr val="28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5105400"/>
            <a:ext cx="26670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76DFC0"/>
                </a:solidFill>
                <a:latin typeface="Microsoft YaHei"/>
              </a:defRPr>
            </a:pPr>
            <a:r>
              <a:t>图溯 · 可信传播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299" y="600456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123D35"/>
          </a:solidFill>
          <a:ln>
            <a:solidFill>
              <a:srgbClr val="123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700" y="6103620"/>
            <a:ext cx="108966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76DFC0"/>
                </a:solidFill>
                <a:latin typeface="Microsoft YaHei"/>
              </a:defRPr>
            </a:pPr>
            <a:r>
              <a:t>从一张图片的身份核验，走向数字内容的可信使用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540" y="6598920"/>
            <a:ext cx="99060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B0C8BF"/>
                </a:solidFill>
                <a:latin typeface="Microsoft YaHei"/>
              </a:defRPr>
            </a:pPr>
            <a:r>
              <a:t>图溯 · 来源认证 / 可信溯源 / 权益线索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60820"/>
            <a:ext cx="6858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76DFC0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