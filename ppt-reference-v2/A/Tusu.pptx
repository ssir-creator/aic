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采用Spherical Watermark研究框架；本项目场景方案不等同于该论文算法原创。</a:t>
            </a:r>
          </a:p>
          <a:p>
            <a:r>
              <a:t>出处与验证范围：AI＋场景创新 | 场景应用版 | 核心方法参考Hu et al., Spherical Watermark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数字图像用于创意、传播与商业。所用例图均为球形水印论文Figure3裁片，非本项目实验，也非AI新生成插画。来源认证不证明内容事实真实。</a:t>
            </a:r>
          </a:p>
          <a:p>
            <a:r>
              <a:t>出处与验证范围：配图来源：Spherical Watermark, Figure 3；应用类别为本项目归纳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背景综合用户所提供的论文引言。避免使用未经核实的政策或案例数字。AIGC作为技术切入点，而非限定全部图像问题。</a:t>
            </a:r>
          </a:p>
          <a:p>
            <a:r>
              <a:t>出处与验证范围：左：球形水印论文首页；右：相关论文引言背景归纳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出处与验证范围：图源：原论文Figure 2、Figure 6，均为论文结果，非本项目实测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出处与验证范围：图片：原论文Figure 3、5、1；研究证据不等于法律确权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出处与验证范围：右图：Spherical Watermark Figure 1；登记与复核为应用层设计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此页描述原论文技术，非本团队原创。二进制变换在GF(2)上运算，T须满足论文的构造条件。</a:t>
            </a:r>
          </a:p>
          <a:p>
            <a:r>
              <a:t>出处与验证范围：方法来源：原论文第3节与式(5)—(9)；右侧为论文原文截取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出处与验证范围：原图：Figure 1(b) 与式(10)；分布保持按原文理论条件理解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出处与验证范围：图源：Figure 1(a)；反演与提取参考第3.2节、式(12)—(13)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出处与验证范围：保密签名 K=(T,C) 需管理；“无逐图加密”不表示无秘密签名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2026-10-15在/workspace/AIC执行python -m unittest -v：13项通过；其中模型生图链路含测试夹具，不是球形水印GPU实测。</a:t>
            </a:r>
          </a:p>
          <a:p>
            <a:r>
              <a:t>出处与验证范围：软件测试：2026-10-15 python -m unittest -v；模型GPU统一评测尚未完成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出处与验证范围：本页为分工建议，不声称已有成员履历、奖项或专家背书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出处与验证范围：公开研究方法必须注明来源；算力与数据为实施条件，并非已全部具备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出处与验证范围：阶段示意，不以计划代替完成证明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出处与验证范围：左图：原论文Figure 5，非本项目实测；右侧为本项目测试设计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出处与验证范围：定性比较；未对各开源模型实施同配置统一评测，不提供虚构数值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出处与验证范围：预期推广路径；尚无实际客户规模或商业收益证明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出处与验证范围：预期社会价值；系统辅助认证与核验，不自动作出侵权法律判断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采用Spherical Watermark研究框架；本项目场景方案不等同于该论文算法原创。</a:t>
            </a:r>
          </a:p>
          <a:p>
            <a:r>
              <a:t>出处与验证范围：AI＋场景创新 | 场景应用版 | 核心方法参考Hu et al., Spherical Watermark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52600"/>
            <a:ext cx="6400800" cy="146486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0934"/>
              </a:lnSpc>
              <a:spcAft>
                <a:spcPts val="0"/>
              </a:spcAft>
              <a:defRPr sz="8039" b="1">
                <a:solidFill>
                  <a:srgbClr val="F0FFFA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760" y="3215640"/>
            <a:ext cx="6477000" cy="113324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161"/>
              </a:lnSpc>
              <a:spcAft>
                <a:spcPts val="0"/>
              </a:spcAft>
              <a:defRPr sz="3060" b="1">
                <a:solidFill>
                  <a:srgbClr val="F0FFFA"/>
                </a:solidFill>
                <a:latin typeface="Microsoft YaHei"/>
              </a:defRPr>
            </a:pPr>
            <a:r>
              <a:t>面向数字图像可信传播的</a:t>
            </a:r>
          </a:p>
          <a:p>
            <a:pPr>
              <a:lnSpc>
                <a:spcPts val="4161"/>
              </a:lnSpc>
              <a:spcAft>
                <a:spcPts val="0"/>
              </a:spcAft>
              <a:defRPr sz="3060" b="1">
                <a:solidFill>
                  <a:srgbClr val="F0FFFA"/>
                </a:solidFill>
                <a:latin typeface="Microsoft YaHei"/>
              </a:defRPr>
            </a:pPr>
            <a:r>
              <a:t>来源认证与溯源方案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648200"/>
            <a:ext cx="60960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生成式水印 × 匿名登记 × 传播后核验</a:t>
            </a:r>
          </a:p>
        </p:txBody>
      </p:sp>
      <p:sp>
        <p:nvSpPr>
          <p:cNvPr id="11" name="Oval 10"/>
          <p:cNvSpPr/>
          <p:nvPr/>
        </p:nvSpPr>
        <p:spPr>
          <a:xfrm>
            <a:off x="8077200" y="1600200"/>
            <a:ext cx="3048000" cy="30480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600200"/>
            <a:ext cx="9144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77200" y="2667000"/>
            <a:ext cx="3048000" cy="9144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0" y="1600200"/>
            <a:ext cx="1828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77200" y="2209800"/>
            <a:ext cx="3048000" cy="1828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05800" y="1600200"/>
            <a:ext cx="2590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7200" y="1828800"/>
            <a:ext cx="3048000" cy="2590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93222" y="309372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6538" y="335403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14253" y="259809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848" y="356094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13432" y="297735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93449" y="269775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62282" y="386841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73730" y="23288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32363" y="3408678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74104" y="346348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03228" y="21703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9669" y="411202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08406" y="253547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00031" y="284600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81086" y="407357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12192" y="186506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547595" y="391801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55465" y="314728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4799" y="4953000"/>
            <a:ext cx="35814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48E1BF"/>
                </a:solidFill>
                <a:latin typeface="Microsoft YaHei"/>
              </a:defRPr>
            </a:pPr>
            <a:r>
              <a:t>球形水印 · ICLR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从内容生成，到传播后的可信核验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图像创造价值，可信身份却未必随传播保留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299" y="1813560"/>
            <a:ext cx="2705100" cy="24003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3434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434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7086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6136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3434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3434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07086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26136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69136" y="1790700"/>
            <a:ext cx="75742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example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" y="1927860"/>
            <a:ext cx="2065020" cy="21717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9120" y="4404360"/>
            <a:ext cx="257556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0FFFA"/>
                </a:solidFill>
                <a:latin typeface="Microsoft YaHei"/>
              </a:defRPr>
            </a:pPr>
            <a:r>
              <a:t>创意设计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120" y="4792980"/>
            <a:ext cx="25755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作品流转与署名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1813560"/>
            <a:ext cx="2705100" cy="24003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36804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36804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00456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9506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6804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36804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00456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19506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402836" y="1790700"/>
            <a:ext cx="75742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example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1927860"/>
            <a:ext cx="2065020" cy="21717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512820" y="4404360"/>
            <a:ext cx="257556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0FFFA"/>
                </a:solidFill>
                <a:latin typeface="Microsoft YaHei"/>
              </a:defRPr>
            </a:pPr>
            <a:r>
              <a:t>媒体传播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12820" y="4792980"/>
            <a:ext cx="25755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来源线索与核验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62700" y="1813560"/>
            <a:ext cx="2705100" cy="24003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30174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0174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93826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2876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30174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30174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893826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12876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336536" y="1790700"/>
            <a:ext cx="75742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example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40" y="1927860"/>
            <a:ext cx="2065020" cy="21717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446520" y="4404360"/>
            <a:ext cx="257556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0FFFA"/>
                </a:solidFill>
                <a:latin typeface="Microsoft YaHei"/>
              </a:defRPr>
            </a:pPr>
            <a:r>
              <a:t>数字文创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792980"/>
            <a:ext cx="25755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复制使用与授权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96400" y="1813560"/>
            <a:ext cx="2705100" cy="24003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923544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23544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187196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6246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23544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3544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1871960" y="42748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206246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270235" y="1790700"/>
            <a:ext cx="757429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Picture 59" descr="example-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6440" y="1927860"/>
            <a:ext cx="2065020" cy="21717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80220" y="4404360"/>
            <a:ext cx="257556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0FFFA"/>
                </a:solidFill>
                <a:latin typeface="Microsoft YaHei"/>
              </a:defRPr>
            </a:pPr>
            <a:r>
              <a:t>商业营销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80220" y="4792980"/>
            <a:ext cx="25755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交付版本与品牌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8180" y="5516880"/>
            <a:ext cx="108204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F0FFFA"/>
                </a:solidFill>
                <a:latin typeface="Microsoft YaHei"/>
              </a:defRPr>
            </a:pPr>
            <a:r>
              <a:t>图片被保存、转发和二次编辑之后，文件名、附带说明与来源声明可能分离。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核心问题：图像内容易复制，来源身份难持续核验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研究背景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生成能力跃升，放大了来源认证与知识产权核验的需求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60220"/>
            <a:ext cx="3268980" cy="38557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87680" y="16992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7680" y="16992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688080" y="169926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878579" y="16992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7680" y="56769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87680" y="54864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688080" y="567690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878579" y="54864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25472" y="1737360"/>
            <a:ext cx="915315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1851660"/>
            <a:ext cx="3086100" cy="36728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" y="1912620"/>
            <a:ext cx="2606040" cy="355092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282440" y="192024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195834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0120" y="1905000"/>
            <a:ext cx="66675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高质量生成走向普及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0120" y="2270760"/>
            <a:ext cx="6667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扩散模型降低图像创作门槛，逼真内容更易生产。</a:t>
            </a:r>
          </a:p>
        </p:txBody>
      </p:sp>
      <p:sp>
        <p:nvSpPr>
          <p:cNvPr id="27" name="Oval 26"/>
          <p:cNvSpPr/>
          <p:nvPr/>
        </p:nvSpPr>
        <p:spPr>
          <a:xfrm>
            <a:off x="4282440" y="310896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14706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0120" y="3093720"/>
            <a:ext cx="66675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人工识别难承担认证职责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0120" y="3459480"/>
            <a:ext cx="6667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仅凭视觉外观，难确定图片使用了哪个生成系统。</a:t>
            </a:r>
          </a:p>
        </p:txBody>
      </p:sp>
      <p:sp>
        <p:nvSpPr>
          <p:cNvPr id="31" name="Oval 30"/>
          <p:cNvSpPr/>
          <p:nvPr/>
        </p:nvSpPr>
        <p:spPr>
          <a:xfrm>
            <a:off x="4282440" y="432816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436626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0120" y="4312920"/>
            <a:ext cx="66675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主动嵌入可核验身份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70120" y="4678680"/>
            <a:ext cx="6667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在生成时留下隐形信号，为后续归因提供线索。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认证回答“标识是否匹配”，溯源回答“关联哪条来源记录”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场景需求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可信传播需要同时满足视觉质量与标识恢复能力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1851660"/>
            <a:ext cx="5372100" cy="2286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7244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244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77596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6646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440" y="41986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72440" y="4008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775960" y="41986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966460" y="4008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7355" y="1828800"/>
            <a:ext cx="1504189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4840" y="1943100"/>
            <a:ext cx="518922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465070"/>
            <a:ext cx="5067300" cy="105918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25540" y="1851660"/>
            <a:ext cx="5372100" cy="2286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16458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458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46810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65860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64580" y="41986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164580" y="4008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468100" y="41986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658600" y="4008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159496" y="1828800"/>
            <a:ext cx="150418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316980" y="1943100"/>
            <a:ext cx="518922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abl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2346960"/>
            <a:ext cx="5067300" cy="12954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533400" y="4389120"/>
            <a:ext cx="53721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427220"/>
            <a:ext cx="51587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视觉侧：减少可感知与统计扰动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25540" y="4389120"/>
            <a:ext cx="53721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2220" y="4427220"/>
            <a:ext cx="51587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核验侧：评估反演误差与消息恢复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6280" y="4937760"/>
            <a:ext cx="48768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设计与发布：保留画面质量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审核与使用：获得可靠来源线索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8420" y="4937760"/>
            <a:ext cx="48387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任务调研：访谈与使用观察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评价目标：来源查找与使用决策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把“看起来不变”和“传播后可查”放在同一套验证体系中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关键痛点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信息会分离，图像会变换，水印也有失败边界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44980"/>
            <a:ext cx="35052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" y="1783080"/>
            <a:ext cx="32918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画质扰动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55520"/>
            <a:ext cx="3505200" cy="23317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8768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768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2430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8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8768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92430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11480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10512" y="2232660"/>
            <a:ext cx="981456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40080" y="2346960"/>
            <a:ext cx="332232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qua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" y="3002280"/>
            <a:ext cx="3200400" cy="838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2940" y="4869180"/>
            <a:ext cx="32766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不应为身份标识明显牺牲图像观感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1744980"/>
            <a:ext cx="35052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1520" y="1783080"/>
            <a:ext cx="32918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传播变换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2255520"/>
            <a:ext cx="3505200" cy="23317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37388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37388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810499" y="219456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0100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37388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37388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7810499" y="464820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00100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696712" y="2232660"/>
            <a:ext cx="981456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526280" y="2346960"/>
            <a:ext cx="332232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t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7240" y="2594610"/>
            <a:ext cx="3200400" cy="16535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549140" y="4869180"/>
            <a:ext cx="32766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压缩、缩放与裁剪可能损伤恢复能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1040" y="1744980"/>
            <a:ext cx="35052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27720" y="1783080"/>
            <a:ext cx="32918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身份与权利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21040" y="2255520"/>
            <a:ext cx="3505200" cy="23317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6008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6008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169670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88720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6008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26008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69670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88720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582911" y="2232660"/>
            <a:ext cx="98145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8412480" y="2346960"/>
            <a:ext cx="332232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ramewo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440" y="2659380"/>
            <a:ext cx="3200400" cy="152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435340" y="4869180"/>
            <a:ext cx="32766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检出标识后仍需核对登记与授权材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需要“算法保护＋登记关联＋人工复核”的完整闭环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解决思路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生成端嵌入身份，接收端直接上传核验</a:t>
            </a:r>
          </a:p>
        </p:txBody>
      </p:sp>
      <p:sp>
        <p:nvSpPr>
          <p:cNvPr id="11" name="Oval 10"/>
          <p:cNvSpPr/>
          <p:nvPr/>
        </p:nvSpPr>
        <p:spPr>
          <a:xfrm>
            <a:off x="617220" y="191262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" y="195072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900" y="1897380"/>
            <a:ext cx="4076699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生成时建立身份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" y="2263140"/>
            <a:ext cx="4076699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作品编号映射为噪声，再输入扩散模型。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" y="317754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180" y="321564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162300"/>
            <a:ext cx="4076699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传播后恢复标识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528060"/>
            <a:ext cx="4076699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上传收到的图片，反演并提取匿名编号。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" y="444246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80" y="448056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4427220"/>
            <a:ext cx="4076699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关联声明与人工复核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4792980"/>
            <a:ext cx="4076699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显示登记线索；不确定结果进入人工审核。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0" y="1805940"/>
            <a:ext cx="5829300" cy="360426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6540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540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41476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60526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54040" y="5471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654040" y="5280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414760" y="5471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605260" y="5280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13548" y="1783080"/>
            <a:ext cx="163220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806440" y="1897380"/>
            <a:ext cx="5646420" cy="34213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rame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2293620"/>
            <a:ext cx="5524500" cy="26289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无需用户预先说明图片经历过哪些传播操作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核心方法一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重复编码与可逆混合：为身份恢复提供冗余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2004060"/>
            <a:ext cx="2438400" cy="31623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94310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9431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65120" y="194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55620" y="19431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22732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0368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865120" y="5227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055620" y="50368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34083" y="1981199"/>
            <a:ext cx="682753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203960" y="2346960"/>
            <a:ext cx="1143000" cy="11430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55420" y="2644140"/>
            <a:ext cx="762000" cy="66690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651"/>
              </a:lnSpc>
              <a:spcAft>
                <a:spcPts val="0"/>
              </a:spcAft>
              <a:defRPr sz="3419" b="1">
                <a:solidFill>
                  <a:srgbClr val="F3D77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" y="3726180"/>
            <a:ext cx="22098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消息准备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" y="4130040"/>
            <a:ext cx="2209800" cy="55290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匿名编号 m</a:t>
            </a:r>
          </a:p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重复 N 次＋随机填充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48000" y="2842260"/>
            <a:ext cx="19050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84220" y="2004060"/>
            <a:ext cx="2438400" cy="31623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223260" y="194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23260" y="19431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5593080" y="194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783580" y="19431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223260" y="5227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223260" y="50368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5593080" y="5227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783580" y="50368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162044" y="1981199"/>
            <a:ext cx="682752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931920" y="2346960"/>
            <a:ext cx="1143000" cy="11430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83380" y="2644140"/>
            <a:ext cx="762000" cy="66690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651"/>
              </a:lnSpc>
              <a:spcAft>
                <a:spcPts val="0"/>
              </a:spcAft>
              <a:defRPr sz="3419" b="1">
                <a:solidFill>
                  <a:srgbClr val="F3D77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98520" y="3726180"/>
            <a:ext cx="22098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可逆混合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98520" y="4130040"/>
            <a:ext cx="2209800" cy="55290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GF(2) 上计算</a:t>
            </a:r>
          </a:p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z(1) = T x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775960" y="2842260"/>
            <a:ext cx="19050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12180" y="2004060"/>
            <a:ext cx="2438400" cy="31623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51220" y="194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951220" y="19431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8321040" y="194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511540" y="19431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951220" y="5227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951220" y="50368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8321040" y="5227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511540" y="50368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890004" y="1981199"/>
            <a:ext cx="682752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659880" y="2346960"/>
            <a:ext cx="1143000" cy="11430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11340" y="2644140"/>
            <a:ext cx="762000" cy="66690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651"/>
              </a:lnSpc>
              <a:spcAft>
                <a:spcPts val="0"/>
              </a:spcAft>
              <a:defRPr sz="3419" b="1">
                <a:solidFill>
                  <a:srgbClr val="F3D77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726180"/>
            <a:ext cx="22098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恢复依据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4130040"/>
            <a:ext cx="2209800" cy="55290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逆变换＋多数投票</a:t>
            </a:r>
          </a:p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N 采用奇数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15400" y="1874519"/>
            <a:ext cx="2667000" cy="34366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854440" y="1813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854440" y="1813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11452860" y="1813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643360" y="1813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85444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85444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1145286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164336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875520" y="1851660"/>
            <a:ext cx="7467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006840" y="1965960"/>
            <a:ext cx="2484120" cy="32537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algorith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3063240"/>
            <a:ext cx="2362200" cy="105918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恢复冗余与可逆混合共同工作，仍需评估实际反演误差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核心方法二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球面映射与随机半径：构造生成端潜在噪声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1905000"/>
            <a:ext cx="7848600" cy="2286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724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24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25246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44296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440" y="42519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72440" y="40614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252460" y="42519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442960" y="40614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58896" y="1882139"/>
            <a:ext cx="219760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4840" y="1996439"/>
            <a:ext cx="766572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240280"/>
            <a:ext cx="7543800" cy="161544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33400" y="4472940"/>
            <a:ext cx="7848600" cy="9601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72440" y="4411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2440" y="4411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252460" y="4411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442960" y="4411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244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244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25246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44296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358896" y="4450080"/>
            <a:ext cx="219760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24840" y="4564380"/>
            <a:ext cx="76657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mbed_formu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900" y="4625340"/>
            <a:ext cx="4419600" cy="65532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8763000" y="1905000"/>
            <a:ext cx="2781300" cy="352806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7020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020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41476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60526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0204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70204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41476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60526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764268" y="1882139"/>
            <a:ext cx="77876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930640" y="2125980"/>
            <a:ext cx="24765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01  单位球面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30640" y="2491740"/>
            <a:ext cx="24765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二进制信号归一化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30640" y="3185160"/>
            <a:ext cx="24765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02  正交旋转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30640" y="3550920"/>
            <a:ext cx="24765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由签名矩阵 C 变换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0640" y="4244340"/>
            <a:ext cx="24765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03  随机半径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30640" y="4610100"/>
            <a:ext cx="24765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平方半径服从卡方分布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采用球形水印的生成适配方法，而非在成图上叠加可见纹理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核心方法三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图像反演与逆映射：从收到的图片恢复身份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783080"/>
            <a:ext cx="11049000" cy="1905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72212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722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475720" y="17221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666220" y="1722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3749039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35585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475720" y="3749039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666220" y="35585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33900" y="1760220"/>
            <a:ext cx="30937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" y="1874519"/>
            <a:ext cx="10866120" cy="1722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3230" y="1935480"/>
            <a:ext cx="6195060" cy="16002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460" y="417576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71500" y="41148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71500" y="41148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931920" y="41148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22420" y="41148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7150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93192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12242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866899" y="4152900"/>
            <a:ext cx="960121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6760" y="432816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图像反演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760" y="476250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VAE编码＋扩散反演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122420" y="464820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66260" y="417576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305300" y="41148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05300" y="41148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665720" y="41148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856220" y="41148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30530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30530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766572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85622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600700" y="4152900"/>
            <a:ext cx="9601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480560" y="432816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逆映射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476250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旋转逆变换＋二进制解混合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7856220" y="464820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00059" y="417576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8039099" y="411480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039099" y="41148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1399520" y="41148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590020" y="41148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039099" y="537972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039099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1139952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159002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334500" y="4152900"/>
            <a:ext cx="9601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14359" y="432816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消息核验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14359" y="476250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多数投票＋有效性检查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无法恢复有效标识时，应输出“暂时无法确认”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应用框架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算法层承接论文方法，应用层连接来源记录</a:t>
            </a:r>
          </a:p>
        </p:txBody>
      </p:sp>
      <p:sp>
        <p:nvSpPr>
          <p:cNvPr id="11" name="Oval 10"/>
          <p:cNvSpPr/>
          <p:nvPr/>
        </p:nvSpPr>
        <p:spPr>
          <a:xfrm>
            <a:off x="579120" y="182880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66899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" y="1813560"/>
            <a:ext cx="29337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匿名身份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2179320"/>
            <a:ext cx="29337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作品编号与署名声明分开存储</a:t>
            </a:r>
          </a:p>
        </p:txBody>
      </p:sp>
      <p:sp>
        <p:nvSpPr>
          <p:cNvPr id="15" name="Oval 14"/>
          <p:cNvSpPr/>
          <p:nvPr/>
        </p:nvSpPr>
        <p:spPr>
          <a:xfrm>
            <a:off x="579120" y="308610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420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" y="3070860"/>
            <a:ext cx="29337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可信核验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6800" y="3436620"/>
            <a:ext cx="29337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检测成功后再关联记录</a:t>
            </a:r>
          </a:p>
        </p:txBody>
      </p:sp>
      <p:sp>
        <p:nvSpPr>
          <p:cNvPr id="19" name="Oval 18"/>
          <p:cNvSpPr/>
          <p:nvPr/>
        </p:nvSpPr>
        <p:spPr>
          <a:xfrm>
            <a:off x="579120" y="434340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8150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4328160"/>
            <a:ext cx="29337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权限边界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4693920"/>
            <a:ext cx="29337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授权材料与核验结果分开展示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1920240"/>
            <a:ext cx="4953000" cy="32080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511040" y="18592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11040" y="18592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9395460" y="18592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585960" y="18592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511040" y="5189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511040" y="4998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395460" y="5189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585960" y="4998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355080" y="1897380"/>
            <a:ext cx="138684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663440" y="2011680"/>
            <a:ext cx="4770120" cy="30251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rame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400" y="2419350"/>
            <a:ext cx="4648200" cy="22098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9906000" y="1920240"/>
            <a:ext cx="1676400" cy="32080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9845040" y="18592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845040" y="18592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452860" y="18592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643360" y="18592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845040" y="5189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845040" y="4998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452860" y="5189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643360" y="4998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09504" y="1897380"/>
            <a:ext cx="469392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58400" y="2209800"/>
            <a:ext cx="13716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1">
                <a:solidFill>
                  <a:srgbClr val="F0FFFA"/>
                </a:solidFill>
                <a:latin typeface="Microsoft YaHei"/>
              </a:defRPr>
            </a:pPr>
            <a:r>
              <a:t>签名管理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3002280"/>
            <a:ext cx="13716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1">
                <a:solidFill>
                  <a:srgbClr val="F0FFFA"/>
                </a:solidFill>
                <a:latin typeface="Microsoft YaHei"/>
              </a:defRPr>
            </a:pPr>
            <a:r>
              <a:t>素材登记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3794760"/>
            <a:ext cx="13716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1">
                <a:solidFill>
                  <a:srgbClr val="F0FFFA"/>
                </a:solidFill>
                <a:latin typeface="Microsoft YaHei"/>
              </a:defRPr>
            </a:pPr>
            <a:r>
              <a:t>核验记录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4587240"/>
            <a:ext cx="13716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1">
                <a:solidFill>
                  <a:srgbClr val="F0FFFA"/>
                </a:solidFill>
                <a:latin typeface="Microsoft YaHei"/>
              </a:defRPr>
            </a:pPr>
            <a:r>
              <a:t>人工复核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水印是来源线索的载体；登记、授权与权属判断各有职责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实施成果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用可复查的软件证据说明完成度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905000"/>
            <a:ext cx="3657600" cy="3467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84404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08432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7482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43306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08432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27482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72996" y="1882139"/>
            <a:ext cx="102412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62000" y="2133600"/>
            <a:ext cx="32385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0FFFA"/>
                </a:solidFill>
                <a:latin typeface="Microsoft YaHei"/>
              </a:defRPr>
            </a:pPr>
            <a:r>
              <a:t>当前原型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" y="277368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图片上传与登记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331470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后处理水印接口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385572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压缩／缩放／裁剪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" y="439674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来源查询与历史记录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1905000"/>
            <a:ext cx="3352800" cy="3467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46532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6532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7495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400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6532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46532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74954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94004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33288" y="1882139"/>
            <a:ext cx="93878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39640" y="2133600"/>
            <a:ext cx="29337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0FFFA"/>
                </a:solidFill>
                <a:latin typeface="Microsoft YaHei"/>
              </a:defRPr>
            </a:pPr>
            <a:r>
              <a:t>软件验证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7740" y="2743200"/>
            <a:ext cx="2743200" cy="82235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875"/>
              </a:lnSpc>
              <a:spcAft>
                <a:spcPts val="0"/>
              </a:spcAft>
              <a:defRPr sz="4320" b="1">
                <a:solidFill>
                  <a:srgbClr val="F3D77C"/>
                </a:solidFill>
                <a:latin typeface="Microsoft YaHei"/>
              </a:defRPr>
            </a:pPr>
            <a:r>
              <a:t>13 /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0" y="3657600"/>
            <a:ext cx="2781300" cy="5943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现有工作流单元测试通过</a:t>
            </a:r>
          </a:p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包括持久化与错误语义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2500" y="4648200"/>
            <a:ext cx="2781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F3D77C"/>
                </a:solidFill>
                <a:latin typeface="Microsoft YaHei"/>
              </a:defRPr>
            </a:pPr>
            <a:r>
              <a:t>错误处理与持久化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1905000"/>
            <a:ext cx="3352800" cy="3467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686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1686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45286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4336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16864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6864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145286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164336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436608" y="1882139"/>
            <a:ext cx="93878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8321040" y="1996439"/>
            <a:ext cx="3169920" cy="32842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7760" y="2057400"/>
            <a:ext cx="2316480" cy="31623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从图片保护到传播后核验，以统一接口连接模型与应用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项目实施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围绕方法、产品、验证建立可交付分工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965960"/>
            <a:ext cx="3505200" cy="33528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90500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9050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931920" y="19050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22420" y="19050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37972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93192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2242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18132" y="1943100"/>
            <a:ext cx="981456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813560" y="2247900"/>
            <a:ext cx="990599" cy="990599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1220" y="2461260"/>
            <a:ext cx="762000" cy="6876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814"/>
              </a:lnSpc>
              <a:spcAft>
                <a:spcPts val="0"/>
              </a:spcAft>
              <a:defRPr sz="3540" b="1">
                <a:solidFill>
                  <a:srgbClr val="F3D77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444240"/>
            <a:ext cx="31623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0FFFA"/>
                </a:solidFill>
                <a:latin typeface="Microsoft YaHei"/>
              </a:defRPr>
            </a:pPr>
            <a:r>
              <a:t>方法复现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924300"/>
            <a:ext cx="31623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签名与噪声构造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反演与消息提取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46320"/>
            <a:ext cx="31623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3D77C"/>
                </a:solidFill>
                <a:latin typeface="Microsoft YaHei"/>
              </a:defRPr>
            </a:pPr>
            <a:r>
              <a:t>交付：可复现命令与环境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42460" y="1965960"/>
            <a:ext cx="3505200" cy="33528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381500" y="19050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81500" y="19050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818120" y="19050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08620" y="19050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38150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38150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81812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00862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04332" y="1943100"/>
            <a:ext cx="981456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699760" y="2247900"/>
            <a:ext cx="990599" cy="990599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27420" y="2461260"/>
            <a:ext cx="762000" cy="6876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814"/>
              </a:lnSpc>
              <a:spcAft>
                <a:spcPts val="0"/>
              </a:spcAft>
              <a:defRPr sz="3540" b="1">
                <a:solidFill>
                  <a:srgbClr val="F3D77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444240"/>
            <a:ext cx="31623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0FFFA"/>
                </a:solidFill>
                <a:latin typeface="Microsoft YaHei"/>
              </a:defRPr>
            </a:pPr>
            <a:r>
              <a:t>产品实现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7720" y="3924300"/>
            <a:ext cx="31623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图片保护与溯源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登记与核验记录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846320"/>
            <a:ext cx="31623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3D77C"/>
                </a:solidFill>
                <a:latin typeface="Microsoft YaHei"/>
              </a:defRPr>
            </a:pPr>
            <a:r>
              <a:t>交付：原型与演示录像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8659" y="1965960"/>
            <a:ext cx="3505200" cy="33528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8267699" y="190500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267699" y="19050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1704320" y="19050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894820" y="19050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267699" y="537972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267699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1704320" y="53797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1894820" y="5189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590532" y="1943100"/>
            <a:ext cx="981456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585960" y="2247900"/>
            <a:ext cx="990599" cy="990599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13620" y="2461260"/>
            <a:ext cx="762000" cy="6876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814"/>
              </a:lnSpc>
              <a:spcAft>
                <a:spcPts val="0"/>
              </a:spcAft>
              <a:defRPr sz="3540" b="1">
                <a:solidFill>
                  <a:srgbClr val="F3D77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444240"/>
            <a:ext cx="31623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0FFFA"/>
                </a:solidFill>
                <a:latin typeface="Microsoft YaHei"/>
              </a:defRPr>
            </a:pPr>
            <a:r>
              <a:t>验证与调研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0" y="3924300"/>
            <a:ext cx="31623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负样本与传播测试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真实用户任务观察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4846320"/>
            <a:ext cx="31623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3D77C"/>
                </a:solidFill>
                <a:latin typeface="Microsoft YaHei"/>
              </a:defRPr>
            </a:pPr>
            <a:r>
              <a:t>交付：日志、数据与反馈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以方法、产品与验证三类交付物组织协作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实施条件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论文、代码、算力与登记安全共同支撑落地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75460"/>
            <a:ext cx="2651760" cy="373379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8768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768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7086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6136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768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8768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07086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26136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03273" y="1752600"/>
            <a:ext cx="742493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1866899"/>
            <a:ext cx="2468880" cy="3550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" y="2042160"/>
            <a:ext cx="2346960" cy="32004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566160" y="1775460"/>
            <a:ext cx="4953000" cy="21107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50520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50520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38962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8012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505200" y="3947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505200" y="3756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389620" y="3947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580120" y="3756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49240" y="1752600"/>
            <a:ext cx="138684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657600" y="1866899"/>
            <a:ext cx="4770120" cy="19278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rame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1470" y="1927860"/>
            <a:ext cx="3802380" cy="18059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604260" y="4206240"/>
            <a:ext cx="49911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研究基础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4260" y="4541520"/>
            <a:ext cx="4991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Spherical Watermark · ICLR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4260" y="4876800"/>
            <a:ext cx="49911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对比路线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4260" y="5212080"/>
            <a:ext cx="4991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Tree-Ring / Gaussian Shading / PRC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1775460"/>
            <a:ext cx="2667000" cy="373379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885444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5444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45286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4336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85444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85444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145286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164336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875520" y="1752600"/>
            <a:ext cx="7467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67800" y="2019300"/>
            <a:ext cx="2362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67800" y="2385060"/>
            <a:ext cx="2362200" cy="5321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GPU生成与反演</a:t>
            </a:r>
          </a:p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记录模型与采样配置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67800" y="3208020"/>
            <a:ext cx="2362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数据资源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7800" y="3573780"/>
            <a:ext cx="2362200" cy="5321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自有或授权素材</a:t>
            </a:r>
          </a:p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无水印负样本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7800" y="4396740"/>
            <a:ext cx="2362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安全边界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7800" y="4762500"/>
            <a:ext cx="2362200" cy="5321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受控签名与登记访问</a:t>
            </a:r>
          </a:p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不嵌入个人敏感信息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技术壁垒体现在稳定复现、低误检核验和可审计流程的结合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研发路线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先完成模型链路，再验证应用收益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066800" y="4305300"/>
            <a:ext cx="2324100" cy="609600"/>
          </a:xfrm>
          <a:prstGeom prst="line">
            <a:avLst/>
          </a:prstGeom>
          <a:ln w="3810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390900" y="3581400"/>
            <a:ext cx="2324100" cy="723900"/>
          </a:xfrm>
          <a:prstGeom prst="line">
            <a:avLst/>
          </a:prstGeom>
          <a:ln w="3810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715000" y="2895600"/>
            <a:ext cx="2324099" cy="685800"/>
          </a:xfrm>
          <a:prstGeom prst="line">
            <a:avLst/>
          </a:prstGeom>
          <a:ln w="3810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8039099" y="2133600"/>
            <a:ext cx="2552701" cy="762000"/>
          </a:xfrm>
          <a:prstGeom prst="line">
            <a:avLst/>
          </a:prstGeom>
          <a:ln w="3810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29640" y="4777740"/>
            <a:ext cx="274320" cy="274320"/>
          </a:xfrm>
          <a:prstGeom prst="ellipse">
            <a:avLst/>
          </a:prstGeom>
          <a:solidFill>
            <a:srgbClr val="F3D77C"/>
          </a:solidFill>
          <a:ln>
            <a:solidFill>
              <a:srgbClr val="F3D7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5257800"/>
            <a:ext cx="1752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场景定义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" y="5646420"/>
            <a:ext cx="182880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0">
                <a:solidFill>
                  <a:srgbClr val="A6C7BD"/>
                </a:solidFill>
                <a:latin typeface="Microsoft YaHei"/>
              </a:defRPr>
            </a:pPr>
            <a:r>
              <a:t>认证／溯源／权益线索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495800"/>
            <a:ext cx="762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9" name="Oval 18"/>
          <p:cNvSpPr/>
          <p:nvPr/>
        </p:nvSpPr>
        <p:spPr>
          <a:xfrm>
            <a:off x="3253740" y="4168140"/>
            <a:ext cx="274320" cy="274320"/>
          </a:xfrm>
          <a:prstGeom prst="ellipse">
            <a:avLst/>
          </a:prstGeom>
          <a:solidFill>
            <a:srgbClr val="F3D77C"/>
          </a:solidFill>
          <a:ln>
            <a:solidFill>
              <a:srgbClr val="F3D7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5100" y="4648200"/>
            <a:ext cx="1752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交互原型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28900" y="5036820"/>
            <a:ext cx="182880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0">
                <a:solidFill>
                  <a:srgbClr val="A6C7BD"/>
                </a:solidFill>
                <a:latin typeface="Microsoft YaHei"/>
              </a:defRPr>
            </a:pPr>
            <a:r>
              <a:t>登记与查询工作流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886200"/>
            <a:ext cx="762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3" name="Oval 22"/>
          <p:cNvSpPr/>
          <p:nvPr/>
        </p:nvSpPr>
        <p:spPr>
          <a:xfrm>
            <a:off x="5577840" y="3444240"/>
            <a:ext cx="274320" cy="274320"/>
          </a:xfrm>
          <a:prstGeom prst="ellipse">
            <a:avLst/>
          </a:prstGeom>
          <a:solidFill>
            <a:srgbClr val="F3D77C"/>
          </a:solidFill>
          <a:ln>
            <a:solidFill>
              <a:srgbClr val="F3D7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3924300"/>
            <a:ext cx="1752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模型接通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4312920"/>
            <a:ext cx="182880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0">
                <a:solidFill>
                  <a:srgbClr val="A6C7BD"/>
                </a:solidFill>
                <a:latin typeface="Microsoft YaHei"/>
              </a:defRPr>
            </a:pPr>
            <a:r>
              <a:t>球形水印生成与提取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24500" y="3162300"/>
            <a:ext cx="762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7" name="Oval 26"/>
          <p:cNvSpPr/>
          <p:nvPr/>
        </p:nvSpPr>
        <p:spPr>
          <a:xfrm>
            <a:off x="7901940" y="2758440"/>
            <a:ext cx="274320" cy="274320"/>
          </a:xfrm>
          <a:prstGeom prst="ellipse">
            <a:avLst/>
          </a:prstGeom>
          <a:solidFill>
            <a:srgbClr val="F3D77C"/>
          </a:solidFill>
          <a:ln>
            <a:solidFill>
              <a:srgbClr val="F3D7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53299" y="3238500"/>
            <a:ext cx="1752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统一评测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7100" y="3627120"/>
            <a:ext cx="182880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0">
                <a:solidFill>
                  <a:srgbClr val="A6C7BD"/>
                </a:solidFill>
                <a:latin typeface="Microsoft YaHei"/>
              </a:defRPr>
            </a:pPr>
            <a:r>
              <a:t>画质／恢复／误检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8600" y="2476500"/>
            <a:ext cx="762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1" name="Oval 30"/>
          <p:cNvSpPr/>
          <p:nvPr/>
        </p:nvSpPr>
        <p:spPr>
          <a:xfrm>
            <a:off x="10454640" y="1996439"/>
            <a:ext cx="274320" cy="274320"/>
          </a:xfrm>
          <a:prstGeom prst="ellipse">
            <a:avLst/>
          </a:prstGeom>
          <a:solidFill>
            <a:srgbClr val="F3D77C"/>
          </a:solidFill>
          <a:ln>
            <a:solidFill>
              <a:srgbClr val="F3D7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06000" y="2476500"/>
            <a:ext cx="1752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0FFFA"/>
                </a:solidFill>
                <a:latin typeface="Microsoft YaHei"/>
              </a:defRPr>
            </a:pPr>
            <a:r>
              <a:t>真实试用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2865120"/>
            <a:ext cx="182880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0">
                <a:solidFill>
                  <a:srgbClr val="A6C7BD"/>
                </a:solidFill>
                <a:latin typeface="Microsoft YaHei"/>
              </a:defRPr>
            </a:pPr>
            <a:r>
              <a:t>任务耗时与用户反馈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1300" y="1714500"/>
            <a:ext cx="762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当前原型已有基础；方法闭环、统一评测与用户任务依次推进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测试与验证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论文证据说明潜力，项目实测检验可用性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805940"/>
            <a:ext cx="6362700" cy="35356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7449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78942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7992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4025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2120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789420" y="54025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979920" y="52120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46831" y="1783080"/>
            <a:ext cx="178155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" y="1897380"/>
            <a:ext cx="6179820" cy="33528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t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2004060"/>
            <a:ext cx="6057900" cy="313944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360920" y="18668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29996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9996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913638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32688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9996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29996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13638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32688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6720" y="18440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79" y="19811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24536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画质与观感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28041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质量指标＋局部细节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39300" y="18668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57834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57834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141476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0526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57834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57834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41476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160526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325100" y="18440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776460" y="19811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24536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传播恢复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76460" y="28041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压缩／缩放／裁剪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60920" y="37337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729996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29996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13638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32688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29996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29996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13638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32688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046720" y="37109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498079" y="38480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43205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误检与混淆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79" y="46710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负样本＋错误签名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39300" y="37337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957834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57834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1476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60526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57834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57834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141476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60526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325100" y="37109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776460" y="38480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76460" y="43205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应用体验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76460" y="46710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正确判断＋任务耗时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同时报告成功、失败与无法确认；不只展示成功样例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方案比较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区分技术能力与应用能力，按同一任务对比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7449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51460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0510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5168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51460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70510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0789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1722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390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可见署名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成图叠字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056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342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可直接看见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056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9342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可能被覆盖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56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342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需另存声明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056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86512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0416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80416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482346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1396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416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0416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82346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01396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1675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92608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276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文件元数据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0228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附带信息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97942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00228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观感不变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97942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00228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可能被移除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97942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00228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需兼容读取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97942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517398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11302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11302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713232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32282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11302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11302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713232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32282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92561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23494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162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后处理水印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1114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修改已成图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28828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31114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适用上传图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28828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31114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性能依模型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28828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1114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仍需登记关联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28828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748284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7421880" y="174498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42188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944118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963168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421880" y="551688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742188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944118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963168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23447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754380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5048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球形水印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2000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生成噪声嵌入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59714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762000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生成链路适配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59714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62000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依赖图像反演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59714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62000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论文技术基础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59714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979170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97307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7307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117500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19405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73074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973074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1175004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194054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054333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985266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5934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图溯方案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2886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身份＋登记关联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990600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992886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收到图即可核验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990600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992886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失败进入复核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990600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992886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登记与核验闭环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990600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在同一来源查找任务下，比较保护能力与使用成本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应用拓展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从一个可验证任务，延伸到多个图像使用场景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29000"/>
            <a:ext cx="3352800" cy="186689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24840" y="3368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4840" y="3368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909060" y="3368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99560" y="3368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4840" y="5356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24840" y="5166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909060" y="5356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99560" y="5166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92807" y="3406140"/>
            <a:ext cx="938785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8680" y="3619500"/>
            <a:ext cx="29718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3D77C"/>
                </a:solidFill>
                <a:latin typeface="Microsoft YaHei"/>
              </a:defRPr>
            </a:pPr>
            <a:r>
              <a:t>首个验证点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75760"/>
            <a:ext cx="29718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电商营销素材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生成—交付—再次核验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107179" y="3718560"/>
            <a:ext cx="32766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2667000"/>
            <a:ext cx="3352800" cy="186689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511040" y="2606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11040" y="2606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795260" y="260604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85759" y="2606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11040" y="4594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511040" y="4404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795260" y="459486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985759" y="4404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779007" y="2644140"/>
            <a:ext cx="938785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754880" y="2857500"/>
            <a:ext cx="29718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3D77C"/>
                </a:solidFill>
                <a:latin typeface="Microsoft YaHei"/>
              </a:defRPr>
            </a:pPr>
            <a:r>
              <a:t>相邻场景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13760"/>
            <a:ext cx="29718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创意设计与数字文创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作品流转与来源查找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993380" y="2956560"/>
            <a:ext cx="32766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1905000"/>
            <a:ext cx="3352800" cy="186689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3972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3972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68146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87196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397240" y="3832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397240" y="3642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1681460" y="3832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1871960" y="3642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665208" y="1882139"/>
            <a:ext cx="93878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641080" y="2095499"/>
            <a:ext cx="29718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3D77C"/>
                </a:solidFill>
                <a:latin typeface="Microsoft YaHei"/>
              </a:defRPr>
            </a:pPr>
            <a:r>
              <a:t>后续探索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2651760"/>
            <a:ext cx="29718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媒体内容与公共传播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系统来源辅助认证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以验证结果推动场景延伸，避免把尚未落地的范围写成成果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社会价值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为图像使用者提供可核实的来源线索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0" y="2438400"/>
            <a:ext cx="2133600" cy="21336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75960" y="2438400"/>
            <a:ext cx="640080" cy="21336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0" y="3185160"/>
            <a:ext cx="2133600" cy="64008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55920" y="2438400"/>
            <a:ext cx="1280160" cy="21336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029200" y="2865120"/>
            <a:ext cx="2133600" cy="128016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89220" y="2438400"/>
            <a:ext cx="1813560" cy="21336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0" y="2598420"/>
            <a:ext cx="2133600" cy="181356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21272" y="347472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66592" y="365693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5993" y="3127783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16210" y="380177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05418" y="339326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01430" y="319754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19613" y="401700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87627" y="2939317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68670" y="369519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37889" y="3733553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8275" y="2828367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88784" y="4187533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1900" y="308394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6037" y="330132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82776" y="416062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954551" y="2614658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49332" y="405172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144841" y="351221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" y="2004060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来源认证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" y="249936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辅助核对图片是否匹配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预先登记的生成身份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3399" y="2004060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可信溯源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3399" y="249936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把恢复的标识关联到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受控登记与历史记录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" y="4190999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权益保护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468630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为署名、授权核对与争议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提供可复查的辅助线索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3399" y="4190999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责任边界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3399" y="468630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不把检出标识等同于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事实真实或法律确权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让身份线索随图传播，让使用决策有据可查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让每一次传播，都保留可核验的身份线索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" y="1981199"/>
            <a:ext cx="7010400" cy="212811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85"/>
              </a:lnSpc>
              <a:spcAft>
                <a:spcPts val="0"/>
              </a:spcAft>
              <a:defRPr sz="3960" b="1">
                <a:solidFill>
                  <a:srgbClr val="F0FFFA"/>
                </a:solidFill>
                <a:latin typeface="Microsoft YaHei"/>
              </a:defRPr>
            </a:pPr>
            <a:r>
              <a:t>来源可认证</a:t>
            </a:r>
          </a:p>
          <a:p>
            <a:pPr>
              <a:lnSpc>
                <a:spcPts val="5385"/>
              </a:lnSpc>
              <a:spcAft>
                <a:spcPts val="0"/>
              </a:spcAft>
              <a:defRPr sz="3960" b="1">
                <a:solidFill>
                  <a:srgbClr val="F0FFFA"/>
                </a:solidFill>
                <a:latin typeface="Microsoft YaHei"/>
              </a:defRPr>
            </a:pPr>
            <a:r>
              <a:t>传播可追溯</a:t>
            </a:r>
          </a:p>
          <a:p>
            <a:pPr>
              <a:lnSpc>
                <a:spcPts val="5385"/>
              </a:lnSpc>
              <a:spcAft>
                <a:spcPts val="0"/>
              </a:spcAft>
              <a:defRPr sz="3960" b="1">
                <a:solidFill>
                  <a:srgbClr val="F0FFFA"/>
                </a:solidFill>
                <a:latin typeface="Microsoft YaHei"/>
              </a:defRPr>
            </a:pPr>
            <a:r>
              <a:t>权益有线索</a:t>
            </a:r>
          </a:p>
        </p:txBody>
      </p:sp>
      <p:sp>
        <p:nvSpPr>
          <p:cNvPr id="9" name="Oval 8"/>
          <p:cNvSpPr/>
          <p:nvPr/>
        </p:nvSpPr>
        <p:spPr>
          <a:xfrm>
            <a:off x="8077200" y="1600200"/>
            <a:ext cx="3048000" cy="30480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600200"/>
            <a:ext cx="9144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77200" y="2667000"/>
            <a:ext cx="3048000" cy="9144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0" y="1600200"/>
            <a:ext cx="1828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77200" y="2209800"/>
            <a:ext cx="3048000" cy="1828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5800" y="1600200"/>
            <a:ext cx="2590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77200" y="1828800"/>
            <a:ext cx="3048000" cy="2590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793222" y="309372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86538" y="335403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14253" y="259809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28848" y="356094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3432" y="297735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3449" y="269775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62282" y="386841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73730" y="23288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32363" y="3408678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74104" y="346348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03228" y="21703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89669" y="411202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08406" y="253547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00031" y="284600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81086" y="407357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12192" y="186506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47595" y="391801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55465" y="314728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24799" y="4953000"/>
            <a:ext cx="35814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48E1BF"/>
                </a:solidFill>
                <a:latin typeface="Microsoft YaHei"/>
              </a:defRPr>
            </a:pPr>
            <a:r>
              <a:t>球形水印 · ICLR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从内容生成，到传播后的可信核验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场景应用版  ·  DIGITAL IMAGE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