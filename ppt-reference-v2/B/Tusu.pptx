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开场：图溯面向数字图像可信传播，围绕来源认证、溯源和知识产权保护提供可核验的身份线索。底层技术采用球形水印研究方法。整体应用架构为本项目方案，不将研究方法表述为团队原创。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先从数字图像的广泛价值讲起，不以电商或AIGC限定整个问题。左侧是创作，传播使图像进入多种使用任务，右侧这些任务都依赖一定的来源、署名或授权信息。无市场规模数字。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本页使用程序绘制的原创营销设计样张作为情境道具，不是AI生成照片、不是实测传播案例。演示附带说明与图片分离，并不表示一切转发都会剥离元数据。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电商仅为首个验证点，问题背景不限电商。情境：设计方制作新品图，品牌交付代运营或合作方，再次收到图的运营人员需要找回登记来源并核对使用材料。不是已有真实试点案例。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需求假设：品牌只发图片、合作方改名、运营缺少授权文件会增加核对成本。本页是情境分析，非访谈结论。应用目标是缩短来源追问与材料定位路径，不能自动认定盗用。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调研方案而非完成数据：拟覆盖3名设计、3名运营、2名审核人员。半结构化访谈记录最近一次交付与来源追问，不诱导受访者认可水印。随后同人交叉执行人工查找/图溯核验，顺序随机，保存匿名原话、观察记录、成功/失败与用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用户需求为基于任务的需求假设，尚非完成访谈的统计结论。拟访谈创作者、运营、审核人员，追问最近一次交付、来源追问过程和画质底线；观察对比人工追问与系统来源查找。不得虚构问卷百分比。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此页为定性任务对比。可见署名、元数据、相似检索、隐形水印各有用途，并不宣称已有水印登记应用不存在。图溯的差异化需在同一用户任务中验证。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底层球形水印算法来自论文，不归为本项目原创。场景创新为主动身份标记与收到图片后的来源查找衔接；应用差异化仍须调研与对比任务支撑。技术难点包括反演恢复、误检、签名管理、登记安全与异常状态。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本页为拟接入业务SOP。图片登记可存署名与项目声明；授权范围、期限与证明文件目前依赖人工材料清单，不宣称已实现授权管理系统。图片持有者通过平台核验，未自动赋予下载者使用许可。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图溯应用框架图为本项目设计。算法层采用球形水印，登记层与交互层为应用设计。该框架描述目标主路线；现有原型后处理水印路径不能自动视为球形水印生成模型已接通。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选型依据论文方法特性，而非保证其在当前样本绝对最佳。生成先验适配、质量扰动与恢复能力要分别验证。无额外训练不等于无计算成本，提取仍有反演开销。</a:t>
            </a:r>
          </a:p>
          <a:p>
            <a:r>
              <a:t>来源及说明：方法依据：Hu et al., Spherical Watermark, ICLR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Figure1(b)：重复水印及随机填充，经GF(2)可逆混合T，映射到单位球面，施加正交旋转C，再以卡方随机半径缩放。签名K=(T,C)固定且保密。归一化与半径选择依据论文构造与假设，不能夸大为像素无损或无限不可检测。</a:t>
            </a:r>
          </a:p>
          <a:p>
            <a:r>
              <a:t>来源及说明：原图：Spherical Watermark Figure1(b)，PDF第3页；核心方法采用原论文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论文提取先VAE编码和近似扩散反演，再对C施逆变换、量化、T逆映射，并多数投票恢复重复消息。应用层以匿名编号关联登记；无有效匹配、冲突或错误时分流，不把失败当无版权。</a:t>
            </a:r>
          </a:p>
          <a:p>
            <a:r>
              <a:t>来源及说明：上图：Figure1(a)；下方为图溯核验任务设计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截图来自本次真实运行的现有网页原型。左侧演示可见署名，右侧演示内置轻量水印的实际来源查询；均不是球形水印模型运行截图。示例图片为自绘营销设计样张。此页讲交互，不报告论文模型效果。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原型实际为Python HTTP服务、独立worker、JSON记录与PNG文件；模型任务单槽串行。球形水印需要独立模型仓库、权重与签名以及兼容GPU环境。未测GPU显存和吞吐，不填配置承诺。多租户鉴权、数据库与密钥托管是正式接入前工作项。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协作设计：算法负责人承担模型复现与配置，产品负责人承担接口与交互，验证负责人承担数据、对照实验和需求记录。未提供真实成员履历或协作成效，不编造团队背书。现有原型和13项软件测试有证据，后续模型统一评测与用户试点尚待实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拟固定提示词、模型、采样步数和分辨率管理。条件包括原始图、JPEG90/JPEG50、缩放50%、中心裁剪70%，并纳入无水印负样本和错误签名。指标报告实际定义及样本数，避免检测TPR与比特准确率混用。访谈与小规模用户任务均未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-15本次实际执行原型API：24张程序自绘640×640设计图，咖啡/文创/家居3类布局；另24张独立无水印样张。内置轻量水印，不是球形水印。5种传播条件共120次正样本来源查询，另24次负样本查询。随机记录ID，原始结果CSV与方法代码随证据材料提供。</a:t>
            </a:r>
          </a:p>
          <a:p>
            <a:r>
              <a:t>来源及说明：原始证据：evidence/raw-results.csv；不外推为球形水印成绩或真实商户效果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项实际工作流单元测试通过；包含部分模型链路夹具，不能表示GPU模型运行。另24张无水印图均未关联登记，仅为受控负样本结果。小样本零误匹配不表示总体零误检。任务查询中位耗时为单机本地24条登记扫描，不是公网延迟或生产S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为本次受控试验，不是企业上线案例。情境1明显压缩后再次上传24/24关联正确；情境2中心裁剪后0/24恢复，保留人工复核；情境3未登记无水印样张24/24无关联。品牌设计图为自绘样张，不声称真实商业素材或授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业务试点计划，尚无签约或已完成访谈。拟先联系一家有合法素材的小型品牌/设计服务团队，选一个完整营销批次；3至5名设计、运营、审核用户。入组许可、数据去标识，人工追问与系统查找交叉执行。验收阈值应由前测与用户共同确定，不虚构完成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收益模型为评估方法，非已取得收益。设月任务量M，人工与系统任务时间差Δt，人力小时成本H，则月可节省工时=M*Δt/60，毛节省=M*Δt*H/60；扣除模型推理、存储、维护和复核增量成本。不能将未核实侵权损失、赔偿或营收当项目收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先选择自有或授权素材，拟邀设计或运营使用者，执行交付与来源查找。比较人工追问和系统核验的任务耗时、正确判断与无法确认。未来拓展场景为计划，不声称已有部署客户、专利、营收或市场份额。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轻量方法裁剪失败，论文主线的真实业务统一评测尚待完成，登记遍历规模、标识冲突、多租户权限与签名管理需进一步验证。改善候选不能保证抗攻击；任何对齐预处理或新模型都需重新测正负样本与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结语回扣大背景、核心矛盾和场景方案。当前方案以生成式水印技术为基础，将匿名登记与传播后核验连接起来。未来改善反演稳定性、误检控制、抗重绘与隐私保护。参考文献：Hu et al. Spherical Watermark: Encryption-Free, Lossless Watermarking for Diffusion Models. ICLR2026；相关Tree-Ring、Gaussian Shading、PRC等背景文献。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本表用于评审定位，非自评满分。需求调研与商户试点暂无真实结果，论文主线GPU性能需独立数据。最高档要求成效与可靠证据，不是仅增加页面或写承诺。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项目概述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087880"/>
            <a:ext cx="6934200" cy="121615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488"/>
              </a:lnSpc>
              <a:spcAft>
                <a:spcPts val="0"/>
              </a:spcAft>
              <a:defRPr sz="3300" b="1">
                <a:solidFill>
                  <a:srgbClr val="F6F5FC"/>
                </a:solidFill>
                <a:latin typeface="Microsoft YaHei"/>
              </a:defRPr>
            </a:pPr>
            <a:r>
              <a:t>面向数字图像可信传播的</a:t>
            </a:r>
          </a:p>
          <a:p>
            <a:pPr>
              <a:lnSpc>
                <a:spcPts val="4488"/>
              </a:lnSpc>
              <a:spcAft>
                <a:spcPts val="0"/>
              </a:spcAft>
              <a:defRPr sz="3300" b="1">
                <a:solidFill>
                  <a:srgbClr val="F6F5FC"/>
                </a:solidFill>
                <a:latin typeface="Microsoft YaHei"/>
              </a:defRPr>
            </a:pPr>
            <a:r>
              <a:t>来源认证与溯源方案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880" y="3550920"/>
            <a:ext cx="6553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0">
                <a:solidFill>
                  <a:srgbClr val="BCC0D8"/>
                </a:solidFill>
                <a:latin typeface="Microsoft YaHei"/>
              </a:defRPr>
            </a:pPr>
            <a:r>
              <a:t>让图片传播之后，来源仍有迹可循。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56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来源认证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3454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122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可信溯源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5200" y="43510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3967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权益线索</a:t>
            </a:r>
          </a:p>
        </p:txBody>
      </p:sp>
      <p:sp>
        <p:nvSpPr>
          <p:cNvPr id="15" name="Oval 14"/>
          <p:cNvSpPr/>
          <p:nvPr/>
        </p:nvSpPr>
        <p:spPr>
          <a:xfrm>
            <a:off x="8199120" y="1996439"/>
            <a:ext cx="2651760" cy="265176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27235" y="1996439"/>
            <a:ext cx="795527" cy="265176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02954" y="1996439"/>
            <a:ext cx="1644091" cy="265176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99120" y="2924556"/>
            <a:ext cx="2651760" cy="795527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99120" y="2500274"/>
            <a:ext cx="2651760" cy="1644091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001000" y="4991100"/>
            <a:ext cx="3048000" cy="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15300" y="521208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B49BFF"/>
                </a:solidFill>
                <a:latin typeface="Microsoft YaHei"/>
              </a:defRPr>
            </a:pPr>
            <a:r>
              <a:t>生成身份  →  传播核验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AI＋场景创新 · 以可核验身份连接创作、传播与使用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大背景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图像不仅传递信息，也承载创意、品牌与资产价值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712720"/>
            <a:ext cx="2087880" cy="13258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842260"/>
            <a:ext cx="178308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图像创作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246120"/>
            <a:ext cx="17830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摄影／设计／生成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97480" y="3291840"/>
            <a:ext cx="5715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91939" y="2423160"/>
            <a:ext cx="1905000" cy="1905000"/>
          </a:xfrm>
          <a:prstGeom prst="ellipse">
            <a:avLst/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6260" y="3032760"/>
            <a:ext cx="1600200" cy="490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264"/>
              </a:lnSpc>
              <a:spcAft>
                <a:spcPts val="0"/>
              </a:spcAft>
              <a:defRPr sz="2400" b="1">
                <a:solidFill>
                  <a:srgbClr val="F6F5FC"/>
                </a:solidFill>
                <a:latin typeface="Microsoft YaHei"/>
              </a:defRPr>
            </a:pPr>
            <a:r>
              <a:t>数字图像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7220" y="3528060"/>
            <a:ext cx="1447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可复制 · 易流转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392680"/>
            <a:ext cx="1516380" cy="9829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20000" y="195072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208026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内容传播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484120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新闻、社交与知识交流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03620" y="3375660"/>
            <a:ext cx="1516380" cy="2971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20000" y="323088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36042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创意表达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764279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设计、艺术与数字文创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3620" y="3375660"/>
            <a:ext cx="1516380" cy="157734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20000" y="4511040"/>
            <a:ext cx="4061460" cy="9601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4640580"/>
            <a:ext cx="37566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商业使用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5044440"/>
            <a:ext cx="37566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品牌营销与素材交付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" y="4998720"/>
            <a:ext cx="5257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B49BFF"/>
                </a:solidFill>
                <a:latin typeface="Microsoft YaHei"/>
              </a:defRPr>
            </a:pPr>
            <a:r>
              <a:t>价值依赖使用，使用需要可信线索。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来源身份，是图像价值被可靠使用的重要基础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核心矛盾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画面可以完整保留，来源说明却可能在传播中脱落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63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2381250"/>
            <a:ext cx="1691640" cy="1691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580" y="4061460"/>
            <a:ext cx="1920240" cy="335280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6780" y="4107179"/>
            <a:ext cx="17678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11162D"/>
                </a:solidFill>
                <a:latin typeface="Microsoft YaHei"/>
              </a:defRPr>
            </a:pPr>
            <a:r>
              <a:t>来源：拾光设计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创作者交付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图片＋署名＋使用说明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30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580" y="2381250"/>
            <a:ext cx="1691640" cy="1691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82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群聊／平台转发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图片被另存、改名或编辑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9700" y="2141220"/>
            <a:ext cx="1828800" cy="2171700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381250"/>
            <a:ext cx="1691640" cy="1691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24900" y="4632960"/>
            <a:ext cx="25908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再次收到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5067300"/>
            <a:ext cx="2590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可见内容，难核对来处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223260" y="3154680"/>
            <a:ext cx="9144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7261860" y="3154680"/>
            <a:ext cx="9144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24400" y="171450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1080" y="176022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来源说明未随图保留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需要让可核验的身份线索进入图像本身，而非只依赖附件说明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验证场景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用一张电商营销图，贯穿生成、交付与再次核验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73580"/>
            <a:ext cx="3467100" cy="5334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品牌／设计方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54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895600"/>
            <a:ext cx="1539240" cy="1539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249680" y="4351020"/>
            <a:ext cx="1767840" cy="335280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396740"/>
            <a:ext cx="1615440" cy="2834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  <a:defRPr sz="1200" b="1">
                <a:solidFill>
                  <a:srgbClr val="11162D"/>
                </a:solidFill>
                <a:latin typeface="Microsoft YaHei"/>
              </a:defRPr>
            </a:pPr>
            <a:r>
              <a:t>作品编号：TS-001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CC0D8"/>
                </a:solidFill>
                <a:latin typeface="Microsoft YaHei"/>
              </a:defRPr>
            </a:pPr>
            <a:r>
              <a:t>制作与交付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15740" y="345948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973580"/>
            <a:ext cx="3467100" cy="5334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合作／传播方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16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180" y="2895600"/>
            <a:ext cx="1539240" cy="15392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39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CC0D8"/>
                </a:solidFill>
                <a:latin typeface="Microsoft YaHei"/>
              </a:defRPr>
            </a:pPr>
            <a:r>
              <a:t>接收与再次传播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901940" y="345948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7699" y="1973580"/>
            <a:ext cx="3467100" cy="5334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2095499"/>
            <a:ext cx="31623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运营／审核方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7800" y="2727960"/>
            <a:ext cx="1676400" cy="1874519"/>
          </a:xfrm>
          <a:prstGeom prst="roundRect">
            <a:avLst>
              <a:gd name="adj" fmla="val 8000"/>
            </a:avLst>
          </a:prstGeom>
          <a:solidFill>
            <a:srgbClr val="EEE7D9"/>
          </a:solidFill>
          <a:ln>
            <a:solidFill>
              <a:srgbClr val="EEE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emo-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6380" y="2895600"/>
            <a:ext cx="1539240" cy="15392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20100" y="4922520"/>
            <a:ext cx="31623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CC0D8"/>
                </a:solidFill>
                <a:latin typeface="Microsoft YaHei"/>
              </a:defRPr>
            </a:pPr>
            <a:r>
              <a:t>收到图片并决定使用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62900" y="5356860"/>
            <a:ext cx="3352800" cy="327660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9579" y="5402580"/>
            <a:ext cx="31394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11162D"/>
                </a:solidFill>
                <a:latin typeface="Microsoft YaHei"/>
              </a:defRPr>
            </a:pPr>
            <a:r>
              <a:t>上传收到的图 → 查找来源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用户不必知道图片经历过哪些处理，也能发起来源查找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需求分析 · 问题剖析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真正的断点，发生在“制作—交付—再次使用”的责任交接处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80260"/>
            <a:ext cx="3467100" cy="19354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2098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制作端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6136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署名与身份在交付说明中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B49BFF"/>
                </a:solidFill>
                <a:latin typeface="Microsoft YaHei"/>
              </a:defRPr>
            </a:pPr>
            <a:r>
              <a:t>需求：身份随图保留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08120" y="2910840"/>
            <a:ext cx="3048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1500" y="2080260"/>
            <a:ext cx="3467100" cy="19354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3900" y="22098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交付端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3900" y="26136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多个合作方持有相似版本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B49BFF"/>
                </a:solidFill>
                <a:latin typeface="Microsoft YaHei"/>
              </a:defRPr>
            </a:pPr>
            <a:r>
              <a:t>需求：统一作品与批次登记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94320" y="2910840"/>
            <a:ext cx="3048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7699" y="2080260"/>
            <a:ext cx="3467100" cy="19354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0100" y="22098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使用端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0100" y="26136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再次收到图片时缺少材料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436620"/>
            <a:ext cx="315468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B49BFF"/>
                </a:solidFill>
                <a:latin typeface="Microsoft YaHei"/>
              </a:defRPr>
            </a:pPr>
            <a:r>
              <a:t>需求：直接上传并关联线索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60" y="4533900"/>
            <a:ext cx="107823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6F5FC"/>
                </a:solidFill>
                <a:latin typeface="Microsoft YaHei"/>
              </a:defRPr>
            </a:pPr>
            <a:r>
              <a:t>核心用户：品牌设计／店铺运营／审核人员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60" y="5021580"/>
            <a:ext cx="107823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关键约束：图片观感、低操作成本、授权材料与隐私边界。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需求来自交接任务，技术选型围绕交接中的信息断点展开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需求分析 · 调研方法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访谈问清真实经历，任务观察检验实际操作成本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49780"/>
            <a:ext cx="3467100" cy="21793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样本与角色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设计3人／运营3人／审核2人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BCC0D8"/>
                </a:solidFill>
                <a:latin typeface="Microsoft YaHei"/>
              </a:defRPr>
            </a:pPr>
            <a:r>
              <a:t>覆盖生成、交付和再次使用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1500" y="2049780"/>
            <a:ext cx="3467100" cy="21793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39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访谈与案例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追问最近一次真实交付经历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39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BCC0D8"/>
                </a:solidFill>
                <a:latin typeface="Microsoft YaHei"/>
              </a:defRPr>
            </a:pPr>
            <a:r>
              <a:t>保留匿名原话与材料出处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7699" y="2049780"/>
            <a:ext cx="3467100" cy="21793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01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任务对照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01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人工追问 ↔ 系统核验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100" y="3543300"/>
            <a:ext cx="3162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BCC0D8"/>
                </a:solidFill>
                <a:latin typeface="Microsoft YaHei"/>
              </a:defRPr>
            </a:pPr>
            <a:r>
              <a:t>同图同任务，记录正确与用时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" y="4709160"/>
            <a:ext cx="107442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" y="4754880"/>
            <a:ext cx="10530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调研输出：真实案例 → 痛点频次／严重度 → 功能优先级 → 验收条件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60" y="5280660"/>
            <a:ext cx="10744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6F5FC"/>
                </a:solidFill>
                <a:latin typeface="Microsoft YaHei"/>
              </a:defRPr>
            </a:pPr>
            <a:r>
              <a:t>避免只问“是否需要保护”，重点观察“现在怎样找来源、在哪里卡住”。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调研方案以可追查记录为证据，问卷意愿不能替代真实任务表现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需求分析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把用户的疑问，转化为可实现、可验收的系统要求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299" y="2004060"/>
            <a:ext cx="3505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49BFF"/>
                </a:solidFill>
                <a:latin typeface="Microsoft YaHei"/>
              </a:defRPr>
            </a:pPr>
            <a:r>
              <a:t>用户疑问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36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49BFF"/>
                </a:solidFill>
                <a:latin typeface="Microsoft YaHei"/>
              </a:defRPr>
            </a:pPr>
            <a:r>
              <a:t>系统要求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04060"/>
            <a:ext cx="34671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49BFF"/>
                </a:solidFill>
                <a:latin typeface="Microsoft YaHei"/>
              </a:defRPr>
            </a:pPr>
            <a:r>
              <a:t>验收关注点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255270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69748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加标识会不会影响图片？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4360" y="255270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生成保护＋前后对照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5270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269748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视觉质量与局部细节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299" y="326136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340614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收到图片后怎么找到来源？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4360" y="326136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866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直接上传＋恢复编号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26136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3900" y="340614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匹配正确率与无法确认率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299" y="397002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411480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这个结果能不能直接使用？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4360" y="397002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66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登记展示＋授权辅助检查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97002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3900" y="411480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信息完整性与复核提示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299" y="4678680"/>
            <a:ext cx="35052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823460"/>
            <a:ext cx="3276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图片太多，能否重复查阅？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4360" y="467868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866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素材与核验记录统一管理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4678680"/>
            <a:ext cx="34671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3900" y="4823460"/>
            <a:ext cx="32385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任务耗时与记录可追查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访谈与任务观察 → 需求优先级 → 功能设计 → 验收指标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现有方案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单一保护方式，难以覆盖传播后的完整核验任务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2087880"/>
            <a:ext cx="1905000" cy="4191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" y="217932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1162D"/>
                </a:solidFill>
                <a:latin typeface="Microsoft YaHei"/>
              </a:defRPr>
            </a:pPr>
            <a:r>
              <a:t>现有方式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7460" y="2087880"/>
            <a:ext cx="3581400" cy="4191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9380" y="217932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1162D"/>
                </a:solidFill>
                <a:latin typeface="Microsoft YaHei"/>
              </a:defRPr>
            </a:pPr>
            <a:r>
              <a:t>能够解决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0" y="2087880"/>
            <a:ext cx="5448300" cy="4191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320" y="217932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11162D"/>
                </a:solidFill>
                <a:latin typeface="Microsoft YaHei"/>
              </a:defRPr>
            </a:pPr>
            <a:r>
              <a:t>传播后仍存在的缺口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2514600"/>
            <a:ext cx="19050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" y="268224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可见署名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37460" y="2514600"/>
            <a:ext cx="35814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9380" y="268224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直接展示作者或品牌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8400" y="2514600"/>
            <a:ext cx="54483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320" y="268224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可能被覆盖或裁掉，也会占用画面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246120"/>
            <a:ext cx="19050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" y="341376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元数据／文件名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37460" y="3246120"/>
            <a:ext cx="35814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9380" y="341376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保存创建与来源说明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8400" y="3246120"/>
            <a:ext cx="54483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320" y="341376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信息可能在平台转发、改名时丢失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299" y="3977639"/>
            <a:ext cx="19050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14528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相似图检索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37460" y="3977639"/>
            <a:ext cx="35814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9380" y="414528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找到相似内容与候选作品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8400" y="3977639"/>
            <a:ext cx="5448300" cy="70866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320" y="414528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6F5FC"/>
                </a:solidFill>
                <a:latin typeface="Microsoft YaHei"/>
              </a:defRPr>
            </a:pPr>
            <a:r>
              <a:t>相似不等于来源一致，更不等于有效授权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709160"/>
            <a:ext cx="19050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" y="4876800"/>
            <a:ext cx="16611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6F5FC"/>
                </a:solidFill>
                <a:latin typeface="Microsoft YaHei"/>
              </a:defRPr>
            </a:pPr>
            <a:r>
              <a:t>隐形水印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37460" y="4709160"/>
            <a:ext cx="35814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9380" y="4876800"/>
            <a:ext cx="33375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6F5FC"/>
                </a:solidFill>
                <a:latin typeface="Microsoft YaHei"/>
              </a:defRPr>
            </a:pPr>
            <a:r>
              <a:t>在图像中保存可检测信号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8400" y="4709160"/>
            <a:ext cx="5448300" cy="708660"/>
          </a:xfrm>
          <a:prstGeom prst="rect">
            <a:avLst/>
          </a:prstGeom>
          <a:solidFill>
            <a:srgbClr val="11162D"/>
          </a:solidFill>
          <a:ln>
            <a:solidFill>
              <a:srgbClr val="111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0320" y="4876800"/>
            <a:ext cx="520446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6F5FC"/>
                </a:solidFill>
                <a:latin typeface="Microsoft YaHei"/>
              </a:defRPr>
            </a:pPr>
            <a:r>
              <a:t>仍需登记关联、误检控制与失败复核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图溯的切入点：把图像中的标识与登记、核验和复核流程连接起来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创新与壁垒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把研究方法转化为可使用、可复查的可信传播流程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81199"/>
            <a:ext cx="11201400" cy="70104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40" y="2141220"/>
            <a:ext cx="107442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6F5FC"/>
                </a:solidFill>
                <a:latin typeface="Microsoft YaHei"/>
              </a:defRPr>
            </a:pPr>
            <a:r>
              <a:t>研究基础：球形水印的编码、噪声构造与反演恢复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09800" y="2682240"/>
            <a:ext cx="0" cy="4648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5299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流程融合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从生成、交付到再次核验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难点：算法与登记一致关联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6000" y="2682240"/>
            <a:ext cx="0" cy="4648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1500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低门槛核验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收到图片后直接上传查询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39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难点：误检、冲突和无法确认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82200" y="2682240"/>
            <a:ext cx="0" cy="4648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7699" y="3147060"/>
            <a:ext cx="3467100" cy="188213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327660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可追查管理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0100" y="368046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署名声明与核验记录衔接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4442460"/>
            <a:ext cx="31623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难点：签名、隐私与记录安全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" y="5387340"/>
            <a:ext cx="107442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应用贡献围绕任务闭环展开，技术壁垒由稳定运行与严格验证积累。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场景融合与工程能力，需要用用户任务和真实数据证明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业务落地 · 操作闭环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一次交付建立身份，一次上传启动来源核验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设计制作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描述生成或上传保护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B49B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8420" y="2811780"/>
            <a:ext cx="1447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81300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3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品牌交付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3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登记编号＋留存交付图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3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B49B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84420" y="2811780"/>
            <a:ext cx="1447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67300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网络传播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9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转发／压缩／改名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B49B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0420" y="2811780"/>
            <a:ext cx="1447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53299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运营核验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5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上传收到的图片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5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B49B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6420" y="2811780"/>
            <a:ext cx="1447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39300" y="2194560"/>
            <a:ext cx="2057400" cy="15087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91700" y="2324100"/>
            <a:ext cx="1752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人工复核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91700" y="2727960"/>
            <a:ext cx="1752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核对署名与授权材料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1220" y="3870960"/>
            <a:ext cx="1866899" cy="5839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98"/>
              </a:lnSpc>
              <a:spcAft>
                <a:spcPts val="0"/>
              </a:spcAft>
              <a:defRPr sz="2940" b="1">
                <a:solidFill>
                  <a:srgbClr val="B49B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" y="4686300"/>
            <a:ext cx="107442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正常：有效编号 → 来源登记 → 人工确认使用依据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" y="5204460"/>
            <a:ext cx="107442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异常：无匹配／冲突／服务错误 → 不作确权结论 → 补充原图与材料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业务使用结果是“有线索可核对”，而非自动判定侵权或许可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总体方案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生成侧建立身份，接收侧恢复身份，登记层连接两端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1262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80" y="195834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生成与交付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99" y="4709160"/>
            <a:ext cx="13335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80" y="4754880"/>
            <a:ext cx="11201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接收与核验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用户描述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画面与制作需求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1876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116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身份嵌入＋生成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匿名编号 → 潜在噪声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6360" y="188976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8760" y="201930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交付图片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8760" y="242316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下载并发布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22520" y="236220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8145780" y="2362200"/>
            <a:ext cx="69342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5800" y="3360420"/>
            <a:ext cx="4457700" cy="100584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8200" y="3489960"/>
            <a:ext cx="41529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匿名来源登记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8200" y="3893820"/>
            <a:ext cx="41529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作品编号／项目声明／署名／核验历史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0" y="2987040"/>
            <a:ext cx="0" cy="37338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3360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600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收到图片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上传待核验图像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1876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116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反演＋恢复消息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116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生成身份 → 匿名编号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6360" y="4678680"/>
            <a:ext cx="2705100" cy="10972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28760" y="4808220"/>
            <a:ext cx="2400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显示来源线索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8760" y="5212080"/>
            <a:ext cx="2400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有效匹配／人工复核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922520" y="5173980"/>
            <a:ext cx="2895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ight Arrow 35"/>
          <p:cNvSpPr/>
          <p:nvPr/>
        </p:nvSpPr>
        <p:spPr>
          <a:xfrm>
            <a:off x="8145780" y="5173980"/>
            <a:ext cx="69342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6667500" y="4366260"/>
            <a:ext cx="0" cy="31242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63200" y="2987040"/>
            <a:ext cx="0" cy="1691640"/>
          </a:xfrm>
          <a:prstGeom prst="line">
            <a:avLst/>
          </a:prstGeom>
          <a:ln w="22859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97340" y="3535680"/>
            <a:ext cx="2438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网络传播</a:t>
            </a:r>
          </a:p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压缩／转发／编辑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从图像到登记的关联闭环，是方案的应用核心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技术选型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球形水印，适配“生成时标记、传播后核验”的需求</a:t>
            </a:r>
          </a:p>
        </p:txBody>
      </p:sp>
      <p:sp>
        <p:nvSpPr>
          <p:cNvPr id="7" name="Oval 6"/>
          <p:cNvSpPr/>
          <p:nvPr/>
        </p:nvSpPr>
        <p:spPr>
          <a:xfrm>
            <a:off x="5143500" y="2514600"/>
            <a:ext cx="1905000" cy="19050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10250" y="2514600"/>
            <a:ext cx="571500" cy="19050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05450" y="2514600"/>
            <a:ext cx="1181100" cy="19050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43500" y="3181350"/>
            <a:ext cx="1905000" cy="571500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43500" y="2876550"/>
            <a:ext cx="1905000" cy="1181100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33060" y="3238500"/>
            <a:ext cx="14859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球形水印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194560" y="2415540"/>
            <a:ext cx="3901440" cy="105156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195834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760" y="208788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生成先验适配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60" y="249174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将身份映射到扩散模型潜在噪声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96000" y="2415540"/>
            <a:ext cx="3505200" cy="105156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01000" y="195834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08788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质量保护目标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3399" y="249174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兼顾标识嵌入与生成内容观感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194560" y="3467100"/>
            <a:ext cx="3901440" cy="15163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452628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760" y="465582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生成端集成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760" y="50596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依托预训练生成模型构建路线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467100"/>
            <a:ext cx="3505200" cy="151638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01000" y="4526280"/>
            <a:ext cx="3581400" cy="10591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399" y="4655820"/>
            <a:ext cx="3276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传播后恢复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3399" y="50596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通过反演与逆变换恢复消息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选型围绕场景需求展开，最终效果由统一测试验证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生成端技术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把作品身份映射为噪声，再参与扩散生成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73580"/>
            <a:ext cx="11201400" cy="2682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5030"/>
            <a:ext cx="10911840" cy="233934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71500" y="502158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① 身份编码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重复消息＋随机填充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34840" y="502158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9486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② 球面映射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86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归一化＋正交旋转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67699" y="502158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27720" y="4983480"/>
            <a:ext cx="31927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③ 潜在生成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720" y="5326380"/>
            <a:ext cx="31927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随机半径＋扩散去噪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身份信息随生成过程进入图像，为后续核验留下可恢复信号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核验端技术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恢复标识之后，还要完成来源关联与有效性检查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12620"/>
            <a:ext cx="11201400" cy="18668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600" y="2019300"/>
            <a:ext cx="6400800" cy="16535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5299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上传收到的图片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无需说明传播过程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78480" y="4785360"/>
            <a:ext cx="2209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09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33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反演与消息恢复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33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执行论文提取链路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74080" y="4785360"/>
            <a:ext cx="2209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登记关联与检查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有效编号／声明核对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69680" y="4785360"/>
            <a:ext cx="22098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2100" y="4274820"/>
            <a:ext cx="2514600" cy="12115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34500" y="4404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结果与复核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4500" y="4808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来源线索／无法确认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技术检测提供线索，授权与权属判断仍需结合登记和业务材料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功能演示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保护与核验，落在用户看得见的两次操作上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1935480"/>
            <a:ext cx="5410200" cy="3314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-prot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30" y="2004060"/>
            <a:ext cx="5082540" cy="3177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5299" y="5410200"/>
            <a:ext cx="5410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6F5FC"/>
                </a:solidFill>
                <a:latin typeface="Microsoft YaHei"/>
              </a:defRPr>
            </a:pPr>
            <a:r>
              <a:t>图片保护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1180" y="5463540"/>
            <a:ext cx="40005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BCC0D8"/>
                </a:solidFill>
                <a:latin typeface="Microsoft YaHei"/>
              </a:defRPr>
            </a:pPr>
            <a:r>
              <a:t>上传／填写署名／预览／下载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1935480"/>
            <a:ext cx="5410200" cy="3314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duct-tr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330" y="2004060"/>
            <a:ext cx="5082540" cy="3177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5410200"/>
            <a:ext cx="5410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6F5FC"/>
                </a:solidFill>
                <a:latin typeface="Microsoft YaHei"/>
              </a:defRPr>
            </a:pPr>
            <a:r>
              <a:t>图片溯源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2379" y="5463540"/>
            <a:ext cx="40005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BCC0D8"/>
                </a:solidFill>
                <a:latin typeface="Microsoft YaHei"/>
              </a:defRPr>
            </a:pPr>
            <a:r>
              <a:t>上传收到的图片／查看登记线索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减少操作解释，把保护结果和核验线索直接展示给用户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可行性 · 部署与资源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网页、任务服务与模型环境分离，按实际负载逐步接入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171700"/>
            <a:ext cx="2743200" cy="12877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301240"/>
            <a:ext cx="2438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浏览器入口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705100"/>
            <a:ext cx="2438400" cy="55290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图片保护／素材与记录／图片</a:t>
            </a:r>
          </a:p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溯源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52800" y="2705100"/>
            <a:ext cx="48006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62399" y="2171700"/>
            <a:ext cx="3200400" cy="12877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301240"/>
            <a:ext cx="2895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任务与登记服务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05100"/>
            <a:ext cx="2895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HTTP接口／任务状态／异常提示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292340" y="2705100"/>
            <a:ext cx="457200" cy="152400"/>
          </a:xfrm>
          <a:prstGeom prst="rightArrow">
            <a:avLst/>
          </a:prstGeom>
          <a:solidFill>
            <a:srgbClr val="B4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86700" y="2171700"/>
            <a:ext cx="3810000" cy="12877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9099" y="2301240"/>
            <a:ext cx="35052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模型执行环境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9099" y="2705100"/>
            <a:ext cx="35052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独立Python worker／权重／签名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2399" y="4084320"/>
            <a:ext cx="3200400" cy="11506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4213860"/>
            <a:ext cx="28956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原型存储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617720"/>
            <a:ext cx="2895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JSON登记＋图片文件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62600" y="3459480"/>
            <a:ext cx="0" cy="62484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" y="4130040"/>
            <a:ext cx="29337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CC0D8"/>
                </a:solidFill>
                <a:latin typeface="Microsoft YaHei"/>
              </a:defRPr>
            </a:pPr>
            <a:r>
              <a:t>轻量原型：CPU可运行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CC0D8"/>
                </a:solidFill>
                <a:latin typeface="Microsoft YaHei"/>
              </a:defRPr>
            </a:pPr>
            <a:r>
              <a:t>论文主线：GPU生成与反演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9099" y="4130040"/>
            <a:ext cx="34671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CC0D8"/>
                </a:solidFill>
                <a:latin typeface="Microsoft YaHei"/>
              </a:defRPr>
            </a:pPr>
            <a:r>
              <a:t>正式接入条件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CC0D8"/>
                </a:solidFill>
                <a:latin typeface="Microsoft YaHei"/>
              </a:defRPr>
            </a:pPr>
            <a:r>
              <a:t>鉴权、签名保护、备份与并发验证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资源需求随模型与任务规模确定，部署前以实测确认容量和成本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项目实施 · 里程碑与协作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用阶段验收和明确交付物，连接算法、产品与验证工作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2065020"/>
            <a:ext cx="1524000" cy="60198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740" y="220980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1162D"/>
                </a:solidFill>
                <a:latin typeface="Microsoft YaHei"/>
              </a:defRPr>
            </a:pPr>
            <a:r>
              <a:t>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3600" y="2065020"/>
            <a:ext cx="2247900" cy="60198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5040" y="220980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1162D"/>
                </a:solidFill>
                <a:latin typeface="Microsoft YaHei"/>
              </a:defRPr>
            </a:pPr>
            <a:r>
              <a:t>负责角色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8660" y="2065020"/>
            <a:ext cx="3771900" cy="60198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0980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1162D"/>
                </a:solidFill>
                <a:latin typeface="Microsoft YaHei"/>
              </a:defRPr>
            </a:pPr>
            <a:r>
              <a:t>阶段交付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2960" y="2065020"/>
            <a:ext cx="3253740" cy="60198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4400" y="220980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1162D"/>
                </a:solidFill>
                <a:latin typeface="Microsoft YaHei"/>
              </a:defRPr>
            </a:pPr>
            <a:r>
              <a:t>验收门槛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299" y="2727960"/>
            <a:ext cx="15240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740" y="287274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原型闭环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3600" y="2727960"/>
            <a:ext cx="2247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25040" y="287274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产品＋验证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8660" y="2727960"/>
            <a:ext cx="3771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0100" y="287274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交互、登记、记录与错误语义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960" y="2727960"/>
            <a:ext cx="325374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4400" y="287274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接口与工作流检查通过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299" y="3390900"/>
            <a:ext cx="15240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6740" y="353568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模型接通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33600" y="3390900"/>
            <a:ext cx="2247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5040" y="353568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算法＋产品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8660" y="3390900"/>
            <a:ext cx="3771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0100" y="353568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生成／反演命令、配置与日志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2960" y="3390900"/>
            <a:ext cx="325374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4400" y="353568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独立样张可复现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053840"/>
            <a:ext cx="15240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6740" y="419862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统一评测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33600" y="4053840"/>
            <a:ext cx="2247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25040" y="419862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算法＋验证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8660" y="4053840"/>
            <a:ext cx="3771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10100" y="419862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正负样本、参数与失败案例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42960" y="4053840"/>
            <a:ext cx="325374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34400" y="419862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质量／恢复／误检齐全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299" y="4716780"/>
            <a:ext cx="15240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6740" y="4861560"/>
            <a:ext cx="13411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业务试点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33600" y="4716780"/>
            <a:ext cx="2247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5040" y="4861560"/>
            <a:ext cx="2065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产品＋验证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18660" y="4716780"/>
            <a:ext cx="377190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0100" y="4861560"/>
            <a:ext cx="35890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用户任务记录与匿名反馈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42960" y="4716780"/>
            <a:ext cx="3253740" cy="60198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34400" y="4861560"/>
            <a:ext cx="307086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同任务对照＋问题闭环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每阶段保留配置、日志、问题单和验收记录，避免只有计划没有交付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测试方案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用质量、恢复、误检与任务效率共同评价方案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8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视觉质量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99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图像观感与局部细节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图像指标＋盲评观察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9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标识恢复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9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33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原图与传播后图像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33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消息恢复率＋匹配情况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65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60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错误控制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89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无水印与错误签名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误检率＋冲突与异常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2100" y="2011680"/>
            <a:ext cx="2514600" cy="495299"/>
          </a:xfrm>
          <a:prstGeom prst="roundRect">
            <a:avLst>
              <a:gd name="adj" fmla="val 8000"/>
            </a:avLst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11640" y="2125980"/>
            <a:ext cx="225552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11162D"/>
                </a:solidFill>
                <a:latin typeface="Microsoft YaHei"/>
              </a:defRPr>
            </a:pPr>
            <a:r>
              <a:t>使用效率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2100" y="2750820"/>
            <a:ext cx="2514600" cy="1363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4500" y="2880360"/>
            <a:ext cx="2209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人工追问与系统查找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0" y="3284220"/>
            <a:ext cx="22098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任务耗时＋正确判断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" y="4610100"/>
            <a:ext cx="1082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传播条件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32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00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原始交付图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9654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322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轻度／明显压缩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尺寸缩小一半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78980" y="5090160"/>
            <a:ext cx="1981199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85660" y="5135880"/>
            <a:ext cx="17678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较大面积裁剪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20200" y="5090160"/>
            <a:ext cx="22860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5135880"/>
            <a:ext cx="20726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重绘等失败条件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同时记录成功、失败与无法确认，让验证覆盖真实使用边界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测试与验证 · 受控试验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让结果同时呈现“可以恢复”与“暂时失效”的条件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095499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原图</a:t>
            </a:r>
          </a:p>
        </p:txBody>
      </p:sp>
      <p:sp>
        <p:nvSpPr>
          <p:cNvPr id="8" name="Rectangle 7"/>
          <p:cNvSpPr/>
          <p:nvPr/>
        </p:nvSpPr>
        <p:spPr>
          <a:xfrm>
            <a:off x="2933700" y="2133600"/>
            <a:ext cx="6248400" cy="27432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33700" y="2133600"/>
            <a:ext cx="624840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48800" y="2095499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432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轻度压缩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3700" y="2781300"/>
            <a:ext cx="6248400" cy="27432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33700" y="2781300"/>
            <a:ext cx="624840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8800" y="27432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3909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明显压缩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33700" y="3429000"/>
            <a:ext cx="6248400" cy="27432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3700" y="3429000"/>
            <a:ext cx="624840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48800" y="33909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386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尺寸减半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33700" y="4076699"/>
            <a:ext cx="6248400" cy="27432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33700" y="4076699"/>
            <a:ext cx="624840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8800" y="40386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24 / 24 找回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863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较大面积裁剪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33700" y="4724400"/>
            <a:ext cx="6248400" cy="27432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8800" y="4686300"/>
            <a:ext cx="22098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6F5FC"/>
                </a:solidFill>
                <a:latin typeface="Microsoft YaHei"/>
              </a:defRPr>
            </a:pPr>
            <a:r>
              <a:t>0 / 24 找回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" y="5501640"/>
            <a:ext cx="108204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24张自绘设计样张 · 当前内置轻量方法 · 仅说明本次受控条件表现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裁剪样本未恢复，系统应保留“无法确认”并引导人工复核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测试与验证 · 可靠性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不误导用户的失败提示，与成功检出同样重要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B49BFF"/>
                </a:solidFill>
                <a:latin typeface="Microsoft YaHei"/>
              </a:defRPr>
            </a:pPr>
            <a: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工作流检查通过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覆盖处理、持久化与错误语义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5800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B49BFF"/>
                </a:solidFill>
                <a:latin typeface="Microsoft YaHei"/>
              </a:defRPr>
            </a:pPr>
            <a:r>
              <a:t>24 /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5800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无水印样张未关联登记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受控小样本，不推断零误检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999" y="2171700"/>
            <a:ext cx="3276600" cy="7498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04"/>
              </a:lnSpc>
              <a:spcAft>
                <a:spcPts val="0"/>
              </a:spcAft>
              <a:defRPr sz="3900" b="1">
                <a:solidFill>
                  <a:srgbClr val="B49BFF"/>
                </a:solidFill>
                <a:latin typeface="Microsoft YaHei"/>
              </a:defRPr>
            </a:pPr>
            <a:r>
              <a:t>0.28秒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999" y="2964180"/>
            <a:ext cx="32766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本地查询中位耗时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999" y="3459480"/>
            <a:ext cx="32766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24条登记规模，不代表线上性能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" y="477774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服务出错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显示未完成，不输出“未检出”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57700" y="477774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177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登记冲突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输出需复核，不强行归属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43900" y="4777740"/>
            <a:ext cx="0" cy="655320"/>
          </a:xfrm>
          <a:prstGeom prst="line">
            <a:avLst/>
          </a:prstGeom>
          <a:ln w="3048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03920" y="4739640"/>
            <a:ext cx="311658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6F5FC"/>
                </a:solidFill>
                <a:latin typeface="Microsoft YaHei"/>
              </a:defRPr>
            </a:pPr>
            <a:r>
              <a:t>持久化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082540"/>
            <a:ext cx="311658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可回看登记与核验记录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正确区分成功、无匹配、冲突与服务错误，保护后续使用决策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应用验证 · 案例闭环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三个受控情境，检验“交付后再次收到图片”的使用过程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49780"/>
            <a:ext cx="3467100" cy="14173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交付后被压缩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24 / 24 找回登记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" y="3817620"/>
            <a:ext cx="318516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6F5FC"/>
                </a:solidFill>
                <a:latin typeface="Microsoft YaHei"/>
              </a:defRPr>
            </a:pPr>
            <a:r>
              <a:t>查看署名与项目声明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09800" y="3467100"/>
            <a:ext cx="0" cy="87630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3400" y="4549140"/>
            <a:ext cx="33909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94860"/>
            <a:ext cx="31775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仍需核对授权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2049780"/>
            <a:ext cx="3467100" cy="14173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交付后被大幅裁剪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0 / 24 恢复标识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8660" y="3817620"/>
            <a:ext cx="318516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6F5FC"/>
                </a:solidFill>
                <a:latin typeface="Microsoft YaHei"/>
              </a:defRPr>
            </a:pPr>
            <a:r>
              <a:t>保留无法确认状态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96000" y="3467100"/>
            <a:ext cx="0" cy="87630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19600" y="4549140"/>
            <a:ext cx="33909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594860"/>
            <a:ext cx="31775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补充原图与交付记录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67699" y="2049780"/>
            <a:ext cx="3467100" cy="141732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20100" y="217932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收到未加标识的图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100" y="258318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24 / 24 未关联登记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4860" y="3817620"/>
            <a:ext cx="318516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6F5FC"/>
                </a:solidFill>
                <a:latin typeface="Microsoft YaHei"/>
              </a:defRPr>
            </a:pPr>
            <a:r>
              <a:t>不作来源与权属结论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982200" y="3467100"/>
            <a:ext cx="0" cy="876300"/>
          </a:xfrm>
          <a:prstGeom prst="line">
            <a:avLst/>
          </a:prstGeom>
          <a:ln w="15240">
            <a:solidFill>
              <a:srgbClr val="B4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305800" y="4549140"/>
            <a:ext cx="3390900" cy="32766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594860"/>
            <a:ext cx="317754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1">
                <a:solidFill>
                  <a:srgbClr val="F6F5FC"/>
                </a:solidFill>
                <a:latin typeface="Microsoft YaHei"/>
              </a:defRPr>
            </a:pPr>
            <a:r>
              <a:t>人工查找来源材料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实际业务收益来自明确下一步操作，而不只是返回一个检测分数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实际落地 · 试点设计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嵌入品牌现有交付流程，逐步取得真实用户效果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057400"/>
            <a:ext cx="3467100" cy="20497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18694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入组与资料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59080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一个合法营销素材批次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授权确认／去标识／留存原图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1500" y="2057400"/>
            <a:ext cx="3467100" cy="20497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3900" y="218694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接入与使用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259080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3—5名设计、运营或审核用户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制作、交付、再次核验全过程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7699" y="2057400"/>
            <a:ext cx="3467100" cy="20497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0100" y="2186940"/>
            <a:ext cx="31623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前后对照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0100" y="2590800"/>
            <a:ext cx="3162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同任务比较人工与系统方式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489960"/>
            <a:ext cx="316992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BCC0D8"/>
                </a:solidFill>
                <a:latin typeface="Microsoft YaHei"/>
              </a:defRPr>
            </a:pPr>
            <a:r>
              <a:t>记录正确率、耗时和异常处理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" y="4625340"/>
            <a:ext cx="10668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6F5FC"/>
                </a:solidFill>
                <a:latin typeface="Microsoft YaHei"/>
              </a:defRPr>
            </a:pPr>
            <a:r>
              <a:t>试点材料：流程截图、样本清单、任务记录、匿名反馈、失败案例与改进前后对照。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" y="5242560"/>
            <a:ext cx="10668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BCC0D8"/>
                </a:solidFill>
                <a:latin typeface="Microsoft YaHei"/>
              </a:defRPr>
            </a:pPr>
            <a:r>
              <a:t>进入常态使用的条件：核验稳定、画质可接受、材料可核对、失败可处理。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试点应证明是否减少来源追问成本，而非只证明界面能够打开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应用效果 · 成本收益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把价值落到核对工时、返工次数和接入成本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164080"/>
            <a:ext cx="4114800" cy="123444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293620"/>
            <a:ext cx="3810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可衡量的业务收益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697480"/>
            <a:ext cx="3810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减少来源追问／材料定位／重复登记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299" y="3779520"/>
            <a:ext cx="4114800" cy="14020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909060"/>
            <a:ext cx="3810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必须计算的接入成本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4312920"/>
            <a:ext cx="3810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生成与反演算力／存储／维护／人工复核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6340" y="2049780"/>
            <a:ext cx="0" cy="336042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0" y="2209800"/>
            <a:ext cx="60960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6F5FC"/>
                </a:solidFill>
                <a:latin typeface="Microsoft YaHei"/>
              </a:defRPr>
            </a:pPr>
            <a:r>
              <a:t>月节省工时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689860"/>
            <a:ext cx="6096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B49BFF"/>
                </a:solidFill>
                <a:latin typeface="Microsoft YaHei"/>
              </a:defRPr>
            </a:pPr>
            <a:r>
              <a:t>月核验量 × 单次节省分钟 ÷ 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528060"/>
            <a:ext cx="60960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6F5FC"/>
                </a:solidFill>
                <a:latin typeface="Microsoft YaHei"/>
              </a:defRPr>
            </a:pPr>
            <a:r>
              <a:t>净收益判断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008120"/>
            <a:ext cx="60960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B49BFF"/>
                </a:solidFill>
                <a:latin typeface="Microsoft YaHei"/>
              </a:defRPr>
            </a:pPr>
            <a:r>
              <a:t>工时价值 − 推理、存储与维护成本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960620"/>
            <a:ext cx="6019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CC0D8"/>
                </a:solidFill>
                <a:latin typeface="Microsoft YaHei"/>
              </a:defRPr>
            </a:pPr>
            <a:r>
              <a:t>以试点的实际耗时与错误处理成本填入，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BCC0D8"/>
                </a:solidFill>
                <a:latin typeface="Microsoft YaHei"/>
              </a:defRPr>
            </a:pPr>
            <a:r>
              <a:t>再决定是否值得扩大接入。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先证明能节省真实工作，再判断可持续推广的经济性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应用与落地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以电商验证任务，再向创意、文创和媒体延伸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99" y="2385060"/>
            <a:ext cx="4114800" cy="22783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2514600"/>
            <a:ext cx="38100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首个验证点：电商营销素材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2918460"/>
            <a:ext cx="38100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品牌设计 → 合作交付 → 再次核验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420" y="3695700"/>
            <a:ext cx="3733799" cy="67726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BCC0D8"/>
                </a:solidFill>
                <a:latin typeface="Microsoft YaHei"/>
              </a:defRPr>
            </a:pPr>
            <a:r>
              <a:t>观察：来源查找效率</a:t>
            </a:r>
          </a:p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BCC0D8"/>
                </a:solidFill>
                <a:latin typeface="Microsoft YaHei"/>
              </a:defRPr>
            </a:pPr>
            <a:r>
              <a:t>检查：使用声明与复核提示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800600" y="2362200"/>
            <a:ext cx="2567940" cy="114300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8540" y="19431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20940" y="20726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创意设计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0940" y="24765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署名与素材交付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00600" y="3505200"/>
            <a:ext cx="2567940" cy="15240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8540" y="32385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0940" y="33680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数字文创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0940" y="37719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作品登记与使用线索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505200"/>
            <a:ext cx="2567940" cy="1447800"/>
          </a:xfrm>
          <a:prstGeom prst="line">
            <a:avLst/>
          </a:prstGeom>
          <a:ln w="1524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68540" y="4533900"/>
            <a:ext cx="4328160" cy="982980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0940" y="4663440"/>
            <a:ext cx="402336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6F5FC"/>
                </a:solidFill>
                <a:latin typeface="Microsoft YaHei"/>
              </a:defRPr>
            </a:pPr>
            <a:r>
              <a:t>媒体传播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0940" y="5067300"/>
            <a:ext cx="402336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生成身份与来源辅助核验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落地成效以试用数据衡量，社会价值围绕可信使用展开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总结与展望 · 问题改进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把当前薄弱点，转化为有验证门槛的下一步工作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2034540"/>
            <a:ext cx="3086100" cy="6096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1980" y="218694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1162D"/>
                </a:solidFill>
                <a:latin typeface="Microsoft YaHei"/>
              </a:defRPr>
            </a:pPr>
            <a:r>
              <a:t>当前问题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3756660" y="2034540"/>
            <a:ext cx="3733799" cy="6096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63339" y="218694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1162D"/>
                </a:solidFill>
                <a:latin typeface="Microsoft YaHei"/>
              </a:defRPr>
            </a:pPr>
            <a:r>
              <a:t>改进方向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58100" y="2034540"/>
            <a:ext cx="4038600" cy="60960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64780" y="218694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11162D"/>
                </a:solidFill>
                <a:latin typeface="Microsoft YaHei"/>
              </a:defRPr>
            </a:pPr>
            <a:r>
              <a:t>验证门槛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2712720"/>
            <a:ext cx="30861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980" y="286512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裁剪后无法恢复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6660" y="2712720"/>
            <a:ext cx="3733799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3339" y="286512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验证鲁棒模型与对齐策略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58100" y="2712720"/>
            <a:ext cx="40386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4780" y="286512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同条件恢复＋误检＋画质同时报告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390900"/>
            <a:ext cx="30861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1980" y="354330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登记规模与短标识风险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56660" y="3390900"/>
            <a:ext cx="3733799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63339" y="354330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索引、较长标识与冲突分流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3390900"/>
            <a:ext cx="40386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64780" y="354330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扩容负载和冲突用例通过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299" y="4069080"/>
            <a:ext cx="30861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1980" y="422148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签名与登记安全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56660" y="4069080"/>
            <a:ext cx="3733799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3339" y="422148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受控访问、密钥隔离与备份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58100" y="4069080"/>
            <a:ext cx="40386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64780" y="422148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权限、泄露与恢复演练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4747260"/>
            <a:ext cx="30861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980" y="4899660"/>
            <a:ext cx="28727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尚缺真实用户成效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56660" y="4747260"/>
            <a:ext cx="3733799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3339" y="4899660"/>
            <a:ext cx="35204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完成同任务试用与反馈闭环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58100" y="4747260"/>
            <a:ext cx="4038600" cy="6096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64780" y="4899660"/>
            <a:ext cx="382524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原始任务记录和可追查改进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以失败分析推动改进，避免把未来能力写成现有能力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总结与展望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让图像的身份线索，跟得上内容的传播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3454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B49B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04978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7650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内容易流转，来源与使用依据可能脱落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6230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B49B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17754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60426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生成时建立身份，传播后恢复并关联登记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90060"/>
            <a:ext cx="838200" cy="62544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324"/>
              </a:lnSpc>
              <a:spcAft>
                <a:spcPts val="0"/>
              </a:spcAft>
              <a:defRPr sz="3179" b="1">
                <a:solidFill>
                  <a:srgbClr val="B49B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05300"/>
            <a:ext cx="64770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6F5FC"/>
                </a:solidFill>
                <a:latin typeface="Microsoft YaHei"/>
              </a:defRPr>
            </a:pPr>
            <a:r>
              <a:t>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732020"/>
            <a:ext cx="64770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0">
                <a:solidFill>
                  <a:srgbClr val="BCC0D8"/>
                </a:solidFill>
                <a:latin typeface="Microsoft YaHei"/>
              </a:defRPr>
            </a:pPr>
            <a:r>
              <a:t>辅助认证、来源查找与知识产权保护</a:t>
            </a:r>
          </a:p>
        </p:txBody>
      </p:sp>
      <p:sp>
        <p:nvSpPr>
          <p:cNvPr id="16" name="Oval 15"/>
          <p:cNvSpPr/>
          <p:nvPr/>
        </p:nvSpPr>
        <p:spPr>
          <a:xfrm>
            <a:off x="8953500" y="2453640"/>
            <a:ext cx="2209800" cy="22098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26930" y="2453640"/>
            <a:ext cx="662940" cy="22098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73362" y="2453640"/>
            <a:ext cx="1370076" cy="2209800"/>
          </a:xfrm>
          <a:prstGeom prst="ellipse">
            <a:avLst/>
          </a:prstGeom>
          <a:noFill/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53500" y="3227070"/>
            <a:ext cx="2209800" cy="662940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53500" y="2873502"/>
            <a:ext cx="2209800" cy="1370076"/>
          </a:xfrm>
          <a:prstGeom prst="ellipse">
            <a:avLst/>
          </a:prstGeom>
          <a:noFill/>
          <a:ln>
            <a:solidFill>
              <a:srgbClr val="414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5105400"/>
            <a:ext cx="26670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B49BFF"/>
                </a:solidFill>
                <a:latin typeface="Microsoft YaHei"/>
              </a:defRPr>
            </a:pPr>
            <a:r>
              <a:t>图溯 · 可信传播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从一张图片的身份核验，走向数字内容的可信使用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9100" y="342900"/>
            <a:ext cx="609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342900"/>
            <a:ext cx="22860" cy="274320"/>
          </a:xfrm>
          <a:prstGeom prst="rect">
            <a:avLst/>
          </a:prstGeom>
          <a:solidFill>
            <a:srgbClr val="B49BFF"/>
          </a:solidFill>
          <a:ln>
            <a:solidFill>
              <a:srgbClr val="B4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80" y="335280"/>
            <a:ext cx="99060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1">
                <a:solidFill>
                  <a:srgbClr val="BCC0D8"/>
                </a:solidFill>
                <a:latin typeface="Microsoft YaHei"/>
              </a:defRPr>
            </a:pPr>
            <a:r>
              <a:t>图溯  /  附录 · 评分覆盖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299" y="777240"/>
            <a:ext cx="11201401" cy="0"/>
          </a:xfrm>
          <a:prstGeom prst="line">
            <a:avLst/>
          </a:prstGeom>
          <a:ln w="7620">
            <a:solidFill>
              <a:srgbClr val="414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95299" y="1028700"/>
            <a:ext cx="11201400" cy="56327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835"/>
              </a:lnSpc>
              <a:spcAft>
                <a:spcPts val="0"/>
              </a:spcAft>
              <a:defRPr sz="2820" b="1">
                <a:solidFill>
                  <a:srgbClr val="F6F5FC"/>
                </a:solidFill>
                <a:latin typeface="Microsoft YaHei"/>
              </a:defRPr>
            </a:pPr>
            <a:r>
              <a:t>七项评分逐项形成“论证—实现—证据”的对应关系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299" y="1965960"/>
            <a:ext cx="11201400" cy="4572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06502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创新性 ·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6640" y="206502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交接断点、流程融合与差异化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206502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4—10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299" y="2484120"/>
            <a:ext cx="11201400" cy="4572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58318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需求分析 ·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6640" y="258318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问题根因、调研方法、需求映射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258318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4—8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299" y="3002280"/>
            <a:ext cx="11201400" cy="4572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10134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可行性 ·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6640" y="310134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总体架构、技术选型、部署条件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310134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11—16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299" y="3520440"/>
            <a:ext cx="11201400" cy="4572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61950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项目实施 ·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6640" y="361950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原型、里程碑、分工与交付物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361950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15—17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299" y="4038600"/>
            <a:ext cx="11201400" cy="4572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413766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测试验证 ·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6640" y="413766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正负样本、传播条件、失败分析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13766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18—20、25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5299" y="4556760"/>
            <a:ext cx="11201400" cy="4572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465582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应用效果 ·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6640" y="465582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受控案例、试点接入与收益衡量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465582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21—24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5299" y="5074920"/>
            <a:ext cx="11201400" cy="457200"/>
          </a:xfrm>
          <a:prstGeom prst="rect">
            <a:avLst/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5173980"/>
            <a:ext cx="28956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B49BFF"/>
                </a:solidFill>
                <a:latin typeface="Microsoft YaHei"/>
              </a:defRPr>
            </a:pPr>
            <a:r>
              <a:t>总结展望 ·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96640" y="5173980"/>
            <a:ext cx="65532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6F5FC"/>
                </a:solidFill>
                <a:latin typeface="Microsoft YaHei"/>
              </a:defRPr>
            </a:pPr>
            <a:r>
              <a:t>失败改进与能力拓展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5173980"/>
            <a:ext cx="13335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BCC0D8"/>
                </a:solidFill>
                <a:latin typeface="Microsoft YaHei"/>
              </a:defRPr>
            </a:pPr>
            <a:r>
              <a:t>24—26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5299" y="6004560"/>
            <a:ext cx="11201400" cy="495299"/>
          </a:xfrm>
          <a:prstGeom prst="roundRect">
            <a:avLst>
              <a:gd name="adj" fmla="val 8000"/>
            </a:avLst>
          </a:prstGeom>
          <a:solidFill>
            <a:srgbClr val="202744"/>
          </a:solidFill>
          <a:ln>
            <a:solidFill>
              <a:srgbClr val="202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" y="6103620"/>
            <a:ext cx="10896600" cy="36636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84"/>
              </a:lnSpc>
              <a:spcAft>
                <a:spcPts val="0"/>
              </a:spcAft>
              <a:defRPr sz="1680" b="1">
                <a:solidFill>
                  <a:srgbClr val="B49BFF"/>
                </a:solidFill>
                <a:latin typeface="Microsoft YaHei"/>
              </a:defRPr>
            </a:pPr>
            <a:r>
              <a:t>最高档需要真实需求与应用证据；本稿为补齐这些证据预留明确位置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0540" y="6598920"/>
            <a:ext cx="9906000" cy="242011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305"/>
              </a:lnSpc>
              <a:spcAft>
                <a:spcPts val="0"/>
              </a:spcAft>
              <a:defRPr sz="960" b="0">
                <a:solidFill>
                  <a:srgbClr val="BCC0D8"/>
                </a:solidFill>
                <a:latin typeface="Microsoft YaHei"/>
              </a:defRPr>
            </a:pPr>
            <a:r>
              <a:t>图溯 · 来源认证 / 可信溯源 / 权益线索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560820"/>
            <a:ext cx="6858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B49BFF"/>
                </a:solidFill>
                <a:latin typeface="Microsoft YaHe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