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采用Spherical Watermark研究框架；本项目场景方案不等同于该论文算法原创。</a:t>
            </a:r>
          </a:p>
          <a:p>
            <a:r>
              <a:t>出处与验证范围：AI＋场景创新 | 学术技术版 | 核心方法参考Hu et al., Spherical Watermark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数字图像用于创意、传播与商业。所用例图均为球形水印论文Figure3裁片，非本项目实验，也非AI新生成插画。来源认证不证明内容事实真实。</a:t>
            </a:r>
          </a:p>
          <a:p>
            <a:r>
              <a:t>出处与验证范围：配图来源：Spherical Watermark, Figure 3；应用类别为本项目归纳</a:t>
            </a:r>
          </a:p>
          <a:p>
            <a:r>
              <a:t>学术版关注：视觉内容与生成身份的分离。保持相同提示词、模型、采样步数与种子管理；分别报告比特恢复率、检测TPR及FPR，避免指标混用。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背景综合用户所提供的论文引言。避免使用未经核实的政策或案例数字。AIGC作为技术切入点，而非限定全部图像问题。</a:t>
            </a:r>
          </a:p>
          <a:p>
            <a:r>
              <a:t>出处与验证范围：左：球形水印论文首页；右：相关论文引言背景归纳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出处与验证范围：图源：原论文Figure 2、Figure 6，均为论文结果，非本项目实测</a:t>
            </a:r>
          </a:p>
          <a:p>
            <a:r>
              <a:t>学术版关注：分布扰动、视觉质量与恢复能力。保持相同提示词、模型、采样步数与种子管理；分别报告比特恢复率、检测TPR及FPR，避免指标混用。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出处与验证范围：图片：原论文Figure 3、5、1；研究证据不等于法律确权</a:t>
            </a:r>
          </a:p>
          <a:p>
            <a:r>
              <a:t>学术版关注：无感知、可恢复与低误检的权衡。保持相同提示词、模型、采样步数与种子管理；分别报告比特恢复率、检测TPR及FPR，避免指标混用。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出处与验证范围：右图：Spherical Watermark Figure 1；登记与复核为应用层设计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此页描述原论文技术，非本团队原创。二进制变换在GF(2)上运算，T须满足论文的构造条件。</a:t>
            </a:r>
          </a:p>
          <a:p>
            <a:r>
              <a:t>出处与验证范围：方法来源：原论文第3节与式(5)—(9)；右侧为论文原文截取</a:t>
            </a:r>
          </a:p>
          <a:p>
            <a:r>
              <a:t>方法细节：T为GF(2)可逆混合矩阵；水印消息重复N次并追加随机填充。混合比特映射为±1并归一化。论文的分布保持结论有特定构造与假设，不能推成无条件密码学不可检测。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出处与验证范围：原图：Figure 1(b) 与式(10)；分布保持按原文理论条件理解</a:t>
            </a:r>
          </a:p>
          <a:p>
            <a:r>
              <a:t>数学表示：v=2Tx-1，u=v/||v||，zw=r C u；r²~chi-square(d)。C为正交矩阵，K=(T,C)为离线固定签名，仍须保密管理。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出处与验证范围：图源：Figure 1(a)；反演与提取参考第3.2节、式(12)—(13)</a:t>
            </a:r>
          </a:p>
          <a:p>
            <a:r>
              <a:t>输入传播图像，VAE编码与近似ODE反演恢复噪声，经C逆变换、量化和T逆变换，恢复重复消息并多数投票。反演误差、强裁剪与重绘均可能导致失效。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出处与验证范围：保密签名 K=(T,C) 需管理；“无逐图加密”不表示无秘密签名</a:t>
            </a:r>
          </a:p>
          <a:p>
            <a:r>
              <a:t>学术版关注：离线签名与在线生成、提取解耦。保持相同提示词、模型、采样步数与种子管理；分别报告比特恢复率、检测TPR及FPR，避免指标混用。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2026-10-15在/workspace/AIC执行python -m unittest -v：13项通过；其中模型生图链路含测试夹具，不是球形水印GPU实测。</a:t>
            </a:r>
          </a:p>
          <a:p>
            <a:r>
              <a:t>出处与验证范围：软件测试：2026-10-15 python -m unittest -v；模型GPU统一评测尚未完成</a:t>
            </a:r>
          </a:p>
          <a:p>
            <a:r>
              <a:t>学术版关注：论文实验、软件测试与待测性能。保持相同提示词、模型、采样步数与种子管理；分别报告比特恢复率、检测TPR及FPR，避免指标混用。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出处与验证范围：本页为分工建议，不声称已有成员履历、奖项或专家背书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出处与验证范围：公开研究方法必须注明来源；算力与数据为实施条件，并非已全部具备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出处与验证范围：阶段示意，不以计划代替完成证明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出处与验证范围：左图：原论文Figure 5，非本项目实测；右侧为本项目测试设计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出处与验证范围：定性比较；未对各开源模型实施同配置统一评测，不提供虚构数值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出处与验证范围：预期推广路径；尚无实际客户规模或商业收益证明</a:t>
            </a:r>
          </a:p>
          <a:p>
            <a:r>
              <a:t>学术版关注：由可复现方法到跨场景任务验证。保持相同提示词、模型、采样步数与种子管理；分别报告比特恢复率、检测TPR及FPR，避免指标混用。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出处与验证范围：预期社会价值；系统辅助认证与核验，不自动作出侵权法律判断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采用Spherical Watermark研究框架；本项目场景方案不等同于该论文算法原创。</a:t>
            </a:r>
          </a:p>
          <a:p>
            <a:r>
              <a:t>出处与验证范围：AI＋场景创新 | 学术技术版 | 核心方法参考Hu et al., Spherical Watermark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6.png"/><Relationship Id="rId5" Type="http://schemas.openxmlformats.org/officeDocument/2006/relationships/image" Target="../media/image11.png"/><Relationship Id="rId6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8.png"/><Relationship Id="rId5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图溯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52600"/>
            <a:ext cx="6400800" cy="146486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0934"/>
              </a:lnSpc>
              <a:spcAft>
                <a:spcPts val="0"/>
              </a:spcAft>
              <a:defRPr sz="8039" b="1">
                <a:solidFill>
                  <a:srgbClr val="F0FFFA"/>
                </a:solidFill>
                <a:latin typeface="Microsoft YaHei"/>
              </a:defRPr>
            </a:pPr>
            <a:r>
              <a:t>图溯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6760" y="3215640"/>
            <a:ext cx="6477000" cy="113324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4161"/>
              </a:lnSpc>
              <a:spcAft>
                <a:spcPts val="0"/>
              </a:spcAft>
              <a:defRPr sz="3060" b="1">
                <a:solidFill>
                  <a:srgbClr val="F0FFFA"/>
                </a:solidFill>
                <a:latin typeface="Microsoft YaHei"/>
              </a:defRPr>
            </a:pPr>
            <a:r>
              <a:t>面向数字图像可信传播的</a:t>
            </a:r>
          </a:p>
          <a:p>
            <a:pPr>
              <a:lnSpc>
                <a:spcPts val="4161"/>
              </a:lnSpc>
              <a:spcAft>
                <a:spcPts val="0"/>
              </a:spcAft>
              <a:defRPr sz="3060" b="1">
                <a:solidFill>
                  <a:srgbClr val="F0FFFA"/>
                </a:solidFill>
                <a:latin typeface="Microsoft YaHei"/>
              </a:defRPr>
            </a:pPr>
            <a:r>
              <a:t>来源认证与溯源方案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648200"/>
            <a:ext cx="60960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生成式水印 × 匿名登记 × 传播后核验</a:t>
            </a:r>
          </a:p>
        </p:txBody>
      </p:sp>
      <p:sp>
        <p:nvSpPr>
          <p:cNvPr id="11" name="Oval 10"/>
          <p:cNvSpPr/>
          <p:nvPr/>
        </p:nvSpPr>
        <p:spPr>
          <a:xfrm>
            <a:off x="8077200" y="1600200"/>
            <a:ext cx="3048000" cy="3048000"/>
          </a:xfrm>
          <a:prstGeom prst="ellipse">
            <a:avLst/>
          </a:prstGeom>
          <a:noFill/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600200"/>
            <a:ext cx="914400" cy="30480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77200" y="2667000"/>
            <a:ext cx="3048000" cy="9144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0" y="1600200"/>
            <a:ext cx="1828800" cy="30480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77200" y="2209800"/>
            <a:ext cx="3048000" cy="18288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05800" y="1600200"/>
            <a:ext cx="2590800" cy="30480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7200" y="1828800"/>
            <a:ext cx="3048000" cy="25908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93222" y="3093720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86538" y="3354034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14253" y="2598096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28848" y="3560942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13432" y="2977355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193449" y="2697751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62282" y="3868414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73730" y="232885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432363" y="3408678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674104" y="3463482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003228" y="217035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89669" y="4112024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08406" y="2535472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700031" y="284600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881086" y="407357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412192" y="1865060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547595" y="3918015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55465" y="3147286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24799" y="4953000"/>
            <a:ext cx="35814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48E1BF"/>
                </a:solidFill>
                <a:latin typeface="Microsoft YaHei"/>
              </a:defRPr>
            </a:pPr>
            <a:r>
              <a:t>球形水印 · ICLR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从内容生成，到传播后的可信核验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问题定义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生成图像的可追踪身份，应独立于附带文本存在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07820"/>
            <a:ext cx="11643360" cy="4351020"/>
          </a:xfrm>
          <a:prstGeom prst="rect">
            <a:avLst/>
          </a:prstGeom>
          <a:solidFill>
            <a:srgbClr val="031C18"/>
          </a:solidFill>
          <a:ln>
            <a:solidFill>
              <a:srgbClr val="031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" y="1828800"/>
            <a:ext cx="11049000" cy="23241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0540" y="17678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0540" y="17678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1490960" y="17678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681460" y="17678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0540" y="42138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10540" y="40233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1490960" y="42138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1681460" y="40233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49140" y="1805940"/>
            <a:ext cx="3093719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62940" y="1920240"/>
            <a:ext cx="10866120" cy="21412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qualit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51710" y="1981199"/>
            <a:ext cx="7688580" cy="20193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32460" y="4549140"/>
            <a:ext cx="3429000" cy="1143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71500" y="44881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71500" y="44881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931920" y="44881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122420" y="44881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1500" y="5753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71500" y="556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931920" y="5753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122420" y="556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866899" y="4526280"/>
            <a:ext cx="960121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46760" y="4701540"/>
            <a:ext cx="3200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0FFFA"/>
                </a:solidFill>
                <a:latin typeface="Microsoft YaHei"/>
              </a:defRPr>
            </a:pPr>
            <a:r>
              <a:t>生成身份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760" y="5135880"/>
            <a:ext cx="32004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A6C7BD"/>
                </a:solidFill>
                <a:latin typeface="Microsoft YaHei"/>
              </a:defRPr>
            </a:pPr>
            <a:r>
              <a:t>谁的模型／哪条消息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4122420" y="5021580"/>
            <a:ext cx="182880" cy="152400"/>
          </a:xfrm>
          <a:prstGeom prst="rightArrow">
            <a:avLst/>
          </a:prstGeom>
          <a:solidFill>
            <a:srgbClr val="48E1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66260" y="4549140"/>
            <a:ext cx="3429000" cy="1143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4305300" y="44881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305300" y="44881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7665720" y="44881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856220" y="44881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305300" y="5753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4305300" y="556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7665720" y="5753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7856220" y="556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600700" y="4526280"/>
            <a:ext cx="96012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480560" y="4701540"/>
            <a:ext cx="3200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0FFFA"/>
                </a:solidFill>
                <a:latin typeface="Microsoft YaHei"/>
              </a:defRPr>
            </a:pPr>
            <a:r>
              <a:t>传播变化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80560" y="5135880"/>
            <a:ext cx="32004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A6C7BD"/>
                </a:solidFill>
                <a:latin typeface="Microsoft YaHei"/>
              </a:defRPr>
            </a:pPr>
            <a:r>
              <a:t>内容保存，附带说明丢失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856220" y="5021580"/>
            <a:ext cx="182880" cy="152400"/>
          </a:xfrm>
          <a:prstGeom prst="rightArrow">
            <a:avLst/>
          </a:prstGeom>
          <a:solidFill>
            <a:srgbClr val="48E1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00059" y="4549140"/>
            <a:ext cx="3429000" cy="1143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039099" y="448818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039099" y="44881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1399520" y="44881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590020" y="44881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039099" y="575310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039099" y="556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1399520" y="5753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1590020" y="556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334500" y="4526280"/>
            <a:ext cx="96012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214359" y="4701540"/>
            <a:ext cx="3200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0FFFA"/>
                </a:solidFill>
                <a:latin typeface="Microsoft YaHei"/>
              </a:defRPr>
            </a:pPr>
            <a:r>
              <a:t>认证目标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14359" y="5135880"/>
            <a:ext cx="32004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A6C7BD"/>
                </a:solidFill>
                <a:latin typeface="Microsoft YaHei"/>
              </a:defRPr>
            </a:pPr>
            <a:r>
              <a:t>恢复消息并验证关联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生成能力与传播能力提升，需要可核验的内容身份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研究定位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从后处理水印，到生成式潜在噪声水印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07820"/>
            <a:ext cx="11643360" cy="4351020"/>
          </a:xfrm>
          <a:prstGeom prst="rect">
            <a:avLst/>
          </a:prstGeom>
          <a:solidFill>
            <a:srgbClr val="031C18"/>
          </a:solidFill>
          <a:ln>
            <a:solidFill>
              <a:srgbClr val="031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880" y="1851660"/>
            <a:ext cx="7734300" cy="3429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" y="17907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02920" y="179070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8168640" y="17907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359140" y="179070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" y="53416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02920" y="51511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168640" y="53416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59140" y="51511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348228" y="1828800"/>
            <a:ext cx="2165604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55320" y="1943100"/>
            <a:ext cx="7551420" cy="3246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ramewo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2004060"/>
            <a:ext cx="6576060" cy="3124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686800" y="1981199"/>
            <a:ext cx="2819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后处理路线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2392680"/>
            <a:ext cx="28194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先获得图像，再对像素编码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3101340"/>
            <a:ext cx="2819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生成式路线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3512820"/>
            <a:ext cx="28194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在模型生成链路中嵌入信号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4221480"/>
            <a:ext cx="2819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球形水印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4632960"/>
            <a:ext cx="28194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通过潜在噪声映射承载消息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以潜在噪声承载身份信息，为生成过程提供主动标记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研究目标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分布扰动、视觉质量与消息恢复的联合评估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07820"/>
            <a:ext cx="11643360" cy="4351020"/>
          </a:xfrm>
          <a:prstGeom prst="rect">
            <a:avLst/>
          </a:prstGeom>
          <a:solidFill>
            <a:srgbClr val="031C18"/>
          </a:solidFill>
          <a:ln>
            <a:solidFill>
              <a:srgbClr val="031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880" y="1805940"/>
            <a:ext cx="11049000" cy="23241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0292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148334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67384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" y="4190999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02920" y="400050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1483340" y="4190999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1673840" y="400050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41520" y="1783080"/>
            <a:ext cx="309372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55320" y="1897380"/>
            <a:ext cx="10866120" cy="21412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distrib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2540" y="1958340"/>
            <a:ext cx="9631680" cy="20193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7220" y="4556760"/>
            <a:ext cx="3467100" cy="41818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92"/>
              </a:lnSpc>
              <a:spcAft>
                <a:spcPts val="0"/>
              </a:spcAft>
              <a:defRPr sz="1980" b="1">
                <a:solidFill>
                  <a:srgbClr val="F3D77C"/>
                </a:solidFill>
                <a:latin typeface="Microsoft YaHei"/>
              </a:defRPr>
            </a:pPr>
            <a:r>
              <a:t>分布扰动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" y="4998720"/>
            <a:ext cx="3467100" cy="34564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区分器表现与先验适配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5320" y="4556760"/>
            <a:ext cx="3467100" cy="41818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92"/>
              </a:lnSpc>
              <a:spcAft>
                <a:spcPts val="0"/>
              </a:spcAft>
              <a:defRPr sz="1980" b="1">
                <a:solidFill>
                  <a:srgbClr val="F3D77C"/>
                </a:solidFill>
                <a:latin typeface="Microsoft YaHei"/>
              </a:defRPr>
            </a:pPr>
            <a:r>
              <a:t>感知质量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5320" y="4998720"/>
            <a:ext cx="3467100" cy="34564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画质指标与视觉例图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3420" y="4556760"/>
            <a:ext cx="3467100" cy="41818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92"/>
              </a:lnSpc>
              <a:spcAft>
                <a:spcPts val="0"/>
              </a:spcAft>
              <a:defRPr sz="1980" b="1">
                <a:solidFill>
                  <a:srgbClr val="F3D77C"/>
                </a:solidFill>
                <a:latin typeface="Microsoft YaHei"/>
              </a:defRPr>
            </a:pPr>
            <a:r>
              <a:t>恢复能力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13420" y="4998720"/>
            <a:ext cx="3467100" cy="34564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比特准确率与检测误检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从分布、观感与恢复三个维度评价水印方法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关键痛点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信息会分离，图像会变换，水印也有失败边界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44980"/>
            <a:ext cx="350520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320" y="1783080"/>
            <a:ext cx="329184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画质扰动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255520"/>
            <a:ext cx="3505200" cy="233172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87680" y="21945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7680" y="2194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3924300" y="21945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114800" y="2194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7680" y="4648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87680" y="4457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3924300" y="4648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4114800" y="4457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810512" y="2232660"/>
            <a:ext cx="981456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40080" y="2346960"/>
            <a:ext cx="332232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qua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040" y="3002280"/>
            <a:ext cx="3200400" cy="838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2940" y="4869180"/>
            <a:ext cx="32766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不应为身份标识明显牺牲图像观感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34840" y="1744980"/>
            <a:ext cx="350520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41520" y="1783080"/>
            <a:ext cx="329184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传播变换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40" y="2255520"/>
            <a:ext cx="3505200" cy="233172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4373880" y="21945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373880" y="2194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7810499" y="219456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01000" y="2194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373880" y="4648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373880" y="4457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7810499" y="464820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001000" y="4457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5696712" y="2232660"/>
            <a:ext cx="981456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4526280" y="2346960"/>
            <a:ext cx="332232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atta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7240" y="2594610"/>
            <a:ext cx="3200400" cy="165354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549140" y="4869180"/>
            <a:ext cx="3276600" cy="6358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压缩、缩放与裁剪可能损伤恢复能</a:t>
            </a:r>
          </a:p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力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21040" y="1744980"/>
            <a:ext cx="350520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27720" y="1783080"/>
            <a:ext cx="329184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身份与权利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21040" y="2255520"/>
            <a:ext cx="3505200" cy="233172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8260080" y="21945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260080" y="2194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1696700" y="21945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887200" y="2194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8260080" y="4648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8260080" y="4457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H="1">
            <a:off x="11696700" y="4648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11887200" y="4457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582911" y="2232660"/>
            <a:ext cx="981457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8412480" y="2346960"/>
            <a:ext cx="3322320" cy="21488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framewo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3440" y="2659380"/>
            <a:ext cx="3200400" cy="1524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8435340" y="4869180"/>
            <a:ext cx="3276600" cy="6358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检出标识后仍需核对登记与授权材</a:t>
            </a:r>
          </a:p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料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需要“算法保护＋登记关联＋人工复核”的完整闭环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总体技术路线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生成端嵌入身份，接收端直接上传核验</a:t>
            </a:r>
          </a:p>
        </p:txBody>
      </p:sp>
      <p:sp>
        <p:nvSpPr>
          <p:cNvPr id="11" name="Oval 10"/>
          <p:cNvSpPr/>
          <p:nvPr/>
        </p:nvSpPr>
        <p:spPr>
          <a:xfrm>
            <a:off x="617220" y="1912620"/>
            <a:ext cx="350520" cy="350520"/>
          </a:xfrm>
          <a:prstGeom prst="ellipse">
            <a:avLst/>
          </a:prstGeom>
          <a:solidFill>
            <a:srgbClr val="164E3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" y="1950720"/>
            <a:ext cx="419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4900" y="1897380"/>
            <a:ext cx="4076699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0FFFA"/>
                </a:solidFill>
                <a:latin typeface="Microsoft YaHei"/>
              </a:defRPr>
            </a:pPr>
            <a:r>
              <a:t>生成时建立身份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900" y="2263140"/>
            <a:ext cx="4076699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作品编号映射为噪声，再输入扩散模型。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" y="3177540"/>
            <a:ext cx="350520" cy="350520"/>
          </a:xfrm>
          <a:prstGeom prst="ellipse">
            <a:avLst/>
          </a:prstGeom>
          <a:solidFill>
            <a:srgbClr val="164E3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8180" y="3215640"/>
            <a:ext cx="419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900" y="3162300"/>
            <a:ext cx="4076699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0FFFA"/>
                </a:solidFill>
                <a:latin typeface="Microsoft YaHei"/>
              </a:defRPr>
            </a:pPr>
            <a:r>
              <a:t>传播后恢复标识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900" y="3528060"/>
            <a:ext cx="4076699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上传收到的图片，反演并提取匿名编号。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" y="4442460"/>
            <a:ext cx="350520" cy="350520"/>
          </a:xfrm>
          <a:prstGeom prst="ellipse">
            <a:avLst/>
          </a:prstGeom>
          <a:solidFill>
            <a:srgbClr val="164E3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8180" y="4480560"/>
            <a:ext cx="419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4900" y="4427220"/>
            <a:ext cx="4076699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0FFFA"/>
                </a:solidFill>
                <a:latin typeface="Microsoft YaHei"/>
              </a:defRPr>
            </a:pPr>
            <a:r>
              <a:t>关联声明与人工复核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4900" y="4792980"/>
            <a:ext cx="4076699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显示登记线索；不确定结果进入人工审核。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15000" y="1805940"/>
            <a:ext cx="5829300" cy="360426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565404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65404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41476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160526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54040" y="54711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654040" y="52806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1414760" y="54711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1605260" y="52806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13548" y="1783080"/>
            <a:ext cx="1632204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5806440" y="1897380"/>
            <a:ext cx="5646420" cy="34213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ramewo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2293620"/>
            <a:ext cx="5524500" cy="26289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无需用户预先说明图片经历过哪些传播操作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可逆编码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重复消息与二进制矩阵混合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07820"/>
            <a:ext cx="11643360" cy="4351020"/>
          </a:xfrm>
          <a:prstGeom prst="rect">
            <a:avLst/>
          </a:prstGeom>
          <a:solidFill>
            <a:srgbClr val="031C18"/>
          </a:solidFill>
          <a:ln>
            <a:solidFill>
              <a:srgbClr val="031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" y="1813560"/>
            <a:ext cx="6248400" cy="1524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0540" y="17526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0540" y="175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6690360" y="17526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880860" y="175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0540" y="33985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10540" y="32080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690360" y="33985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880860" y="32080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820924" y="1790700"/>
            <a:ext cx="1749552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62940" y="1905000"/>
            <a:ext cx="6065520" cy="1341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bin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2244090"/>
            <a:ext cx="5943600" cy="66294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7185660" y="1813560"/>
            <a:ext cx="4419600" cy="227076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7124700" y="17526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24700" y="175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1475720" y="17526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666220" y="1752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124700" y="41452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124700" y="39547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11475720" y="41452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11666220" y="39547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76716" y="1790700"/>
            <a:ext cx="1237488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7277100" y="1905000"/>
            <a:ext cx="4236720" cy="208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lgorith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8060" y="2026920"/>
            <a:ext cx="4114800" cy="1844040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723900" y="3764279"/>
            <a:ext cx="350520" cy="350520"/>
          </a:xfrm>
          <a:prstGeom prst="ellipse">
            <a:avLst/>
          </a:prstGeom>
          <a:solidFill>
            <a:srgbClr val="164E3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4860" y="3802380"/>
            <a:ext cx="419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11580" y="3749039"/>
            <a:ext cx="5295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0FFFA"/>
                </a:solidFill>
                <a:latin typeface="Microsoft YaHei"/>
              </a:defRPr>
            </a:pPr>
            <a:r>
              <a:t>单位块与稀疏随机块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11580" y="4114800"/>
            <a:ext cx="52959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保持T可逆，同时混合随机填充</a:t>
            </a:r>
          </a:p>
        </p:txBody>
      </p:sp>
      <p:sp>
        <p:nvSpPr>
          <p:cNvPr id="40" name="Oval 39"/>
          <p:cNvSpPr/>
          <p:nvPr/>
        </p:nvSpPr>
        <p:spPr>
          <a:xfrm>
            <a:off x="723900" y="4693920"/>
            <a:ext cx="350520" cy="350520"/>
          </a:xfrm>
          <a:prstGeom prst="ellipse">
            <a:avLst/>
          </a:prstGeom>
          <a:solidFill>
            <a:srgbClr val="164E3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4860" y="4732020"/>
            <a:ext cx="419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11580" y="4678680"/>
            <a:ext cx="5295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0FFFA"/>
                </a:solidFill>
                <a:latin typeface="Microsoft YaHei"/>
              </a:defRPr>
            </a:pPr>
            <a:r>
              <a:t>重复比特分组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11580" y="5044440"/>
            <a:ext cx="52959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A6C7BD"/>
                </a:solidFill>
                <a:latin typeface="Microsoft YaHei"/>
              </a:defRPr>
            </a:pPr>
            <a:r>
              <a:t>通过独立填充子集支持恢复分析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76160" y="4381500"/>
            <a:ext cx="4038600" cy="438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856"/>
              </a:lnSpc>
              <a:spcAft>
                <a:spcPts val="0"/>
              </a:spcAft>
              <a:defRPr sz="2100" b="1">
                <a:solidFill>
                  <a:srgbClr val="F3D77C"/>
                </a:solidFill>
                <a:latin typeface="Microsoft YaHei"/>
              </a:defRPr>
            </a:pPr>
            <a:r>
              <a:t>x = [m, …, m, r]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6160" y="4892040"/>
            <a:ext cx="4038600" cy="40782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611"/>
              </a:lnSpc>
              <a:spcAft>
                <a:spcPts val="0"/>
              </a:spcAft>
              <a:defRPr sz="1920" b="1">
                <a:solidFill>
                  <a:srgbClr val="F0FFFA"/>
                </a:solidFill>
                <a:latin typeface="Microsoft YaHei"/>
              </a:defRPr>
            </a:pPr>
            <a:r>
              <a:t>z(1) = T x  (GF(2))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T 可逆，重复消息与随机填充共同支持编码和恢复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核心方法二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球面映射与随机半径：构造生成端潜在噪声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3400" y="1905000"/>
            <a:ext cx="7848600" cy="2286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7244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244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825246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44296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2440" y="42519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72440" y="40614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8252460" y="42519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8442960" y="40614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358896" y="1882139"/>
            <a:ext cx="2197608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24840" y="1996439"/>
            <a:ext cx="766572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240280"/>
            <a:ext cx="7543800" cy="161544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533400" y="4472940"/>
            <a:ext cx="7848600" cy="96012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472440" y="4411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72440" y="4411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252460" y="4411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442960" y="4411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72440" y="54940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72440" y="53035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252460" y="54940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442960" y="53035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358896" y="4450080"/>
            <a:ext cx="2197608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624840" y="4564380"/>
            <a:ext cx="766572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embed_formu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7900" y="4625340"/>
            <a:ext cx="4419600" cy="65532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8763000" y="1905000"/>
            <a:ext cx="2781300" cy="352806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870204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0204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141476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60526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702040" y="54940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702040" y="53035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1414760" y="54940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1605260" y="53035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764268" y="1882139"/>
            <a:ext cx="778764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930640" y="2125980"/>
            <a:ext cx="24765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01  单位球面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30640" y="2491740"/>
            <a:ext cx="24765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二进制信号归一化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30640" y="3185160"/>
            <a:ext cx="24765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02  正交旋转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30640" y="3550920"/>
            <a:ext cx="24765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由签名矩阵 C 变换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30640" y="4244340"/>
            <a:ext cx="24765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03  随机半径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930640" y="4610100"/>
            <a:ext cx="24765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平方半径服从卡方分布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采用球形水印的生成适配方法，而非在成图上叠加可见纹理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提取机制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噪声反演、逆变换与消息恢复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07820"/>
            <a:ext cx="11643360" cy="4351020"/>
          </a:xfrm>
          <a:prstGeom prst="rect">
            <a:avLst/>
          </a:prstGeom>
          <a:solidFill>
            <a:srgbClr val="031C18"/>
          </a:solidFill>
          <a:ln>
            <a:solidFill>
              <a:srgbClr val="031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" y="1851660"/>
            <a:ext cx="11049000" cy="998219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0540" y="17907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0540" y="179070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1490960" y="17907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681460" y="179070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0540" y="29108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10540" y="27203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1490960" y="29108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1681460" y="27203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49140" y="1828800"/>
            <a:ext cx="3093719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62940" y="1943100"/>
            <a:ext cx="10866120" cy="8153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extract_formul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1120" y="2030730"/>
            <a:ext cx="9509760" cy="64008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32460" y="3345180"/>
            <a:ext cx="2495550" cy="1143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71500" y="3284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71500" y="3284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2998470" y="3284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188970" y="3284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1500" y="45491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71500" y="43586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2998470" y="45491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188970" y="43586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530858" y="3322320"/>
            <a:ext cx="698754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46760" y="3497580"/>
            <a:ext cx="226695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0FFFA"/>
                </a:solidFill>
                <a:latin typeface="Microsoft YaHei"/>
              </a:defRPr>
            </a:pPr>
            <a:r>
              <a:t>传播图像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760" y="3931920"/>
            <a:ext cx="226695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A6C7BD"/>
                </a:solidFill>
                <a:latin typeface="Microsoft YaHei"/>
              </a:defRPr>
            </a:pPr>
            <a:r>
              <a:t>VAE编码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3188970" y="3817620"/>
            <a:ext cx="182880" cy="152400"/>
          </a:xfrm>
          <a:prstGeom prst="rightArrow">
            <a:avLst/>
          </a:prstGeom>
          <a:solidFill>
            <a:srgbClr val="48E1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32810" y="3345180"/>
            <a:ext cx="2495550" cy="1143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371850" y="3284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371850" y="3284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5798820" y="3284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989320" y="3284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3371850" y="45491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3371850" y="43586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5798820" y="45491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5989320" y="43586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331208" y="3322320"/>
            <a:ext cx="698754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547110" y="3497580"/>
            <a:ext cx="226695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0FFFA"/>
                </a:solidFill>
                <a:latin typeface="Microsoft YaHei"/>
              </a:defRPr>
            </a:pPr>
            <a:r>
              <a:t>噪声反演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47110" y="3931920"/>
            <a:ext cx="226695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A6C7BD"/>
                </a:solidFill>
                <a:latin typeface="Microsoft YaHei"/>
              </a:defRPr>
            </a:pPr>
            <a:r>
              <a:t>近似ODE求解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5989320" y="3817620"/>
            <a:ext cx="182880" cy="152400"/>
          </a:xfrm>
          <a:prstGeom prst="rightArrow">
            <a:avLst/>
          </a:prstGeom>
          <a:solidFill>
            <a:srgbClr val="48E1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33160" y="3345180"/>
            <a:ext cx="2495550" cy="1143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6172200" y="3284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6172200" y="3284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8599170" y="3284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789670" y="3284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6172200" y="45491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6172200" y="43586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8599170" y="45491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8789670" y="43586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7131558" y="3322320"/>
            <a:ext cx="698753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347460" y="3497580"/>
            <a:ext cx="226695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0FFFA"/>
                </a:solidFill>
                <a:latin typeface="Microsoft YaHei"/>
              </a:defRPr>
            </a:pPr>
            <a:r>
              <a:t>逆映射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47460" y="3931920"/>
            <a:ext cx="226695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A6C7BD"/>
                </a:solidFill>
                <a:latin typeface="Microsoft YaHei"/>
              </a:defRPr>
            </a:pPr>
            <a:r>
              <a:t>旋转逆变换与解混合</a:t>
            </a:r>
          </a:p>
        </p:txBody>
      </p:sp>
      <p:sp>
        <p:nvSpPr>
          <p:cNvPr id="62" name="Right Arrow 61"/>
          <p:cNvSpPr/>
          <p:nvPr/>
        </p:nvSpPr>
        <p:spPr>
          <a:xfrm>
            <a:off x="8789670" y="3817620"/>
            <a:ext cx="182880" cy="152400"/>
          </a:xfrm>
          <a:prstGeom prst="rightArrow">
            <a:avLst/>
          </a:prstGeom>
          <a:solidFill>
            <a:srgbClr val="48E1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033510" y="3345180"/>
            <a:ext cx="2495550" cy="1143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8972550" y="3284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8972550" y="3284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1399520" y="3284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1590020" y="3284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972550" y="45491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8972550" y="43586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H="1">
            <a:off x="11399520" y="45491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11590020" y="43586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9931908" y="3322320"/>
            <a:ext cx="698754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9147810" y="3497580"/>
            <a:ext cx="226695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0FFFA"/>
                </a:solidFill>
                <a:latin typeface="Microsoft YaHei"/>
              </a:defRPr>
            </a:pPr>
            <a:r>
              <a:t>消息恢复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7810" y="3931920"/>
            <a:ext cx="226695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A6C7BD"/>
                </a:solidFill>
                <a:latin typeface="Microsoft YaHei"/>
              </a:defRPr>
            </a:pPr>
            <a:r>
              <a:t>重复比特多数投票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3900" y="4991100"/>
            <a:ext cx="108204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误差来源：传播变换 → 潜在编码误差 → 反演误差 → 比特翻转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恢复链路的每一层误差，都可能传导到最终消息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签名构建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离线签名 K=(T,C)，支撑在线嵌入与提取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07820"/>
            <a:ext cx="11643360" cy="4351020"/>
          </a:xfrm>
          <a:prstGeom prst="rect">
            <a:avLst/>
          </a:prstGeom>
          <a:solidFill>
            <a:srgbClr val="031C18"/>
          </a:solidFill>
          <a:ln>
            <a:solidFill>
              <a:srgbClr val="031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" y="1866899"/>
            <a:ext cx="8001000" cy="23241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0540" y="1805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0540" y="18059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8442960" y="1805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633460" y="18059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0540" y="42519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10540" y="40614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442960" y="42519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633460" y="40614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451860" y="1844040"/>
            <a:ext cx="224028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62940" y="1958340"/>
            <a:ext cx="7818120" cy="21412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pp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" y="2205990"/>
            <a:ext cx="7696199" cy="164592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32460" y="4533900"/>
            <a:ext cx="3429000" cy="1143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71500" y="4472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71500" y="44729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931920" y="4472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122420" y="44729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71500" y="57378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71500" y="55473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931920" y="57378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122420" y="55473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866899" y="4511040"/>
            <a:ext cx="960121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46760" y="4686300"/>
            <a:ext cx="3200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0FFFA"/>
                </a:solidFill>
                <a:latin typeface="Microsoft YaHei"/>
              </a:defRPr>
            </a:pPr>
            <a:r>
              <a:t>离线签名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760" y="5120640"/>
            <a:ext cx="32004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A6C7BD"/>
                </a:solidFill>
                <a:latin typeface="Microsoft YaHei"/>
              </a:defRPr>
            </a:pPr>
            <a:r>
              <a:t>T：可逆二进制矩阵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4122420" y="5006340"/>
            <a:ext cx="182880" cy="152400"/>
          </a:xfrm>
          <a:prstGeom prst="rightArrow">
            <a:avLst/>
          </a:prstGeom>
          <a:solidFill>
            <a:srgbClr val="48E1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66260" y="4533900"/>
            <a:ext cx="3429000" cy="1143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4305300" y="4472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305300" y="44729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7665720" y="4472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856220" y="44729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305300" y="57378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4305300" y="55473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7665720" y="57378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7856220" y="55473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600700" y="4511040"/>
            <a:ext cx="96012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480560" y="4686300"/>
            <a:ext cx="3200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0FFFA"/>
                </a:solidFill>
                <a:latin typeface="Microsoft YaHei"/>
              </a:defRPr>
            </a:pPr>
            <a:r>
              <a:t>正交构造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80560" y="5120640"/>
            <a:ext cx="32004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A6C7BD"/>
                </a:solidFill>
                <a:latin typeface="Microsoft YaHei"/>
              </a:defRPr>
            </a:pPr>
            <a:r>
              <a:t>C：正交旋转矩阵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856220" y="5006340"/>
            <a:ext cx="182880" cy="152400"/>
          </a:xfrm>
          <a:prstGeom prst="rightArrow">
            <a:avLst/>
          </a:prstGeom>
          <a:solidFill>
            <a:srgbClr val="48E1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00059" y="4533900"/>
            <a:ext cx="3429000" cy="11430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8039099" y="447294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8039099" y="44729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1399520" y="4472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590020" y="44729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039099" y="573786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8039099" y="55473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1399520" y="57378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1590020" y="55473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9334500" y="4511040"/>
            <a:ext cx="96012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214359" y="4686300"/>
            <a:ext cx="3200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0FFFA"/>
                </a:solidFill>
                <a:latin typeface="Microsoft YaHei"/>
              </a:defRPr>
            </a:pPr>
            <a:r>
              <a:t>在线运行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14359" y="5120640"/>
            <a:ext cx="3200400" cy="30419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A6C7BD"/>
                </a:solidFill>
                <a:latin typeface="Microsoft YaHei"/>
              </a:defRPr>
            </a:pPr>
            <a:r>
              <a:t>固定签名嵌入与提取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15400" y="2103120"/>
            <a:ext cx="2667000" cy="480364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182"/>
              </a:lnSpc>
              <a:spcAft>
                <a:spcPts val="0"/>
              </a:spcAft>
              <a:defRPr sz="2340" b="1">
                <a:solidFill>
                  <a:srgbClr val="F3D77C"/>
                </a:solidFill>
                <a:latin typeface="Microsoft YaHei"/>
              </a:defRPr>
            </a:pPr>
            <a:r>
              <a:t>K = (T, 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15400" y="2758440"/>
            <a:ext cx="2667000" cy="91561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签名固定复用</a:t>
            </a:r>
          </a:p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无逐图加密流程</a:t>
            </a:r>
          </a:p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F0FFFA"/>
                </a:solidFill>
                <a:latin typeface="Microsoft YaHei"/>
              </a:defRPr>
            </a:pPr>
            <a:r>
              <a:t>仍须保密管理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离线固定签名连接生成端与核验端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复现状态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用可复查的软件证据说明完成度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260" y="1905000"/>
            <a:ext cx="3657600" cy="34671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95299" y="184404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5299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408432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7482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95299" y="543306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95299" y="5242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4084320" y="54330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4274820" y="5242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72996" y="1882139"/>
            <a:ext cx="1024128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62000" y="2133600"/>
            <a:ext cx="32385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F0FFFA"/>
                </a:solidFill>
                <a:latin typeface="Microsoft YaHei"/>
              </a:defRPr>
            </a:pPr>
            <a:r>
              <a:t>当前原型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" y="2773680"/>
            <a:ext cx="32004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A6C7BD"/>
                </a:solidFill>
                <a:latin typeface="Microsoft YaHei"/>
              </a:defRPr>
            </a:pPr>
            <a:r>
              <a:t>图片上传与登记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" y="3314700"/>
            <a:ext cx="32004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A6C7BD"/>
                </a:solidFill>
                <a:latin typeface="Microsoft YaHei"/>
              </a:defRPr>
            </a:pPr>
            <a:r>
              <a:t>后处理水印接口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" y="3855720"/>
            <a:ext cx="32004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A6C7BD"/>
                </a:solidFill>
                <a:latin typeface="Microsoft YaHei"/>
              </a:defRPr>
            </a:pPr>
            <a:r>
              <a:t>压缩／缩放／裁剪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" y="4396740"/>
            <a:ext cx="32004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0">
                <a:solidFill>
                  <a:srgbClr val="A6C7BD"/>
                </a:solidFill>
                <a:latin typeface="Microsoft YaHei"/>
              </a:defRPr>
            </a:pPr>
            <a:r>
              <a:t>来源查询与历史记录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26280" y="1905000"/>
            <a:ext cx="3352800" cy="34671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46532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46532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774954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94004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465320" y="54330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465320" y="5242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7749540" y="54330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940040" y="5242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733288" y="1882139"/>
            <a:ext cx="938784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39640" y="2133600"/>
            <a:ext cx="2933700" cy="4285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774"/>
              </a:lnSpc>
              <a:spcAft>
                <a:spcPts val="0"/>
              </a:spcAft>
              <a:defRPr sz="2039" b="1">
                <a:solidFill>
                  <a:srgbClr val="F0FFFA"/>
                </a:solidFill>
                <a:latin typeface="Microsoft YaHei"/>
              </a:defRPr>
            </a:pPr>
            <a:r>
              <a:t>软件验证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77740" y="2743200"/>
            <a:ext cx="2743200" cy="82235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5875"/>
              </a:lnSpc>
              <a:spcAft>
                <a:spcPts val="0"/>
              </a:spcAft>
              <a:defRPr sz="4320" b="1">
                <a:solidFill>
                  <a:srgbClr val="F3D77C"/>
                </a:solidFill>
                <a:latin typeface="Microsoft YaHei"/>
              </a:defRPr>
            </a:pPr>
            <a:r>
              <a:t>13 / 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62500" y="3657600"/>
            <a:ext cx="2781300" cy="59436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0FFFA"/>
                </a:solidFill>
                <a:latin typeface="Microsoft YaHei"/>
              </a:defRPr>
            </a:pPr>
            <a:r>
              <a:t>现有工作流单元测试通过</a:t>
            </a:r>
          </a:p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0FFFA"/>
                </a:solidFill>
                <a:latin typeface="Microsoft YaHei"/>
              </a:defRPr>
            </a:pPr>
            <a:r>
              <a:t>包括持久化与错误语义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62500" y="4648200"/>
            <a:ext cx="2781300" cy="31455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876"/>
              </a:lnSpc>
              <a:spcAft>
                <a:spcPts val="0"/>
              </a:spcAft>
              <a:defRPr sz="1380" b="0">
                <a:solidFill>
                  <a:srgbClr val="F3D77C"/>
                </a:solidFill>
                <a:latin typeface="Microsoft YaHei"/>
              </a:defRPr>
            </a:pPr>
            <a:r>
              <a:t>错误处理与持久化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0" y="1905000"/>
            <a:ext cx="3352800" cy="34671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816864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16864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11452860" y="18440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1643360" y="18440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168640" y="54330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8168640" y="5242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11452860" y="54330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11643360" y="52425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436608" y="1882139"/>
            <a:ext cx="938784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8321040" y="1996439"/>
            <a:ext cx="3169920" cy="32842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ap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7760" y="2057400"/>
            <a:ext cx="2316480" cy="316230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从图片保护到传播后核验，以统一接口连接模型与应用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质量验证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控制生成配置，比较感知质量与局部细节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07820"/>
            <a:ext cx="11643360" cy="4351020"/>
          </a:xfrm>
          <a:prstGeom prst="rect">
            <a:avLst/>
          </a:prstGeom>
          <a:solidFill>
            <a:srgbClr val="031C18"/>
          </a:solidFill>
          <a:ln>
            <a:solidFill>
              <a:srgbClr val="031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" y="1821180"/>
            <a:ext cx="11049000" cy="182880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0540" y="1760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0540" y="1760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1490960" y="1760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681460" y="17602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0540" y="3710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10540" y="35204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11490960" y="3710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1681460" y="352044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49140" y="1798320"/>
            <a:ext cx="3093719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62940" y="1912620"/>
            <a:ext cx="1086612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qua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2780" y="1973580"/>
            <a:ext cx="5806440" cy="1524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17220" y="4145280"/>
            <a:ext cx="3467100" cy="134874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56260" y="40843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56260" y="40843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3954780" y="40843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145280" y="40843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6260" y="555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56260" y="53644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954780" y="555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4145280" y="53644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865376" y="4122420"/>
            <a:ext cx="970788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46760" y="4290060"/>
            <a:ext cx="3200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控制变量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760" y="4732020"/>
            <a:ext cx="32004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0FFFA"/>
                </a:solidFill>
                <a:latin typeface="Microsoft YaHei"/>
              </a:defRPr>
            </a:pPr>
            <a:r>
              <a:t>模型、步数、分辨率与种子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65320" y="4145280"/>
            <a:ext cx="3467100" cy="134874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4404360" y="40843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404360" y="40843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7802880" y="40843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993380" y="40843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404360" y="555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4404360" y="53644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7802880" y="555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993380" y="53644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713476" y="4122420"/>
            <a:ext cx="970788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94860" y="4290060"/>
            <a:ext cx="3200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配对比较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94860" y="4732020"/>
            <a:ext cx="32004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0FFFA"/>
                </a:solidFill>
                <a:latin typeface="Microsoft YaHei"/>
              </a:defRPr>
            </a:pPr>
            <a:r>
              <a:t>相同提示词与一致采样配置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13420" y="4145280"/>
            <a:ext cx="3467100" cy="134874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8252460" y="40843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252460" y="40843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1650980" y="40843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1841480" y="40843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252460" y="555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8252460" y="53644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11650980" y="555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1841480" y="53644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561576" y="4122420"/>
            <a:ext cx="970788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442960" y="4290060"/>
            <a:ext cx="32004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视觉核查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42960" y="4732020"/>
            <a:ext cx="32004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0FFFA"/>
                </a:solidFill>
                <a:latin typeface="Microsoft YaHei"/>
              </a:defRPr>
            </a:pPr>
            <a:r>
              <a:t>纹理、文字、主体与局部细节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同一生成配置与统一数据，是公平比较的基础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实施条件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论文、代码、算力与登记安全共同支撑落地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75460"/>
            <a:ext cx="2651760" cy="3733799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87680" y="17145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7680" y="17145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070860" y="17145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261360" y="17145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7680" y="5570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87680" y="53797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070860" y="5570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261360" y="53797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03273" y="1752600"/>
            <a:ext cx="742493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0080" y="1866899"/>
            <a:ext cx="2468880" cy="35509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ap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040" y="2042160"/>
            <a:ext cx="2346960" cy="32004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3566160" y="1775460"/>
            <a:ext cx="4953000" cy="211074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3505200" y="17145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505200" y="17145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8389620" y="17145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580120" y="17145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505200" y="39471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505200" y="37566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8389620" y="394716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580120" y="375666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49240" y="1752600"/>
            <a:ext cx="138684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657600" y="1866899"/>
            <a:ext cx="4770120" cy="19278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framewo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1470" y="1927860"/>
            <a:ext cx="3802380" cy="18059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604260" y="4206240"/>
            <a:ext cx="49911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研究基础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04260" y="4541520"/>
            <a:ext cx="4991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Spherical Watermark · ICLR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04260" y="4876800"/>
            <a:ext cx="49911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对比路线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04260" y="5212080"/>
            <a:ext cx="49911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Tree-Ring / Gaussian Shading / PRC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15400" y="1775460"/>
            <a:ext cx="2667000" cy="3733799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8854440" y="17145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854440" y="17145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1452860" y="17145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1643360" y="17145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8854440" y="5570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8854440" y="53797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11452860" y="55702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1643360" y="53797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875520" y="1752600"/>
            <a:ext cx="7467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67800" y="2019300"/>
            <a:ext cx="2362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计算资源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67800" y="2385060"/>
            <a:ext cx="2362200" cy="5321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GPU生成与反演</a:t>
            </a:r>
          </a:p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记录模型与采样配置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67800" y="3208020"/>
            <a:ext cx="2362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数据资源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67800" y="3573780"/>
            <a:ext cx="2362200" cy="5321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自有或授权素材</a:t>
            </a:r>
          </a:p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无水印负样本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67800" y="4396740"/>
            <a:ext cx="2362200" cy="35600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203"/>
              </a:lnSpc>
              <a:spcAft>
                <a:spcPts val="0"/>
              </a:spcAft>
              <a:defRPr sz="1620" b="1">
                <a:solidFill>
                  <a:srgbClr val="F3D77C"/>
                </a:solidFill>
                <a:latin typeface="Microsoft YaHei"/>
              </a:defRPr>
            </a:pPr>
            <a:r>
              <a:t>安全边界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67800" y="4762500"/>
            <a:ext cx="2362200" cy="5321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受控签名与登记访问</a:t>
            </a:r>
          </a:p>
          <a:p>
            <a:pPr>
              <a:lnSpc>
                <a:spcPts val="1795"/>
              </a:lnSpc>
              <a:spcAft>
                <a:spcPts val="0"/>
              </a:spcAft>
              <a:defRPr sz="1320" b="0">
                <a:solidFill>
                  <a:srgbClr val="F0FFFA"/>
                </a:solidFill>
                <a:latin typeface="Microsoft YaHei"/>
              </a:defRPr>
            </a:pPr>
            <a:r>
              <a:t>不嵌入个人敏感信息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技术壁垒体现在稳定复现、低误检核验和可审计流程的结合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参数消融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重复次数、容量与反演配置的权衡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07820"/>
            <a:ext cx="11643360" cy="4351020"/>
          </a:xfrm>
          <a:prstGeom prst="rect">
            <a:avLst/>
          </a:prstGeom>
          <a:solidFill>
            <a:srgbClr val="031C18"/>
          </a:solidFill>
          <a:ln>
            <a:solidFill>
              <a:srgbClr val="031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" y="1859280"/>
            <a:ext cx="6858000" cy="295656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0540" y="17983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0540" y="179832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7299960" y="17983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90460" y="179832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0540" y="48768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10540" y="46863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299960" y="48768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490460" y="46863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040380" y="1836420"/>
            <a:ext cx="192024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62940" y="1950720"/>
            <a:ext cx="6675120" cy="27736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b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900" y="2503170"/>
            <a:ext cx="6553200" cy="16687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924799" y="1897380"/>
            <a:ext cx="35052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F3D77C"/>
                </a:solidFill>
                <a:latin typeface="Microsoft YaHei"/>
              </a:defRPr>
            </a:pPr>
            <a:r>
              <a:t>消息长度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99" y="2316480"/>
            <a:ext cx="35052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0FFFA"/>
                </a:solidFill>
                <a:latin typeface="Microsoft YaHei"/>
              </a:defRPr>
            </a:pPr>
            <a:r>
              <a:t>容量与恢复难度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4799" y="3025140"/>
            <a:ext cx="35052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F3D77C"/>
                </a:solidFill>
                <a:latin typeface="Microsoft YaHei"/>
              </a:defRPr>
            </a:pPr>
            <a:r>
              <a:t>重复次数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4799" y="3444240"/>
            <a:ext cx="35052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0FFFA"/>
                </a:solidFill>
                <a:latin typeface="Microsoft YaHei"/>
              </a:defRPr>
            </a:pPr>
            <a:r>
              <a:t>冗余开销与鲁棒性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4799" y="4152900"/>
            <a:ext cx="35052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F3D77C"/>
                </a:solidFill>
                <a:latin typeface="Microsoft YaHei"/>
              </a:defRPr>
            </a:pPr>
            <a:r>
              <a:t>反演设置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24799" y="4572000"/>
            <a:ext cx="35052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0">
                <a:solidFill>
                  <a:srgbClr val="F0FFFA"/>
                </a:solidFill>
                <a:latin typeface="Microsoft YaHei"/>
              </a:defRPr>
            </a:pPr>
            <a:r>
              <a:t>采样成本与误差积累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6760" y="5135880"/>
            <a:ext cx="107442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0">
                <a:solidFill>
                  <a:srgbClr val="F0FFFA"/>
                </a:solidFill>
                <a:latin typeface="Microsoft YaHei"/>
              </a:defRPr>
            </a:pPr>
            <a:r>
              <a:t>消融实验逐项改变变量，避免把参数效应误判为方法收益。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在容量、冗余、计算成本与恢复性能之间寻找适配点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测试与验证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论文证据说明潜力，项目实测检验可用性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260" y="1805940"/>
            <a:ext cx="6362700" cy="353568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95299" y="174498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5299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78942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7992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95299" y="540258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95299" y="52120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6789420" y="54025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6979920" y="52120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46831" y="1783080"/>
            <a:ext cx="1781557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7700" y="1897380"/>
            <a:ext cx="6179820" cy="33528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tt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2004060"/>
            <a:ext cx="6057900" cy="313944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360920" y="1866899"/>
            <a:ext cx="1905000" cy="157734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7299960" y="1805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299960" y="18059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9136380" y="1805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326880" y="18059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299960" y="3505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299960" y="3314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9136380" y="3505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326880" y="3314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6720" y="1844040"/>
            <a:ext cx="53340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498079" y="1981199"/>
            <a:ext cx="1638300" cy="44927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937"/>
              </a:lnSpc>
              <a:spcAft>
                <a:spcPts val="0"/>
              </a:spcAft>
              <a:defRPr sz="2160" b="1">
                <a:solidFill>
                  <a:srgbClr val="F3D77C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2453640"/>
            <a:ext cx="1638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画质与观感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2804160"/>
            <a:ext cx="16383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A6C7BD"/>
                </a:solidFill>
                <a:latin typeface="Microsoft YaHei"/>
              </a:defRPr>
            </a:pPr>
            <a:r>
              <a:t>质量指标＋局部细节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39300" y="1866899"/>
            <a:ext cx="1905000" cy="157734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9578340" y="1805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578340" y="18059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1414760" y="18059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605260" y="18059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578340" y="3505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9578340" y="3314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11414760" y="35052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1605260" y="33147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325100" y="1844040"/>
            <a:ext cx="53340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9776460" y="1981199"/>
            <a:ext cx="1638300" cy="44927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937"/>
              </a:lnSpc>
              <a:spcAft>
                <a:spcPts val="0"/>
              </a:spcAft>
              <a:defRPr sz="2160" b="1">
                <a:solidFill>
                  <a:srgbClr val="F3D77C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76460" y="2453640"/>
            <a:ext cx="1638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传播恢复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76460" y="2804160"/>
            <a:ext cx="16383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A6C7BD"/>
                </a:solidFill>
                <a:latin typeface="Microsoft YaHei"/>
              </a:defRPr>
            </a:pPr>
            <a:r>
              <a:t>压缩／缩放／裁剪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360920" y="3733799"/>
            <a:ext cx="1905000" cy="157734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7299960" y="36728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299960" y="36728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9136380" y="36728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326880" y="36728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299960" y="5372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7299960" y="5181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9136380" y="5372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9326880" y="5181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8046720" y="3710940"/>
            <a:ext cx="53340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7498079" y="3848099"/>
            <a:ext cx="1638300" cy="44927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937"/>
              </a:lnSpc>
              <a:spcAft>
                <a:spcPts val="0"/>
              </a:spcAft>
              <a:defRPr sz="2160" b="1">
                <a:solidFill>
                  <a:srgbClr val="F3D77C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79" y="4320540"/>
            <a:ext cx="1638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误检与混淆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98079" y="4671060"/>
            <a:ext cx="16383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A6C7BD"/>
                </a:solidFill>
                <a:latin typeface="Microsoft YaHei"/>
              </a:defRPr>
            </a:pPr>
            <a:r>
              <a:t>负样本＋错误签名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39300" y="3733799"/>
            <a:ext cx="1905000" cy="157734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>
            <a:off x="9578340" y="36728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578340" y="36728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414760" y="367284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1605260" y="3672840"/>
            <a:ext cx="0" cy="190499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578340" y="5372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9578340" y="5181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11414760" y="537210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1605260" y="518160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325100" y="3710940"/>
            <a:ext cx="53340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9776460" y="3848099"/>
            <a:ext cx="1638300" cy="449275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937"/>
              </a:lnSpc>
              <a:spcAft>
                <a:spcPts val="0"/>
              </a:spcAft>
              <a:defRPr sz="2160" b="1">
                <a:solidFill>
                  <a:srgbClr val="F3D77C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76460" y="4320540"/>
            <a:ext cx="16383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应用体验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76460" y="4671060"/>
            <a:ext cx="1638300" cy="293827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713"/>
              </a:lnSpc>
              <a:spcAft>
                <a:spcPts val="0"/>
              </a:spcAft>
              <a:defRPr sz="1260" b="0">
                <a:solidFill>
                  <a:srgbClr val="A6C7BD"/>
                </a:solidFill>
                <a:latin typeface="Microsoft YaHei"/>
              </a:defRPr>
            </a:pPr>
            <a:r>
              <a:t>正确判断＋任务耗时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同时报告成功、失败与无法确认；不只展示成功样例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方案比较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区分技术能力与应用能力，按同一任务对比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6260" y="1805940"/>
            <a:ext cx="2087880" cy="364998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495299" y="174498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95299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251460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70510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95299" y="5516880"/>
            <a:ext cx="190501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95299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2514600" y="55168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70510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07896" y="1783080"/>
            <a:ext cx="584607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17220" y="1905000"/>
            <a:ext cx="196596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3900" y="1943100"/>
            <a:ext cx="1752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可见署名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420" y="253746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成图叠字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70560" y="295656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93420" y="323088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可直接看见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70560" y="364998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93420" y="392430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可能被覆盖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0560" y="434340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93420" y="461772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需另存声明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70560" y="503682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2865120" y="1805940"/>
            <a:ext cx="2087880" cy="364998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280416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80416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482346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01396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804160" y="55168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280416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4823460" y="55168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501396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616756" y="1783080"/>
            <a:ext cx="584607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2926080" y="1905000"/>
            <a:ext cx="196596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32760" y="1943100"/>
            <a:ext cx="1752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文件元数据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02280" y="253746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附带信息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979420" y="295656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002280" y="323088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观感不变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979420" y="364998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002280" y="392430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可能被移除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979420" y="434340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002280" y="461772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需兼容读取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2979420" y="503682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5173980" y="1805940"/>
            <a:ext cx="2087880" cy="364998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511302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511302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H="1">
            <a:off x="713232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32282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5113020" y="55168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11302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7132320" y="55168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732282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925616" y="1783080"/>
            <a:ext cx="584607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5234940" y="1905000"/>
            <a:ext cx="196596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41620" y="1943100"/>
            <a:ext cx="1752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后处理水印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11140" y="253746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修改已成图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288280" y="295656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311140" y="323088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适用上传图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5288280" y="364998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5311140" y="392430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性能依模型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288280" y="434340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311140" y="461772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仍需登记关联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288280" y="503682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7482840" y="1805940"/>
            <a:ext cx="2087880" cy="364998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2" name="Connector 71"/>
          <p:cNvCxnSpPr/>
          <p:nvPr/>
        </p:nvCxnSpPr>
        <p:spPr>
          <a:xfrm>
            <a:off x="7421880" y="1744980"/>
            <a:ext cx="190499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742188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 flipH="1">
            <a:off x="944118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963168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7421880" y="5516880"/>
            <a:ext cx="190499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742188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H="1">
            <a:off x="9441180" y="55168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V="1">
            <a:off x="963168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8234476" y="1783080"/>
            <a:ext cx="584607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7543800" y="1905000"/>
            <a:ext cx="196596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650480" y="1943100"/>
            <a:ext cx="1752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球形水印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20000" y="253746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生成噪声嵌入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7597140" y="295656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7620000" y="323088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生成链路适配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7597140" y="364998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7620000" y="392430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依赖图像反演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597140" y="434340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7620000" y="461772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0">
                <a:solidFill>
                  <a:srgbClr val="F0FFFA"/>
                </a:solidFill>
                <a:latin typeface="Microsoft YaHei"/>
              </a:defRPr>
            </a:pPr>
            <a:r>
              <a:t>论文技术基础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7597140" y="503682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9791700" y="1805940"/>
            <a:ext cx="2087880" cy="364998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973074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973074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 flipH="1">
            <a:off x="1175004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1194054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9730740" y="55168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V="1">
            <a:off x="973074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11750040" y="55168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11940540" y="53263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10543336" y="1783080"/>
            <a:ext cx="584607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9852660" y="1905000"/>
            <a:ext cx="1965960" cy="327660"/>
          </a:xfrm>
          <a:prstGeom prst="rect">
            <a:avLst/>
          </a:prstGeom>
          <a:solidFill>
            <a:srgbClr val="155142"/>
          </a:solidFill>
          <a:ln>
            <a:solidFill>
              <a:srgbClr val="28AC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959340" y="1943100"/>
            <a:ext cx="17526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F0FFFA"/>
                </a:solidFill>
                <a:latin typeface="Microsoft YaHei"/>
              </a:defRPr>
            </a:pPr>
            <a:r>
              <a:t>图溯方案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28860" y="253746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身份＋登记关联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9906000" y="295656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9928860" y="323088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收到图即可核验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9906000" y="364998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9928860" y="392430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失败进入复核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9906000" y="434340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9928860" y="4617720"/>
            <a:ext cx="1828800" cy="32491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958"/>
              </a:lnSpc>
              <a:spcAft>
                <a:spcPts val="0"/>
              </a:spcAft>
              <a:defRPr sz="1439" b="1">
                <a:solidFill>
                  <a:srgbClr val="F3D77C"/>
                </a:solidFill>
                <a:latin typeface="Microsoft YaHei"/>
              </a:defRPr>
            </a:pPr>
            <a:r>
              <a:t>登记与核验闭环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9906000" y="5036820"/>
            <a:ext cx="1859280" cy="0"/>
          </a:xfrm>
          <a:prstGeom prst="line">
            <a:avLst/>
          </a:prstGeom>
          <a:ln w="7620">
            <a:solidFill>
              <a:srgbClr val="2363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在同一来源查找任务下，比较保护能力与使用成本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可靠性评估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正样本、负样本与开放失败共同构成验证边界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07820"/>
            <a:ext cx="11643360" cy="4351020"/>
          </a:xfrm>
          <a:prstGeom prst="rect">
            <a:avLst/>
          </a:prstGeom>
          <a:solidFill>
            <a:srgbClr val="031C18"/>
          </a:solidFill>
          <a:ln>
            <a:solidFill>
              <a:srgbClr val="031C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" y="1805940"/>
            <a:ext cx="6781800" cy="3436620"/>
          </a:xfrm>
          <a:prstGeom prst="rect">
            <a:avLst/>
          </a:prstGeom>
          <a:solidFill>
            <a:srgbClr val="0A3028"/>
          </a:solidFill>
          <a:ln>
            <a:solidFill>
              <a:srgbClr val="1C6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10540" y="174498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10540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7223760" y="1744980"/>
            <a:ext cx="190499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14259" y="174498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10540" y="5303520"/>
            <a:ext cx="190500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10540" y="51130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223760" y="5303520"/>
            <a:ext cx="190499" cy="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414259" y="5113020"/>
            <a:ext cx="0" cy="190500"/>
          </a:xfrm>
          <a:prstGeom prst="line">
            <a:avLst/>
          </a:prstGeom>
          <a:ln w="762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012948" y="1783080"/>
            <a:ext cx="1898904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62940" y="1897380"/>
            <a:ext cx="6598920" cy="32537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tt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59" y="1958340"/>
            <a:ext cx="6050280" cy="31318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0" y="1927860"/>
            <a:ext cx="36195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F3D77C"/>
                </a:solidFill>
                <a:latin typeface="Microsoft YaHei"/>
              </a:defRPr>
            </a:pPr>
            <a:r>
              <a:t>正样本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339340"/>
            <a:ext cx="3619500" cy="34564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水印图／传播变换图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048000"/>
            <a:ext cx="36195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F3D77C"/>
                </a:solidFill>
                <a:latin typeface="Microsoft YaHei"/>
              </a:defRPr>
            </a:pPr>
            <a:r>
              <a:t>负样本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3459480"/>
            <a:ext cx="3619500" cy="34564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无水印图／错误签名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4168140"/>
            <a:ext cx="3619500" cy="397459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529"/>
              </a:lnSpc>
              <a:spcAft>
                <a:spcPts val="0"/>
              </a:spcAft>
              <a:defRPr sz="1859" b="1">
                <a:solidFill>
                  <a:srgbClr val="F3D77C"/>
                </a:solidFill>
                <a:latin typeface="Microsoft YaHei"/>
              </a:defRPr>
            </a:pPr>
            <a:r>
              <a:t>开放失败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579620"/>
            <a:ext cx="3619500" cy="34564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重绘、强裁剪与域外图像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既评估可恢复性，也评估误检、混淆与无法确认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社会价值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384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829800" y="1371600"/>
            <a:ext cx="2118360" cy="0"/>
          </a:xfrm>
          <a:prstGeom prst="line">
            <a:avLst/>
          </a:prstGeom>
          <a:ln w="30480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499360" y="1188720"/>
            <a:ext cx="7200900" cy="37673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366"/>
              </a:lnSpc>
              <a:spcAft>
                <a:spcPts val="0"/>
              </a:spcAft>
              <a:defRPr sz="1739" b="1">
                <a:solidFill>
                  <a:srgbClr val="F3D77C"/>
                </a:solidFill>
                <a:latin typeface="Microsoft YaHei"/>
              </a:defRPr>
            </a:pPr>
            <a:r>
              <a:t>为图像使用者提供可核实的来源线索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0" y="2438400"/>
            <a:ext cx="2133600" cy="2133600"/>
          </a:xfrm>
          <a:prstGeom prst="ellipse">
            <a:avLst/>
          </a:prstGeom>
          <a:noFill/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75960" y="2438400"/>
            <a:ext cx="640080" cy="21336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0" y="3185160"/>
            <a:ext cx="2133600" cy="64008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455920" y="2438400"/>
            <a:ext cx="1280160" cy="21336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029200" y="2865120"/>
            <a:ext cx="2133600" cy="128016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89220" y="2438400"/>
            <a:ext cx="1813560" cy="21336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0" y="2598420"/>
            <a:ext cx="2133600" cy="181356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21272" y="3474720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866592" y="365693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5993" y="3127783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16210" y="3801775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05418" y="3393264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01430" y="3197541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19613" y="4017006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787627" y="2939317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68670" y="3695190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437889" y="3733553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8275" y="2828367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288784" y="4187533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91900" y="3083946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6037" y="3301322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582776" y="4160621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954551" y="2614658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749332" y="4051726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144841" y="3512216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2940" y="2004060"/>
            <a:ext cx="3352800" cy="438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856"/>
              </a:lnSpc>
              <a:spcAft>
                <a:spcPts val="0"/>
              </a:spcAft>
              <a:defRPr sz="2100" b="1">
                <a:solidFill>
                  <a:srgbClr val="F3D77C"/>
                </a:solidFill>
                <a:latin typeface="Microsoft YaHei"/>
              </a:defRPr>
            </a:pPr>
            <a:r>
              <a:t>来源认证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" y="2499360"/>
            <a:ext cx="33528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辅助核对图片是否匹配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预先登记的生成身份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3399" y="2004060"/>
            <a:ext cx="3352800" cy="438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856"/>
              </a:lnSpc>
              <a:spcAft>
                <a:spcPts val="0"/>
              </a:spcAft>
              <a:defRPr sz="2100" b="1">
                <a:solidFill>
                  <a:srgbClr val="F3D77C"/>
                </a:solidFill>
                <a:latin typeface="Microsoft YaHei"/>
              </a:defRPr>
            </a:pPr>
            <a:r>
              <a:t>可信溯源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53399" y="2499360"/>
            <a:ext cx="33528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把恢复的标识关联到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受控登记与历史记录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" y="4190999"/>
            <a:ext cx="3352800" cy="438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856"/>
              </a:lnSpc>
              <a:spcAft>
                <a:spcPts val="0"/>
              </a:spcAft>
              <a:defRPr sz="2100" b="1">
                <a:solidFill>
                  <a:srgbClr val="F3D77C"/>
                </a:solidFill>
                <a:latin typeface="Microsoft YaHei"/>
              </a:defRPr>
            </a:pPr>
            <a:r>
              <a:t>权益保护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" y="4686300"/>
            <a:ext cx="33528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为署名、授权核对与争议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提供可复查的辅助线索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53399" y="4190999"/>
            <a:ext cx="3352800" cy="438912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856"/>
              </a:lnSpc>
              <a:spcAft>
                <a:spcPts val="0"/>
              </a:spcAft>
              <a:defRPr sz="2100" b="1">
                <a:solidFill>
                  <a:srgbClr val="F3D77C"/>
                </a:solidFill>
                <a:latin typeface="Microsoft YaHei"/>
              </a:defRPr>
            </a:pPr>
            <a:r>
              <a:t>责任边界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53399" y="4686300"/>
            <a:ext cx="3352800" cy="61508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不把检出标识等同于</a:t>
            </a:r>
          </a:p>
          <a:p>
            <a:pPr>
              <a:lnSpc>
                <a:spcPts val="2121"/>
              </a:lnSpc>
              <a:spcAft>
                <a:spcPts val="0"/>
              </a:spcAft>
              <a:defRPr sz="1560" b="0">
                <a:solidFill>
                  <a:srgbClr val="F0FFFA"/>
                </a:solidFill>
                <a:latin typeface="Microsoft YaHei"/>
              </a:defRPr>
            </a:pPr>
            <a:r>
              <a:t>事实真实或法律确权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让身份线索随图传播，让使用决策有据可查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ackd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5780" y="327660"/>
            <a:ext cx="11125200" cy="609600"/>
          </a:xfrm>
          <a:prstGeom prst="rect">
            <a:avLst/>
          </a:prstGeom>
          <a:solidFill>
            <a:srgbClr val="0B3028"/>
          </a:solidFill>
          <a:ln>
            <a:solidFill>
              <a:srgbClr val="0B3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81940" y="937259"/>
            <a:ext cx="11551920" cy="0"/>
          </a:xfrm>
          <a:prstGeom prst="line">
            <a:avLst/>
          </a:prstGeom>
          <a:ln w="15240">
            <a:solidFill>
              <a:srgbClr val="256B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2590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11480" y="342900"/>
            <a:ext cx="281940" cy="502920"/>
          </a:xfrm>
          <a:prstGeom prst="line">
            <a:avLst/>
          </a:prstGeom>
          <a:ln w="91439">
            <a:solidFill>
              <a:srgbClr val="48E1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61060" y="365760"/>
            <a:ext cx="10439400" cy="57363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3916"/>
              </a:lnSpc>
              <a:spcAft>
                <a:spcPts val="0"/>
              </a:spcAft>
              <a:defRPr sz="2879" b="1">
                <a:solidFill>
                  <a:srgbClr val="F0FFFA"/>
                </a:solidFill>
                <a:latin typeface="Microsoft YaHei"/>
              </a:defRPr>
            </a:pPr>
            <a:r>
              <a:t>让每一次传播，都保留可核验的身份线索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900" y="1981199"/>
            <a:ext cx="7010400" cy="2128113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5385"/>
              </a:lnSpc>
              <a:spcAft>
                <a:spcPts val="0"/>
              </a:spcAft>
              <a:defRPr sz="3960" b="1">
                <a:solidFill>
                  <a:srgbClr val="F0FFFA"/>
                </a:solidFill>
                <a:latin typeface="Microsoft YaHei"/>
              </a:defRPr>
            </a:pPr>
            <a:r>
              <a:t>来源可认证</a:t>
            </a:r>
          </a:p>
          <a:p>
            <a:pPr>
              <a:lnSpc>
                <a:spcPts val="5385"/>
              </a:lnSpc>
              <a:spcAft>
                <a:spcPts val="0"/>
              </a:spcAft>
              <a:defRPr sz="3960" b="1">
                <a:solidFill>
                  <a:srgbClr val="F0FFFA"/>
                </a:solidFill>
                <a:latin typeface="Microsoft YaHei"/>
              </a:defRPr>
            </a:pPr>
            <a:r>
              <a:t>传播可追溯</a:t>
            </a:r>
          </a:p>
          <a:p>
            <a:pPr>
              <a:lnSpc>
                <a:spcPts val="5385"/>
              </a:lnSpc>
              <a:spcAft>
                <a:spcPts val="0"/>
              </a:spcAft>
              <a:defRPr sz="3960" b="1">
                <a:solidFill>
                  <a:srgbClr val="F0FFFA"/>
                </a:solidFill>
                <a:latin typeface="Microsoft YaHei"/>
              </a:defRPr>
            </a:pPr>
            <a:r>
              <a:t>权益有线索</a:t>
            </a:r>
          </a:p>
        </p:txBody>
      </p:sp>
      <p:sp>
        <p:nvSpPr>
          <p:cNvPr id="9" name="Oval 8"/>
          <p:cNvSpPr/>
          <p:nvPr/>
        </p:nvSpPr>
        <p:spPr>
          <a:xfrm>
            <a:off x="8077200" y="1600200"/>
            <a:ext cx="3048000" cy="3048000"/>
          </a:xfrm>
          <a:prstGeom prst="ellipse">
            <a:avLst/>
          </a:prstGeom>
          <a:noFill/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600200"/>
            <a:ext cx="914400" cy="30480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77200" y="2667000"/>
            <a:ext cx="3048000" cy="9144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0" y="1600200"/>
            <a:ext cx="1828800" cy="30480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077200" y="2209800"/>
            <a:ext cx="3048000" cy="18288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05800" y="1600200"/>
            <a:ext cx="2590800" cy="30480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77200" y="1828800"/>
            <a:ext cx="3048000" cy="2590800"/>
          </a:xfrm>
          <a:prstGeom prst="ellipse">
            <a:avLst/>
          </a:prstGeom>
          <a:noFill/>
          <a:ln>
            <a:solidFill>
              <a:srgbClr val="B6A5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793222" y="3093720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286538" y="3354034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614253" y="2598096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28848" y="3560942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13432" y="2977355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93449" y="2697751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62282" y="3868414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73730" y="232885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432363" y="3408678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74104" y="3463482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03228" y="217035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89669" y="4112024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608406" y="2535472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700031" y="284600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881086" y="4073579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412192" y="1865060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547595" y="3918015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55465" y="3147286"/>
            <a:ext cx="60960" cy="60960"/>
          </a:xfrm>
          <a:prstGeom prst="ellipse">
            <a:avLst/>
          </a:prstGeom>
          <a:solidFill>
            <a:srgbClr val="48E1BF"/>
          </a:solidFill>
          <a:ln>
            <a:solidFill>
              <a:srgbClr val="48E1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24799" y="4953000"/>
            <a:ext cx="3581400" cy="33528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040"/>
              </a:lnSpc>
              <a:spcAft>
                <a:spcPts val="0"/>
              </a:spcAft>
              <a:defRPr sz="1500" b="1">
                <a:solidFill>
                  <a:srgbClr val="48E1BF"/>
                </a:solidFill>
                <a:latin typeface="Microsoft YaHei"/>
              </a:defRPr>
            </a:pPr>
            <a:r>
              <a:t>球形水印 · ICLR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" y="6118860"/>
            <a:ext cx="10972800" cy="387096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2448"/>
              </a:lnSpc>
              <a:spcAft>
                <a:spcPts val="0"/>
              </a:spcAft>
              <a:defRPr sz="1800" b="1">
                <a:solidFill>
                  <a:srgbClr val="F3D77C"/>
                </a:solidFill>
                <a:latin typeface="Microsoft YaHei"/>
              </a:defRPr>
            </a:pPr>
            <a:r>
              <a:t>从内容生成，到传播后的可信核验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598920"/>
            <a:ext cx="11049000" cy="231648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224"/>
              </a:lnSpc>
              <a:spcAft>
                <a:spcPts val="0"/>
              </a:spcAft>
              <a:defRPr sz="900" b="0">
                <a:solidFill>
                  <a:srgbClr val="A6C7BD"/>
                </a:solidFill>
                <a:latin typeface="Microsoft YaHei"/>
              </a:defRPr>
            </a:pPr>
            <a:r>
              <a:t>图溯  /  学术技术版  ·  DIGITAL IMAGE PROVENANCE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0" y="6576060"/>
            <a:ext cx="533400" cy="273100"/>
          </a:xfrm>
          <a:prstGeom prst="rect">
            <a:avLst/>
          </a:prstGeom>
          <a:noFill/>
        </p:spPr>
        <p:txBody>
          <a:bodyPr wrap="none" tIns="0" bIns="0" lIns="0" rIns="0">
            <a:spAutoFit/>
          </a:bodyPr>
          <a:lstStyle/>
          <a:p>
            <a:pPr>
              <a:lnSpc>
                <a:spcPts val="1550"/>
              </a:lnSpc>
              <a:spcAft>
                <a:spcPts val="0"/>
              </a:spcAft>
              <a:defRPr sz="1140" b="0">
                <a:solidFill>
                  <a:srgbClr val="48E1BF"/>
                </a:solidFill>
                <a:latin typeface="Microsoft YaHe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