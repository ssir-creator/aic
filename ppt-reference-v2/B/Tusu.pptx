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封面设计综合参考稿的答辩层级。图溯聚焦数字图像来源认证与可信传播，技术基础为球形水印。未复制参考项目的队名、奖项、硬件和背书。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参考水下机器人汇报提纲与其他两稿的章节组织，设置四章。保留七项评分覆盖，技术细节服务于用户任务和落地。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章节过渡页，参考铁轨守卫者与单兵作战队的章节节奏。研究背景与需求。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先从数字图像的广泛价值讲起，不以电商或AIGC限定整个问题。左侧是创作，传播使图像进入多种使用任务，右侧这些任务都依赖一定的来源、署名或授权信息。无市场规模数字。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本页使用程序绘制的原创营销设计样张作为情境道具，不是AI生成照片、不是实测传播案例。演示附带说明与图片分离，并不表示一切转发都会剥离元数据。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电商仅为首个验证点，问题背景不限电商。情境：设计方制作新品图，品牌交付代运营或合作方，再次收到图的运营人员需要找回登记来源并核对使用材料。不是已有真实试点案例。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需求假设：品牌只发图片、合作方改名、运营缺少授权文件会增加核对成本。本页是情境分析，非访谈结论。应用目标是缩短来源追问与材料定位路径，不能自动认定盗用。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研方案而非完成数据：拟覆盖3名设计、3名运营、2名审核人员。半结构化访谈记录最近一次交付与来源追问，不诱导受访者认可水印。随后同人交叉执行人工查找/图溯核验，顺序随机，保存匿名原话、观察记录、成功/失败与用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用户需求为基于任务的需求假设，尚非完成访谈的统计结论。拟访谈创作者、运营、审核人员，追问最近一次交付、来源追问过程和画质底线；观察对比人工追问与系统来源查找。不得虚构问卷百分比。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此页为定性任务对比。可见署名、元数据、相似检索、隐形水印各有用途，并不宣称已有水印登记应用不存在。图溯的差异化需在同一用户任务中验证。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章节过渡页，参考铁轨守卫者与单兵作战队的章节节奏。方案与技术设计。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底层球形水印算法来自论文，不归为本项目原创。场景创新为主动身份标记与收到图片后的来源查找衔接；应用差异化仍须调研与对比任务支撑。技术难点包括反演恢复、误检、签名管理、登记安全与异常状态。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本页为拟接入业务SOP。图片登记可存署名与项目声明；授权范围、期限与证明文件目前依赖人工材料清单，不宣称已实现授权管理系统。图片持有者通过平台核验，未自动赋予下载者使用许可。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图溯应用框架图为本项目设计。算法层采用球形水印，登记层与交互层为应用设计。该框架描述目标主路线；现有原型后处理水印路径不能自动视为球形水印生成模型已接通。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选型依据论文方法特性，而非保证其在当前样本绝对最佳。生成先验适配、质量扰动与恢复能力要分别验证。无额外训练不等于无计算成本，提取仍有反演开销。</a:t>
            </a:r>
          </a:p>
          <a:p>
            <a:r>
              <a:t>出处与验证说明：方法依据：Hu et al., Spherical Watermark, ICLR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原图Figure1(b)，重复编码、随机填充、T二进制可逆混合、单位球面归一化、C正交旋转、随机卡方半径，然后进入预训练扩散模型。K=(T,C)需保密。图与方法采用原论文，不是本团队算法原创。</a:t>
            </a:r>
          </a:p>
          <a:p>
            <a:r>
              <a:t>出处与验证说明：Spherical Watermark, ICLR2026, Figure1(b)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上图Figure1(a)展示原方法离线和在线框架。核验经过VAE/扩散反演、C与T逆映射、量化及多数投票。下面应用层将恢复编号关联登记，不把标识检出等同合法授权或事实真实。</a:t>
            </a:r>
          </a:p>
          <a:p>
            <a:r>
              <a:t>出处与验证说明：Spherical Watermark Figure1(a)；应用层为本项目设计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原型实际为Python HTTP服务、独立worker、JSON记录与PNG文件；模型任务单槽串行。球形水印需要独立模型仓库、权重与签名以及兼容GPU环境。未测GPU显存和吞吐，不填配置承诺。多租户鉴权、数据库与密钥托管是正式接入前工作项。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协作设计：算法负责人承担模型复现与配置，产品负责人承担接口与交互，验证负责人承担数据、对照实验和需求记录。未提供真实成员履历或协作成效，不编造团队背书。现有原型和13项软件测试有证据，后续模型统一评测与用户试点尚待实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章节过渡页，参考铁轨守卫者与单兵作战队的章节节奏。测试验证与应用。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拟固定提示词、模型、采样步数和分辨率管理。条件包括原始图、JPEG90/JPEG50、缩放50%、中心裁剪70%，并纳入无水印负样本和错误签名。指标报告实际定义及样本数，避免检测TPR与比特准确率混用。访谈与小规模用户任务均未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本次实际执行原型API：24张程序自绘640×640设计图，咖啡/文创/家居3类布局；另24张独立无水印样张。内置轻量水印，不是球形水印。5种传播条件共120次正样本来源查询，另24次负样本查询。随机记录ID，原始结果CSV与方法代码随证据材料提供。</a:t>
            </a:r>
          </a:p>
          <a:p>
            <a:r>
              <a:t>出处与验证说明：原始证据：evidence/raw-results.csv；不外推为球形水印成绩或真实商户效果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项实际工作流单元测试通过；包含部分模型链路夹具，不能表示GPU模型运行。另24张无水印图均未关联登记，仅为受控负样本结果。小样本零误匹配不表示总体零误检。任务查询中位耗时为单机本地24条登记扫描，不是公网延迟或生产SL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本页是24张自绘样张上的受控试验，不是商户上线。内置轻量水印原图/压缩/尺寸减半24/24关联正确，保留宽高70%中心裁剪0/24，24张未加水印负样张均未关联登记。截图与设计样张均来自项目试验。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业务试点计划，尚无签约或已完成访谈。拟先联系一家有合法素材的小型品牌/设计服务团队，选一个完整营销批次；3至5名设计、运营、审核用户。入组许可、数据去标识，人工追问与系统查找交叉执行。验收阈值应由前测与用户共同确定，不虚构完成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收益模型为评估方法，非已取得收益。设月任务量M，人工与系统任务时间差Δt，人力小时成本H，则月可节省工时=M*Δt/60，毛节省=M*Δt*H/60；扣除模型推理、存储、维护和复核增量成本。不能将未核实侵权损失、赔偿或营收当项目收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先选择自有或授权素材，拟邀设计或运营使用者，执行交付与来源查找。比较人工追问和系统核验的任务耗时、正确判断与无法确认。未来拓展场景为计划，不声称已有部署客户、专利、营收或市场份额。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章节过渡页，参考铁轨守卫者与单兵作战队的章节节奏。总结与展望。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轻量方法裁剪失败，论文主线的真实业务统一评测尚待完成，登记遍历规模、标识冲突、多租户权限与签名管理需进一步验证。改善候选不能保证抗攻击；任何对齐预处理或新模型都需重新测正负样本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结语回扣大背景、核心矛盾和场景方案。当前方案以生成式水印技术为基础，将匿名登记与传播后核验连接起来。未来改善反演稳定性、误检控制、抗重绘与隐私保护。参考文献：Hu et al. Spherical Watermark: Encryption-Free, Lossless Watermarking for Diffusion Models. ICLR2026；相关Tree-Ring、Gaussian Shading、PRC等背景文献。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这不是自评满分。访谈、商户试用与球形水印统一GPU评测仍需真实完成。受控测试当前内置轻量水印，不能替代论文模型性能。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算法创新赛 · AI＋场景创新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09600" y="1973580"/>
            <a:ext cx="7239000" cy="13197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9792"/>
              </a:lnSpc>
              <a:spcAft>
                <a:spcPts val="0"/>
              </a:spcAft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图溯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3345180"/>
            <a:ext cx="7315200" cy="121615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488"/>
              </a:lnSpc>
              <a:spcAft>
                <a:spcPts val="0"/>
              </a:spcAft>
              <a:defRPr sz="3300" b="1">
                <a:solidFill>
                  <a:srgbClr val="F5DEA0"/>
                </a:solidFill>
                <a:latin typeface="Microsoft YaHei"/>
              </a:defRPr>
            </a:pPr>
            <a:r>
              <a:t>让图像的身份线索</a:t>
            </a:r>
          </a:p>
          <a:p>
            <a:pPr>
              <a:lnSpc>
                <a:spcPts val="4488"/>
              </a:lnSpc>
              <a:spcAft>
                <a:spcPts val="0"/>
              </a:spcAft>
              <a:defRPr sz="3300" b="1">
                <a:solidFill>
                  <a:srgbClr val="F5DEA0"/>
                </a:solidFill>
                <a:latin typeface="Microsoft YaHei"/>
              </a:defRPr>
            </a:pPr>
            <a:r>
              <a:t>跟得上内容的传播</a:t>
            </a:r>
          </a:p>
        </p:txBody>
      </p:sp>
      <p:sp>
        <p:nvSpPr>
          <p:cNvPr id="9" name="Oval 8"/>
          <p:cNvSpPr/>
          <p:nvPr/>
        </p:nvSpPr>
        <p:spPr>
          <a:xfrm>
            <a:off x="8305800" y="1744980"/>
            <a:ext cx="2743200" cy="2743200"/>
          </a:xfrm>
          <a:prstGeom prst="ellipse">
            <a:avLst/>
          </a:prstGeom>
          <a:noFill/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65920" y="1744980"/>
            <a:ext cx="822960" cy="2743200"/>
          </a:xfrm>
          <a:prstGeom prst="ellipse">
            <a:avLst/>
          </a:prstGeom>
          <a:noFill/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27008" y="1744980"/>
            <a:ext cx="1700784" cy="2743200"/>
          </a:xfrm>
          <a:prstGeom prst="ellipse">
            <a:avLst/>
          </a:prstGeom>
          <a:noFill/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5800" y="2705100"/>
            <a:ext cx="2743200" cy="822960"/>
          </a:xfrm>
          <a:prstGeom prst="ellipse">
            <a:avLst/>
          </a:prstGeom>
          <a:noFill/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05800" y="2266187"/>
            <a:ext cx="2743200" cy="1700784"/>
          </a:xfrm>
          <a:prstGeom prst="ellipse">
            <a:avLst/>
          </a:prstGeom>
          <a:noFill/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9099" y="5044440"/>
            <a:ext cx="36195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5DEA0"/>
                </a:solidFill>
                <a:latin typeface="Microsoft YaHei"/>
              </a:defRPr>
            </a:pPr>
            <a:r>
              <a:t>来源认证 · 可信溯源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面向数字图像可信传播的来源认证与溯源方案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汇报提纲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从实际问题，到可验证的应用方案</a:t>
            </a:r>
          </a:p>
        </p:txBody>
      </p:sp>
      <p:sp>
        <p:nvSpPr>
          <p:cNvPr id="7" name="Oval 6"/>
          <p:cNvSpPr/>
          <p:nvPr/>
        </p:nvSpPr>
        <p:spPr>
          <a:xfrm>
            <a:off x="769620" y="2026920"/>
            <a:ext cx="502920" cy="50292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03120"/>
            <a:ext cx="685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092849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6380" y="2011680"/>
            <a:ext cx="9890760" cy="6705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9260" y="2095499"/>
            <a:ext cx="44958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3F6FB"/>
                </a:solidFill>
                <a:latin typeface="Microsoft YaHei"/>
              </a:defRPr>
            </a:pPr>
            <a:r>
              <a:t>研究背景与需求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100" y="2186940"/>
            <a:ext cx="4983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图像价值、传播断点、业务场景与用户需求</a:t>
            </a:r>
          </a:p>
        </p:txBody>
      </p:sp>
      <p:sp>
        <p:nvSpPr>
          <p:cNvPr id="12" name="Oval 11"/>
          <p:cNvSpPr/>
          <p:nvPr/>
        </p:nvSpPr>
        <p:spPr>
          <a:xfrm>
            <a:off x="769620" y="2918460"/>
            <a:ext cx="502920" cy="50292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2994660"/>
            <a:ext cx="685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092849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16380" y="2903220"/>
            <a:ext cx="9890760" cy="6705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9260" y="2987040"/>
            <a:ext cx="44958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3F6FB"/>
                </a:solidFill>
                <a:latin typeface="Microsoft YaHei"/>
              </a:defRPr>
            </a:pPr>
            <a:r>
              <a:t>方案与技术设计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4100" y="3078480"/>
            <a:ext cx="4983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场景闭环、模型框架、真实原型与部署实施</a:t>
            </a:r>
          </a:p>
        </p:txBody>
      </p:sp>
      <p:sp>
        <p:nvSpPr>
          <p:cNvPr id="17" name="Oval 16"/>
          <p:cNvSpPr/>
          <p:nvPr/>
        </p:nvSpPr>
        <p:spPr>
          <a:xfrm>
            <a:off x="769620" y="3810000"/>
            <a:ext cx="502920" cy="50292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" y="3886200"/>
            <a:ext cx="685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092849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16380" y="3794760"/>
            <a:ext cx="9890760" cy="6705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9260" y="3878579"/>
            <a:ext cx="44958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3F6FB"/>
                </a:solidFill>
                <a:latin typeface="Microsoft YaHei"/>
              </a:defRPr>
            </a:pPr>
            <a:r>
              <a:t>测试验证与应用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4100" y="3970020"/>
            <a:ext cx="4983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受控数据、失败边界、试点接入与收益评估</a:t>
            </a:r>
          </a:p>
        </p:txBody>
      </p:sp>
      <p:sp>
        <p:nvSpPr>
          <p:cNvPr id="22" name="Oval 21"/>
          <p:cNvSpPr/>
          <p:nvPr/>
        </p:nvSpPr>
        <p:spPr>
          <a:xfrm>
            <a:off x="769620" y="4701540"/>
            <a:ext cx="502920" cy="50292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" y="4777740"/>
            <a:ext cx="685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092849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6380" y="4686300"/>
            <a:ext cx="9890760" cy="6705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9260" y="4770120"/>
            <a:ext cx="44958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3F6FB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4100" y="4861560"/>
            <a:ext cx="4983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问题改进、应用拓展与下一步验证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创新、需求、可行性、实施、验证、应用与展望逐项对应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第1章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</a:p>
        </p:txBody>
      </p:sp>
      <p:sp>
        <p:nvSpPr>
          <p:cNvPr id="7" name="Diamond 6"/>
          <p:cNvSpPr/>
          <p:nvPr/>
        </p:nvSpPr>
        <p:spPr>
          <a:xfrm>
            <a:off x="838200" y="1783080"/>
            <a:ext cx="3429000" cy="3429000"/>
          </a:xfrm>
          <a:prstGeom prst="diamond">
            <a:avLst/>
          </a:prstGeom>
          <a:solidFill>
            <a:srgbClr val="174F74"/>
          </a:solidFill>
          <a:ln>
            <a:solidFill>
              <a:srgbClr val="D1B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50720" y="2796540"/>
            <a:ext cx="1676400" cy="1112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8160"/>
              </a:lnSpc>
              <a:spcAft>
                <a:spcPts val="0"/>
              </a:spcAft>
              <a:defRPr sz="6000" b="1">
                <a:solidFill>
                  <a:srgbClr val="F3DEA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628900"/>
            <a:ext cx="6324600" cy="69799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896"/>
              </a:lnSpc>
              <a:spcAft>
                <a:spcPts val="0"/>
              </a:spcAft>
              <a:defRPr sz="3600" b="1">
                <a:solidFill>
                  <a:srgbClr val="F5DDA5"/>
                </a:solidFill>
                <a:latin typeface="Microsoft YaHei"/>
              </a:defRPr>
            </a:pPr>
            <a:r>
              <a:t>研究背景与需求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7300" y="3543300"/>
            <a:ext cx="62865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0">
                <a:solidFill>
                  <a:srgbClr val="E1ECF2"/>
                </a:solidFill>
                <a:latin typeface="Microsoft YaHei"/>
              </a:defRPr>
            </a:pPr>
            <a:r>
              <a:t>为什么需要来源认证，谁在什么任务中需要它？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36820" y="4419600"/>
            <a:ext cx="639318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为什么需要来源认证，谁在什么任务中需要它？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大背景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图像不仅传递信息，也承载创意、品牌与资产价值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712720"/>
            <a:ext cx="2087880" cy="13258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71272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842260"/>
            <a:ext cx="179832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图像创作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61360"/>
            <a:ext cx="179832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摄影／设计／生成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3291840"/>
            <a:ext cx="57150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91939" y="2423160"/>
            <a:ext cx="1905000" cy="1905000"/>
          </a:xfrm>
          <a:prstGeom prst="ellipse">
            <a:avLst/>
          </a:prstGeom>
          <a:solidFill>
            <a:srgbClr val="123D60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6260" y="3032760"/>
            <a:ext cx="1600200" cy="4907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264"/>
              </a:lnSpc>
              <a:spcAft>
                <a:spcPts val="0"/>
              </a:spcAft>
              <a:defRPr sz="2400" b="1">
                <a:solidFill>
                  <a:srgbClr val="F3F6FB"/>
                </a:solidFill>
                <a:latin typeface="Microsoft YaHei"/>
              </a:defRPr>
            </a:pPr>
            <a:r>
              <a:t>数字图像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7220" y="3528060"/>
            <a:ext cx="1447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可复制 · 易流转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103620" y="2392680"/>
            <a:ext cx="1516380" cy="98298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20000" y="1950720"/>
            <a:ext cx="4061460" cy="96012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620000" y="195072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64780" y="2080260"/>
            <a:ext cx="3771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内容传播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4780" y="2499360"/>
            <a:ext cx="37719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新闻、社交与知识交流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03620" y="3375660"/>
            <a:ext cx="1516380" cy="29718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620000" y="3230880"/>
            <a:ext cx="4061460" cy="96012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620000" y="323088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64780" y="3360420"/>
            <a:ext cx="3771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创意表达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4780" y="3779520"/>
            <a:ext cx="37719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设计、艺术与数字文创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03620" y="3375660"/>
            <a:ext cx="1516380" cy="157734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620000" y="4511040"/>
            <a:ext cx="4061460" cy="96012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620000" y="451104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64780" y="4640580"/>
            <a:ext cx="3771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商业使用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4780" y="5059680"/>
            <a:ext cx="37719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品牌营销与素材交付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740" y="4998720"/>
            <a:ext cx="5257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475"/>
                </a:solidFill>
                <a:latin typeface="Microsoft YaHei"/>
              </a:defRPr>
            </a:pPr>
            <a:r>
              <a:t>价值依赖使用，使用需要可信线索。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来源身份，是图像价值被可靠使用的重要基础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核心矛盾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画面可以完整保留，来源说明却可能在传播中脱落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63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" y="2381250"/>
            <a:ext cx="1691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0580" y="4061460"/>
            <a:ext cx="1920240" cy="335280"/>
          </a:xfrm>
          <a:prstGeom prst="roundRect">
            <a:avLst>
              <a:gd name="adj" fmla="val 8000"/>
            </a:avLst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6780" y="4107179"/>
            <a:ext cx="176784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092849"/>
                </a:solidFill>
                <a:latin typeface="Microsoft YaHei"/>
              </a:defRPr>
            </a:pPr>
            <a:r>
              <a:t>来源：拾光设计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6FB"/>
                </a:solidFill>
                <a:latin typeface="Microsoft YaHei"/>
              </a:defRPr>
            </a:pPr>
            <a:r>
              <a:t>创作者交付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图片＋署名＋使用说明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580" y="2381250"/>
            <a:ext cx="16916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482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6FB"/>
                </a:solidFill>
                <a:latin typeface="Microsoft YaHei"/>
              </a:defRPr>
            </a:pPr>
            <a:r>
              <a:t>群聊／平台转发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图片被另存、改名或编辑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97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381250"/>
            <a:ext cx="1691640" cy="1691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249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6FB"/>
                </a:solidFill>
                <a:latin typeface="Microsoft YaHei"/>
              </a:defRPr>
            </a:pPr>
            <a:r>
              <a:t>再次收到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49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可见内容，难核对来处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23260" y="3154680"/>
            <a:ext cx="91440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261860" y="3154680"/>
            <a:ext cx="91440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24400" y="1714500"/>
            <a:ext cx="2286000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31080" y="1760220"/>
            <a:ext cx="20726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来源说明未随图保留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需要让可核验的身份线索进入图像本身，而非只依赖附件说明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验证场景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用一张电商营销图，贯穿生成、交付与再次核验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73580"/>
            <a:ext cx="3467100" cy="5334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品牌／设计方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54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980" y="2895600"/>
            <a:ext cx="1539240" cy="1539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249680" y="4351020"/>
            <a:ext cx="1767840" cy="335280"/>
          </a:xfrm>
          <a:prstGeom prst="roundRect">
            <a:avLst>
              <a:gd name="adj" fmla="val 8000"/>
            </a:avLst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396740"/>
            <a:ext cx="161544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092849"/>
                </a:solidFill>
                <a:latin typeface="Microsoft YaHei"/>
              </a:defRPr>
            </a:pPr>
            <a:r>
              <a:t>作品编号：TS-001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2D2E0"/>
                </a:solidFill>
                <a:latin typeface="Microsoft YaHei"/>
              </a:defRPr>
            </a:pPr>
            <a:r>
              <a:t>制作与交付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15740" y="3459480"/>
            <a:ext cx="28956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1500" y="1973580"/>
            <a:ext cx="3467100" cy="5334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合作／传播方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16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180" y="2895600"/>
            <a:ext cx="1539240" cy="1539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339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2D2E0"/>
                </a:solidFill>
                <a:latin typeface="Microsoft YaHei"/>
              </a:defRPr>
            </a:pPr>
            <a:r>
              <a:t>接收与再次传播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01940" y="3459480"/>
            <a:ext cx="28956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7699" y="1973580"/>
            <a:ext cx="3467100" cy="5334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01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运营／审核方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78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380" y="2895600"/>
            <a:ext cx="1539240" cy="1539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201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2D2E0"/>
                </a:solidFill>
                <a:latin typeface="Microsoft YaHei"/>
              </a:defRPr>
            </a:pPr>
            <a:r>
              <a:t>收到图片并决定使用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62900" y="5356860"/>
            <a:ext cx="3352800" cy="327660"/>
          </a:xfrm>
          <a:prstGeom prst="roundRect">
            <a:avLst>
              <a:gd name="adj" fmla="val 8000"/>
            </a:avLst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9579" y="5402580"/>
            <a:ext cx="31394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092849"/>
                </a:solidFill>
                <a:latin typeface="Microsoft YaHei"/>
              </a:defRPr>
            </a:pPr>
            <a:r>
              <a:t>上传收到的图 → 查找来源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用户不必知道图片经历过哪些处理，也能发起来源查找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需求分析 · 问题剖析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真正的断点，发生在“制作—交付—再次使用”的责任交接处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80260"/>
            <a:ext cx="3467100" cy="19354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08026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20980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制作端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2890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署名与身份在交付说明中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36620"/>
            <a:ext cx="315468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0D475"/>
                </a:solidFill>
                <a:latin typeface="Microsoft YaHei"/>
              </a:defRPr>
            </a:pPr>
            <a:r>
              <a:t>需求：身份随图保留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08120" y="2910840"/>
            <a:ext cx="30480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1500" y="2080260"/>
            <a:ext cx="3467100" cy="19354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381500" y="208026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26280" y="220980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交付端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2890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多个合作方持有相似版本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36620"/>
            <a:ext cx="315468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0D475"/>
                </a:solidFill>
                <a:latin typeface="Microsoft YaHei"/>
              </a:defRPr>
            </a:pPr>
            <a:r>
              <a:t>需求：统一作品与批次登记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94320" y="2910840"/>
            <a:ext cx="30480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7699" y="2080260"/>
            <a:ext cx="3467100" cy="19354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67699" y="208026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0" y="220980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使用端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2890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再次收到图片时缺少材料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436620"/>
            <a:ext cx="315468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0D475"/>
                </a:solidFill>
                <a:latin typeface="Microsoft YaHei"/>
              </a:defRPr>
            </a:pPr>
            <a:r>
              <a:t>需求：直接上传并关联线索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" y="4533900"/>
            <a:ext cx="10782300" cy="418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92"/>
              </a:lnSpc>
              <a:spcAft>
                <a:spcPts val="0"/>
              </a:spcAft>
              <a:defRPr sz="1980" b="1">
                <a:solidFill>
                  <a:srgbClr val="F3F6FB"/>
                </a:solidFill>
                <a:latin typeface="Microsoft YaHei"/>
              </a:defRPr>
            </a:pPr>
            <a:r>
              <a:t>核心用户：品牌设计／店铺运营／审核人员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560" y="5021580"/>
            <a:ext cx="107823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C2D2E0"/>
                </a:solidFill>
                <a:latin typeface="Microsoft YaHei"/>
              </a:defRPr>
            </a:pPr>
            <a:r>
              <a:t>关键约束：图片观感、低操作成本、授权材料与隐私边界。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需求来自交接任务，技术选型围绕交接中的信息断点展开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需求分析 · 调研方法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访谈问清真实经历，任务观察检验实际操作成本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49780"/>
            <a:ext cx="3467100" cy="217932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04978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17932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样本与角色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9842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设计3人／运营3人／审核2人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543300"/>
            <a:ext cx="31623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C2D2E0"/>
                </a:solidFill>
                <a:latin typeface="Microsoft YaHei"/>
              </a:defRPr>
            </a:pPr>
            <a:r>
              <a:t>覆盖生成、交付和再次使用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1500" y="2049780"/>
            <a:ext cx="3467100" cy="217932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81500" y="204978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6280" y="217932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访谈与案例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9842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追问最近一次真实交付经历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900" y="3543300"/>
            <a:ext cx="31623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C2D2E0"/>
                </a:solidFill>
                <a:latin typeface="Microsoft YaHei"/>
              </a:defRPr>
            </a:pPr>
            <a:r>
              <a:t>保留匿名原话与材料出处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7699" y="2049780"/>
            <a:ext cx="3467100" cy="217932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67699" y="204978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0" y="217932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任务对照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9842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人工追问 ↔ 系统核验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0100" y="3543300"/>
            <a:ext cx="31623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C2D2E0"/>
                </a:solidFill>
                <a:latin typeface="Microsoft YaHei"/>
              </a:defRPr>
            </a:pPr>
            <a:r>
              <a:t>同图同任务，记录正确与用时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700" y="4709160"/>
            <a:ext cx="10744200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" y="4754880"/>
            <a:ext cx="10530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调研输出：真实案例 → 痛点频次／严重度 → 功能优先级 → 验收条件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" y="5280660"/>
            <a:ext cx="10744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F3F6FB"/>
                </a:solidFill>
                <a:latin typeface="Microsoft YaHei"/>
              </a:defRPr>
            </a:pPr>
            <a:r>
              <a:t>避免只问“是否需要保护”，重点观察“现在怎样找来源、在哪里卡住”。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调研方案以可追查记录为证据，问卷意愿不能替代真实任务表现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需求分析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把用户的疑问，转化为可实现、可验收的系统要求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299" y="2004060"/>
            <a:ext cx="35052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0D475"/>
                </a:solidFill>
                <a:latin typeface="Microsoft YaHei"/>
              </a:defRPr>
            </a:pPr>
            <a:r>
              <a:t>用户疑问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4360" y="2004060"/>
            <a:ext cx="3467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0D475"/>
                </a:solidFill>
                <a:latin typeface="Microsoft YaHei"/>
              </a:defRPr>
            </a:pPr>
            <a:r>
              <a:t>系统要求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04060"/>
            <a:ext cx="3467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0D475"/>
                </a:solidFill>
                <a:latin typeface="Microsoft YaHei"/>
              </a:defRPr>
            </a:pPr>
            <a:r>
              <a:t>验收关注点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299" y="2552700"/>
            <a:ext cx="35052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69748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加标识会不会影响图片？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4360" y="2552700"/>
            <a:ext cx="34671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660" y="269748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生成保护＋前后对照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552700"/>
            <a:ext cx="34671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269748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视觉质量与局部细节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299" y="3261360"/>
            <a:ext cx="35052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340614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收到图片后怎么找到来源？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4360" y="3261360"/>
            <a:ext cx="34671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8660" y="340614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直接上传＋恢复编号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61360"/>
            <a:ext cx="34671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3900" y="340614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匹配正确率与无法确认率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299" y="3970020"/>
            <a:ext cx="35052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411480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这个结果能不能直接使用？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4360" y="3970020"/>
            <a:ext cx="34671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8660" y="411480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登记展示＋授权辅助检查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70020"/>
            <a:ext cx="34671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3900" y="411480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信息完整性与复核提示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299" y="4678680"/>
            <a:ext cx="35052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482346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图片太多，能否重复查阅？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4360" y="4678680"/>
            <a:ext cx="34671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8660" y="482346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素材与核验记录统一管理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678680"/>
            <a:ext cx="34671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3900" y="482346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任务耗时与记录可追查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访谈与任务观察 → 需求优先级 → 功能设计 → 验收指标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现有方案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单一保护方式，难以覆盖传播后的完整核验任务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87880"/>
            <a:ext cx="1905000" cy="41910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217932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092849"/>
                </a:solidFill>
                <a:latin typeface="Microsoft YaHei"/>
              </a:defRPr>
            </a:pPr>
            <a:r>
              <a:t>现有方式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7460" y="2087880"/>
            <a:ext cx="3581400" cy="41910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9380" y="217932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092849"/>
                </a:solidFill>
                <a:latin typeface="Microsoft YaHei"/>
              </a:defRPr>
            </a:pPr>
            <a:r>
              <a:t>能够解决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8400" y="2087880"/>
            <a:ext cx="5448300" cy="41910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320" y="217932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092849"/>
                </a:solidFill>
                <a:latin typeface="Microsoft YaHei"/>
              </a:defRPr>
            </a:pPr>
            <a:r>
              <a:t>传播后仍存在的缺口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299" y="2514600"/>
            <a:ext cx="1905000" cy="70866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" y="268224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可见署名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37460" y="2514600"/>
            <a:ext cx="3581400" cy="70866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9380" y="268224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直接展示作者或品牌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2514600"/>
            <a:ext cx="5448300" cy="70866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320" y="268224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可能被覆盖或裁掉，也会占用画面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299" y="3246120"/>
            <a:ext cx="1905000" cy="708660"/>
          </a:xfrm>
          <a:prstGeom prst="rect">
            <a:avLst/>
          </a:prstGeom>
          <a:solidFill>
            <a:srgbClr val="092849"/>
          </a:solidFill>
          <a:ln>
            <a:solidFill>
              <a:srgbClr val="092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" y="341376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元数据／文件名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37460" y="3246120"/>
            <a:ext cx="3581400" cy="708660"/>
          </a:xfrm>
          <a:prstGeom prst="rect">
            <a:avLst/>
          </a:prstGeom>
          <a:solidFill>
            <a:srgbClr val="092849"/>
          </a:solidFill>
          <a:ln>
            <a:solidFill>
              <a:srgbClr val="092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9380" y="341376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保存创建与来源说明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8400" y="3246120"/>
            <a:ext cx="5448300" cy="708660"/>
          </a:xfrm>
          <a:prstGeom prst="rect">
            <a:avLst/>
          </a:prstGeom>
          <a:solidFill>
            <a:srgbClr val="092849"/>
          </a:solidFill>
          <a:ln>
            <a:solidFill>
              <a:srgbClr val="092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320" y="341376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信息可能在平台转发、改名时丢失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299" y="3977639"/>
            <a:ext cx="1905000" cy="70866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414528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相似图检索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37460" y="3977639"/>
            <a:ext cx="3581400" cy="70866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9380" y="414528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找到相似内容与候选作品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8400" y="3977639"/>
            <a:ext cx="5448300" cy="70866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0320" y="414528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3F6FB"/>
                </a:solidFill>
                <a:latin typeface="Microsoft YaHei"/>
              </a:defRPr>
            </a:pPr>
            <a:r>
              <a:t>相似不等于来源一致，更不等于有效授权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299" y="4709160"/>
            <a:ext cx="1905000" cy="708660"/>
          </a:xfrm>
          <a:prstGeom prst="rect">
            <a:avLst/>
          </a:prstGeom>
          <a:solidFill>
            <a:srgbClr val="092849"/>
          </a:solidFill>
          <a:ln>
            <a:solidFill>
              <a:srgbClr val="092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" y="487680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3F6FB"/>
                </a:solidFill>
                <a:latin typeface="Microsoft YaHei"/>
              </a:defRPr>
            </a:pPr>
            <a:r>
              <a:t>隐形水印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37460" y="4709160"/>
            <a:ext cx="3581400" cy="708660"/>
          </a:xfrm>
          <a:prstGeom prst="rect">
            <a:avLst/>
          </a:prstGeom>
          <a:solidFill>
            <a:srgbClr val="092849"/>
          </a:solidFill>
          <a:ln>
            <a:solidFill>
              <a:srgbClr val="092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9380" y="487680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3F6FB"/>
                </a:solidFill>
                <a:latin typeface="Microsoft YaHei"/>
              </a:defRPr>
            </a:pPr>
            <a:r>
              <a:t>在图像中保存可检测信号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8400" y="4709160"/>
            <a:ext cx="5448300" cy="708660"/>
          </a:xfrm>
          <a:prstGeom prst="rect">
            <a:avLst/>
          </a:prstGeom>
          <a:solidFill>
            <a:srgbClr val="092849"/>
          </a:solidFill>
          <a:ln>
            <a:solidFill>
              <a:srgbClr val="092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0320" y="487680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3F6FB"/>
                </a:solidFill>
                <a:latin typeface="Microsoft YaHei"/>
              </a:defRPr>
            </a:pPr>
            <a:r>
              <a:t>仍需登记关联、误检控制与失败复核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图溯的切入点：把图像中的标识与登记、核验和复核流程连接起来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第2章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</a:p>
        </p:txBody>
      </p:sp>
      <p:sp>
        <p:nvSpPr>
          <p:cNvPr id="7" name="Diamond 6"/>
          <p:cNvSpPr/>
          <p:nvPr/>
        </p:nvSpPr>
        <p:spPr>
          <a:xfrm>
            <a:off x="838200" y="1783080"/>
            <a:ext cx="3429000" cy="3429000"/>
          </a:xfrm>
          <a:prstGeom prst="diamond">
            <a:avLst/>
          </a:prstGeom>
          <a:solidFill>
            <a:srgbClr val="174F74"/>
          </a:solidFill>
          <a:ln>
            <a:solidFill>
              <a:srgbClr val="D1B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50720" y="2796540"/>
            <a:ext cx="1676400" cy="1112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8160"/>
              </a:lnSpc>
              <a:spcAft>
                <a:spcPts val="0"/>
              </a:spcAft>
              <a:defRPr sz="6000" b="1">
                <a:solidFill>
                  <a:srgbClr val="F3DEA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628900"/>
            <a:ext cx="6324600" cy="69799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896"/>
              </a:lnSpc>
              <a:spcAft>
                <a:spcPts val="0"/>
              </a:spcAft>
              <a:defRPr sz="3600" b="1">
                <a:solidFill>
                  <a:srgbClr val="F5DDA5"/>
                </a:solidFill>
                <a:latin typeface="Microsoft YaHei"/>
              </a:defRPr>
            </a:pPr>
            <a:r>
              <a:t>方案与技术设计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7300" y="3543300"/>
            <a:ext cx="62865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0">
                <a:solidFill>
                  <a:srgbClr val="E1ECF2"/>
                </a:solidFill>
                <a:latin typeface="Microsoft YaHei"/>
              </a:defRPr>
            </a:pPr>
            <a:r>
              <a:t>如何把身份标记、登记与核验连接起来？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36820" y="4419600"/>
            <a:ext cx="639318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如何把身份标记、登记与核验连接起来？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创新与壁垒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把研究方法转化为可使用、可复查的可信传播流程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81199"/>
            <a:ext cx="11201400" cy="70104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1040" y="2141220"/>
            <a:ext cx="107442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F3F6FB"/>
                </a:solidFill>
                <a:latin typeface="Microsoft YaHei"/>
              </a:defRPr>
            </a:pPr>
            <a:r>
              <a:t>研究基础：球形水印的编码、噪声构造与反演恢复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09800" y="2682240"/>
            <a:ext cx="0" cy="464820"/>
          </a:xfrm>
          <a:prstGeom prst="line">
            <a:avLst/>
          </a:prstGeom>
          <a:ln w="1524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95299" y="3147060"/>
            <a:ext cx="3467100" cy="1882139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95299" y="314706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327660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流程融合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9570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从生成、交付到再次核验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475"/>
                </a:solidFill>
                <a:latin typeface="Microsoft YaHei"/>
              </a:defRPr>
            </a:pPr>
            <a:r>
              <a:t>难点：算法与登记一致关联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2682240"/>
            <a:ext cx="0" cy="464820"/>
          </a:xfrm>
          <a:prstGeom prst="line">
            <a:avLst/>
          </a:prstGeom>
          <a:ln w="1524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81500" y="3147060"/>
            <a:ext cx="3467100" cy="1882139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381500" y="314706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26280" y="327660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低门槛核验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69570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收到图片后直接上传查询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9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475"/>
                </a:solidFill>
                <a:latin typeface="Microsoft YaHei"/>
              </a:defRPr>
            </a:pPr>
            <a:r>
              <a:t>难点：误检、冲突和无法确认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82200" y="2682240"/>
            <a:ext cx="0" cy="464820"/>
          </a:xfrm>
          <a:prstGeom prst="line">
            <a:avLst/>
          </a:prstGeom>
          <a:ln w="1524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67699" y="3147060"/>
            <a:ext cx="3467100" cy="1882139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67699" y="314706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0" y="327660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可追查管理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69570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署名声明与核验记录衔接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01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475"/>
                </a:solidFill>
                <a:latin typeface="Microsoft YaHei"/>
              </a:defRPr>
            </a:pPr>
            <a:r>
              <a:t>难点：签名、隐私与记录安全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" y="5387340"/>
            <a:ext cx="10744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C2D2E0"/>
                </a:solidFill>
                <a:latin typeface="Microsoft YaHei"/>
              </a:defRPr>
            </a:pPr>
            <a:r>
              <a:t>应用贡献围绕任务闭环展开，技术壁垒由稳定运行与严格验证积累。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场景融合与工程能力，需要用用户任务和真实数据证明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业务落地 · 操作闭环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一次交付建立身份，一次上传启动来源核验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194560"/>
            <a:ext cx="2057400" cy="15087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19456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324100"/>
            <a:ext cx="1767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设计制作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描述生成或上传保护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0D47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98420" y="2811780"/>
            <a:ext cx="14478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1300" y="2194560"/>
            <a:ext cx="2057400" cy="15087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781300" y="219456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26080" y="2324100"/>
            <a:ext cx="1767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品牌交付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74320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登记编号＋留存交付图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3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0D47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84420" y="2811780"/>
            <a:ext cx="14478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67300" y="2194560"/>
            <a:ext cx="2057400" cy="15087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67300" y="219456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12080" y="2324100"/>
            <a:ext cx="1767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网络传播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74320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转发／压缩／改名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9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0D47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70420" y="2811780"/>
            <a:ext cx="14478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53299" y="2194560"/>
            <a:ext cx="2057400" cy="15087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353299" y="219456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79" y="2324100"/>
            <a:ext cx="1767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运营核验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74320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上传收到的图片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5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0D47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56420" y="2811780"/>
            <a:ext cx="14478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39300" y="2194560"/>
            <a:ext cx="2057400" cy="15087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9639300" y="219456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784080" y="2324100"/>
            <a:ext cx="1767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人工复核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74320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核对署名与授权材料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1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0D47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" y="4686300"/>
            <a:ext cx="107442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正常：有效编号 → 来源登记 → 人工确认使用依据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" y="5204460"/>
            <a:ext cx="10744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C2D2E0"/>
                </a:solidFill>
                <a:latin typeface="Microsoft YaHei"/>
              </a:defRPr>
            </a:pPr>
            <a:r>
              <a:t>异常：无匹配／冲突／服务错误 → 不作确权结论 → 补充原图与材料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业务使用结果是“有线索可核对”，而非自动判定侵权或许可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总体方案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生成侧建立身份，接收侧恢复身份，登记层连接两端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191262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980" y="195834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生成与交付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299" y="470916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80" y="475488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接收与核验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3600" y="1889760"/>
            <a:ext cx="2705100" cy="10972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133600" y="188976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78380" y="2019300"/>
            <a:ext cx="2415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用户描述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8380" y="2438400"/>
            <a:ext cx="2415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画面与制作需求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8760" y="1889760"/>
            <a:ext cx="2705100" cy="10972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318760" y="188976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63540" y="2019300"/>
            <a:ext cx="2415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身份嵌入＋生成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3540" y="2438400"/>
            <a:ext cx="2415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匿名编号 → 潜在噪声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6360" y="1889760"/>
            <a:ext cx="2705100" cy="10972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976360" y="188976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21140" y="2019300"/>
            <a:ext cx="2415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交付图片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1140" y="2438400"/>
            <a:ext cx="2415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下载并发布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922520" y="2362200"/>
            <a:ext cx="28956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145780" y="2362200"/>
            <a:ext cx="69342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95800" y="3360420"/>
            <a:ext cx="4457700" cy="100584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495800" y="336042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40580" y="3489960"/>
            <a:ext cx="41681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匿名来源登记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0580" y="3909060"/>
            <a:ext cx="4168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作品编号／项目声明／署名／核验历史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67500" y="2987040"/>
            <a:ext cx="0" cy="373380"/>
          </a:xfrm>
          <a:prstGeom prst="line">
            <a:avLst/>
          </a:prstGeom>
          <a:ln w="1524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133600" y="4678680"/>
            <a:ext cx="2705100" cy="10972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133600" y="467868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78380" y="4808220"/>
            <a:ext cx="2415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收到图片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8380" y="5227320"/>
            <a:ext cx="2415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上传待核验图像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18760" y="4678680"/>
            <a:ext cx="2705100" cy="10972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318760" y="467868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63540" y="4808220"/>
            <a:ext cx="2415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反演＋恢复消息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3540" y="5227320"/>
            <a:ext cx="2415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生成身份 → 匿名编号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76360" y="4678680"/>
            <a:ext cx="2705100" cy="10972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976360" y="467868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21140" y="4808220"/>
            <a:ext cx="2415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显示来源线索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1140" y="5227320"/>
            <a:ext cx="2415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有效匹配／人工复核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922520" y="5173980"/>
            <a:ext cx="28956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8145780" y="5173980"/>
            <a:ext cx="69342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6667500" y="4366260"/>
            <a:ext cx="0" cy="312420"/>
          </a:xfrm>
          <a:prstGeom prst="line">
            <a:avLst/>
          </a:prstGeom>
          <a:ln w="1524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363200" y="2987040"/>
            <a:ext cx="0" cy="1691640"/>
          </a:xfrm>
          <a:prstGeom prst="line">
            <a:avLst/>
          </a:prstGeom>
          <a:ln w="22859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97340" y="3535680"/>
            <a:ext cx="2438400" cy="57363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网络传播</a:t>
            </a:r>
          </a:p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压缩／转发／编辑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从图像到登记的关联闭环，是方案的应用核心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技术选型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球形水印，适配“生成时标记、传播后核验”的需求</a:t>
            </a:r>
          </a:p>
        </p:txBody>
      </p:sp>
      <p:sp>
        <p:nvSpPr>
          <p:cNvPr id="7" name="Oval 6"/>
          <p:cNvSpPr/>
          <p:nvPr/>
        </p:nvSpPr>
        <p:spPr>
          <a:xfrm>
            <a:off x="5143500" y="2514600"/>
            <a:ext cx="1905000" cy="1905000"/>
          </a:xfrm>
          <a:prstGeom prst="ellipse">
            <a:avLst/>
          </a:prstGeom>
          <a:noFill/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10250" y="2514600"/>
            <a:ext cx="571500" cy="1905000"/>
          </a:xfrm>
          <a:prstGeom prst="ellipse">
            <a:avLst/>
          </a:prstGeom>
          <a:noFill/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05450" y="2514600"/>
            <a:ext cx="1181100" cy="1905000"/>
          </a:xfrm>
          <a:prstGeom prst="ellipse">
            <a:avLst/>
          </a:prstGeom>
          <a:noFill/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43500" y="3181350"/>
            <a:ext cx="1905000" cy="571500"/>
          </a:xfrm>
          <a:prstGeom prst="ellipse">
            <a:avLst/>
          </a:prstGeom>
          <a:noFill/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43500" y="2876550"/>
            <a:ext cx="1905000" cy="1181100"/>
          </a:xfrm>
          <a:prstGeom prst="ellipse">
            <a:avLst/>
          </a:prstGeom>
          <a:noFill/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3060" y="3238500"/>
            <a:ext cx="14859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6FB"/>
                </a:solidFill>
                <a:latin typeface="Microsoft YaHei"/>
              </a:defRPr>
            </a:pPr>
            <a:r>
              <a:t>球形水印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2194560" y="2415540"/>
            <a:ext cx="3901440" cy="105156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94360" y="1958340"/>
            <a:ext cx="3581400" cy="10591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94360" y="195834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9140" y="2087880"/>
            <a:ext cx="3291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生成先验适配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140" y="2506980"/>
            <a:ext cx="3291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将身份映射到扩散模型潜在噪声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96000" y="2415540"/>
            <a:ext cx="3505200" cy="105156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001000" y="1958340"/>
            <a:ext cx="3581400" cy="10591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001000" y="195834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45780" y="2087880"/>
            <a:ext cx="3291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质量保护目标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5780" y="2506980"/>
            <a:ext cx="3291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兼顾标识嵌入与生成内容观感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194560" y="3467100"/>
            <a:ext cx="3901440" cy="151638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94360" y="4526280"/>
            <a:ext cx="3581400" cy="10591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594360" y="452628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9140" y="4655820"/>
            <a:ext cx="3291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生成端集成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140" y="5074920"/>
            <a:ext cx="3291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依托预训练生成模型构建路线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3467100"/>
            <a:ext cx="3505200" cy="151638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001000" y="4526280"/>
            <a:ext cx="3581400" cy="10591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001000" y="452628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45780" y="4655820"/>
            <a:ext cx="3291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传播后恢复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5780" y="5074920"/>
            <a:ext cx="3291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通过反演与逆变换恢复消息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选型围绕场景需求展开，最终效果由统一测试验证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技术路线 · 生成端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作品身份 → 球面映射 → 扩散图像生成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43100"/>
            <a:ext cx="1120140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2087880"/>
            <a:ext cx="10942320" cy="234696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571500" y="4960620"/>
            <a:ext cx="0" cy="655320"/>
          </a:xfrm>
          <a:prstGeom prst="line">
            <a:avLst/>
          </a:prstGeom>
          <a:ln w="3048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92252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身份编码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6542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匿名编号／重复与填充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42460" y="4960620"/>
            <a:ext cx="0" cy="655320"/>
          </a:xfrm>
          <a:prstGeom prst="line">
            <a:avLst/>
          </a:prstGeom>
          <a:ln w="3048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02480" y="492252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噪声构造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480" y="526542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可逆混合／旋转与半径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13420" y="4960620"/>
            <a:ext cx="0" cy="655320"/>
          </a:xfrm>
          <a:prstGeom prst="line">
            <a:avLst/>
          </a:prstGeom>
          <a:ln w="3048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73440" y="492252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模型生成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440" y="526542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噪声进入预训练扩散模型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在生成环节嵌入可恢复身份，而不依赖外部文件名或说明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技术路线 · 核验端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传播图像 → 反演与消息恢复 → 来源关联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882139"/>
            <a:ext cx="112014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0" y="1981199"/>
            <a:ext cx="6667500" cy="17221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5299" y="4320540"/>
            <a:ext cx="2514600" cy="11658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95299" y="432054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450080"/>
            <a:ext cx="22250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图像输入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69180"/>
            <a:ext cx="22250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上传收到的图片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86100" y="4800600"/>
            <a:ext cx="20574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4320540"/>
            <a:ext cx="2514600" cy="11658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390900" y="4320540"/>
            <a:ext cx="685799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35680" y="4450080"/>
            <a:ext cx="22250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恢复消息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680" y="4869180"/>
            <a:ext cx="22250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反演＋逆变换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81700" y="4800600"/>
            <a:ext cx="20574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6500" y="4320540"/>
            <a:ext cx="2514600" cy="11658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286500" y="432054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31280" y="4450080"/>
            <a:ext cx="22250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来源关联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1280" y="4869180"/>
            <a:ext cx="22250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匹配有效登记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77300" y="4800600"/>
            <a:ext cx="20574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2100" y="4320540"/>
            <a:ext cx="2514600" cy="116586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182100" y="432054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26880" y="4450080"/>
            <a:ext cx="22250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人工检查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869180"/>
            <a:ext cx="22250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材料与异常复核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原研究方法承担消息恢复，应用设计承担登记关联和复核任务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产品原型 · 图片保护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登记、署名与交付效果，在一个页面完成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27860"/>
            <a:ext cx="836676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tect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820" y="2084070"/>
            <a:ext cx="690372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2042160"/>
            <a:ext cx="1371600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80" y="2087880"/>
            <a:ext cx="11582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处理前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0" y="2042160"/>
            <a:ext cx="1371600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9680" y="2087880"/>
            <a:ext cx="11582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处理后</a:t>
            </a:r>
          </a:p>
        </p:txBody>
      </p:sp>
      <p:sp>
        <p:nvSpPr>
          <p:cNvPr id="13" name="Oval 12"/>
          <p:cNvSpPr/>
          <p:nvPr/>
        </p:nvSpPr>
        <p:spPr>
          <a:xfrm>
            <a:off x="9060180" y="2133600"/>
            <a:ext cx="365760" cy="36576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6380" y="2179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849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7860" y="2133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登记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240" y="2598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填写项目与署名</a:t>
            </a:r>
          </a:p>
        </p:txBody>
      </p:sp>
      <p:sp>
        <p:nvSpPr>
          <p:cNvPr id="17" name="Oval 16"/>
          <p:cNvSpPr/>
          <p:nvPr/>
        </p:nvSpPr>
        <p:spPr>
          <a:xfrm>
            <a:off x="9060180" y="3276600"/>
            <a:ext cx="365760" cy="36576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6380" y="3322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849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7860" y="3276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保护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240" y="3741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按实际方式处理图片</a:t>
            </a:r>
          </a:p>
        </p:txBody>
      </p:sp>
      <p:sp>
        <p:nvSpPr>
          <p:cNvPr id="21" name="Oval 20"/>
          <p:cNvSpPr/>
          <p:nvPr/>
        </p:nvSpPr>
        <p:spPr>
          <a:xfrm>
            <a:off x="9060180" y="4419600"/>
            <a:ext cx="365760" cy="36576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6380" y="4465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849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7860" y="4419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9240" y="4884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前后对照并下载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用户看到的是处理效果和交付图，算法细节保留在技术层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产品原型 · 图片溯源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上传收到的图片，直接查看可关联的来源线索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27860"/>
            <a:ext cx="836676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-tr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40" y="2004060"/>
            <a:ext cx="5669280" cy="35433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060180" y="2133600"/>
            <a:ext cx="365760" cy="36576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36380" y="2179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849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7860" y="2133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上传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9240" y="2598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无需回忆传播过程</a:t>
            </a:r>
          </a:p>
        </p:txBody>
      </p:sp>
      <p:sp>
        <p:nvSpPr>
          <p:cNvPr id="13" name="Oval 12"/>
          <p:cNvSpPr/>
          <p:nvPr/>
        </p:nvSpPr>
        <p:spPr>
          <a:xfrm>
            <a:off x="9060180" y="3276600"/>
            <a:ext cx="365760" cy="36576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6380" y="3322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849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7860" y="3276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关联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240" y="3741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恢复有效标识后查找记录</a:t>
            </a:r>
          </a:p>
        </p:txBody>
      </p:sp>
      <p:sp>
        <p:nvSpPr>
          <p:cNvPr id="17" name="Oval 16"/>
          <p:cNvSpPr/>
          <p:nvPr/>
        </p:nvSpPr>
        <p:spPr>
          <a:xfrm>
            <a:off x="9060180" y="4419600"/>
            <a:ext cx="365760" cy="36576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6380" y="4465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849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7860" y="4419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复核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240" y="4884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结合原图与授权材料核对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查找入口简单，结果保持可核对、可复查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产品原型 · 素材与记录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把素材登记与核验历史放在同一条工作路径里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27860"/>
            <a:ext cx="836676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duct-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40" y="2004060"/>
            <a:ext cx="5669280" cy="35433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060180" y="2133600"/>
            <a:ext cx="365760" cy="36576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36380" y="2179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849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7860" y="2133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整理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9240" y="2598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查看登记信息与交付图</a:t>
            </a:r>
          </a:p>
        </p:txBody>
      </p:sp>
      <p:sp>
        <p:nvSpPr>
          <p:cNvPr id="13" name="Oval 12"/>
          <p:cNvSpPr/>
          <p:nvPr/>
        </p:nvSpPr>
        <p:spPr>
          <a:xfrm>
            <a:off x="9060180" y="3276600"/>
            <a:ext cx="365760" cy="36576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6380" y="3322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849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7860" y="3276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追查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9240" y="3741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回看历史核验与异常</a:t>
            </a:r>
          </a:p>
        </p:txBody>
      </p:sp>
      <p:sp>
        <p:nvSpPr>
          <p:cNvPr id="17" name="Oval 16"/>
          <p:cNvSpPr/>
          <p:nvPr/>
        </p:nvSpPr>
        <p:spPr>
          <a:xfrm>
            <a:off x="9060180" y="4419600"/>
            <a:ext cx="365760" cy="365760"/>
          </a:xfrm>
          <a:prstGeom prst="ellipse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6380" y="4465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092849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7860" y="4419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留存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240" y="4884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导出记录并补充业务材料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让一次检测成为可以再次查阅的业务记录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可行性 · 部署与资源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网页、任务服务与模型环境分离，按实际负载逐步接入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171700"/>
            <a:ext cx="2743200" cy="12877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17170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301240"/>
            <a:ext cx="24536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浏览器入口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0340"/>
            <a:ext cx="2453640" cy="5529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图片保护／素材与记录／图片溯</a:t>
            </a:r>
          </a:p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52800" y="2705100"/>
            <a:ext cx="48006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62399" y="2171700"/>
            <a:ext cx="3200400" cy="12877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962399" y="217170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07179" y="2301240"/>
            <a:ext cx="2910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任务与登记服务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7179" y="2720340"/>
            <a:ext cx="2910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HTTP接口／任务状态／异常提示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92340" y="2705100"/>
            <a:ext cx="457200" cy="152400"/>
          </a:xfrm>
          <a:prstGeom prst="rightArrow">
            <a:avLst/>
          </a:prstGeom>
          <a:solidFill>
            <a:srgbClr val="F0D4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6700" y="2171700"/>
            <a:ext cx="3810000" cy="12877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886700" y="217170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31480" y="2301240"/>
            <a:ext cx="35204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模型执行环境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1480" y="2720340"/>
            <a:ext cx="35204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独立Python worker／权重／签名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2399" y="4084320"/>
            <a:ext cx="3200400" cy="115062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962399" y="408432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07179" y="4213860"/>
            <a:ext cx="2910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原型存储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7179" y="4632960"/>
            <a:ext cx="2910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JSON登记＋图片文件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62600" y="3459480"/>
            <a:ext cx="0" cy="624840"/>
          </a:xfrm>
          <a:prstGeom prst="line">
            <a:avLst/>
          </a:prstGeom>
          <a:ln w="1524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7700" y="4130040"/>
            <a:ext cx="293370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2D2E0"/>
                </a:solidFill>
                <a:latin typeface="Microsoft YaHei"/>
              </a:defRPr>
            </a:pPr>
            <a:r>
              <a:t>轻量原型：CPU可运行</a:t>
            </a:r>
          </a:p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2D2E0"/>
                </a:solidFill>
                <a:latin typeface="Microsoft YaHei"/>
              </a:defRPr>
            </a:pPr>
            <a:r>
              <a:t>论文主线：GPU生成与反演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9099" y="4130040"/>
            <a:ext cx="346710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2D2E0"/>
                </a:solidFill>
                <a:latin typeface="Microsoft YaHei"/>
              </a:defRPr>
            </a:pPr>
            <a:r>
              <a:t>正式接入条件</a:t>
            </a:r>
          </a:p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2D2E0"/>
                </a:solidFill>
                <a:latin typeface="Microsoft YaHei"/>
              </a:defRPr>
            </a:pPr>
            <a:r>
              <a:t>鉴权、签名保护、备份与并发验证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资源需求随模型与任务规模确定，部署前以实测确认容量和成本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项目实施 · 里程碑与协作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用阶段验收和明确交付物，连接算法、产品与验证工作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65020"/>
            <a:ext cx="1524000" cy="60198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740" y="220980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849"/>
                </a:solidFill>
                <a:latin typeface="Microsoft YaHei"/>
              </a:defRPr>
            </a:pPr>
            <a:r>
              <a:t>阶段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3600" y="2065020"/>
            <a:ext cx="2247900" cy="60198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5040" y="220980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849"/>
                </a:solidFill>
                <a:latin typeface="Microsoft YaHei"/>
              </a:defRPr>
            </a:pPr>
            <a:r>
              <a:t>负责角色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8660" y="2065020"/>
            <a:ext cx="3771900" cy="60198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220980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849"/>
                </a:solidFill>
                <a:latin typeface="Microsoft YaHei"/>
              </a:defRPr>
            </a:pPr>
            <a:r>
              <a:t>阶段交付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2960" y="2065020"/>
            <a:ext cx="3253740" cy="60198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0" y="220980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849"/>
                </a:solidFill>
                <a:latin typeface="Microsoft YaHei"/>
              </a:defRPr>
            </a:pPr>
            <a:r>
              <a:t>验收门槛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299" y="2727960"/>
            <a:ext cx="15240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740" y="287274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原型闭环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33600" y="2727960"/>
            <a:ext cx="22479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5040" y="287274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产品＋验证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8660" y="2727960"/>
            <a:ext cx="37719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0100" y="287274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交互、登记、记录与错误语义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2960" y="2727960"/>
            <a:ext cx="325374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4400" y="287274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接口与工作流检查通过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299" y="3390900"/>
            <a:ext cx="15240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6740" y="353568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模型接通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3600" y="3390900"/>
            <a:ext cx="22479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25040" y="353568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算法＋产品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18660" y="3390900"/>
            <a:ext cx="37719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0100" y="353568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生成／反演命令、配置与日志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42960" y="3390900"/>
            <a:ext cx="325374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4400" y="353568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独立样张可复现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299" y="4053840"/>
            <a:ext cx="15240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740" y="419862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统一评测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33600" y="4053840"/>
            <a:ext cx="22479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5040" y="419862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算法＋验证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8660" y="4053840"/>
            <a:ext cx="37719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0100" y="419862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正负样本、参数与失败案例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2960" y="4053840"/>
            <a:ext cx="325374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4400" y="419862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质量／恢复／误检齐全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5299" y="4716780"/>
            <a:ext cx="15240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6740" y="486156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业务试点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33600" y="4716780"/>
            <a:ext cx="22479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25040" y="486156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产品＋验证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18660" y="4716780"/>
            <a:ext cx="377190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0100" y="486156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用户任务记录与匿名反馈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42960" y="4716780"/>
            <a:ext cx="3253740" cy="60198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34400" y="486156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同任务对照＋问题闭环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每阶段保留配置、日志、问题单和验收记录，避免只有计划没有交付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第3章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</a:p>
        </p:txBody>
      </p:sp>
      <p:sp>
        <p:nvSpPr>
          <p:cNvPr id="7" name="Diamond 6"/>
          <p:cNvSpPr/>
          <p:nvPr/>
        </p:nvSpPr>
        <p:spPr>
          <a:xfrm>
            <a:off x="838200" y="1783080"/>
            <a:ext cx="3429000" cy="3429000"/>
          </a:xfrm>
          <a:prstGeom prst="diamond">
            <a:avLst/>
          </a:prstGeom>
          <a:solidFill>
            <a:srgbClr val="174F74"/>
          </a:solidFill>
          <a:ln>
            <a:solidFill>
              <a:srgbClr val="D1B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50720" y="2796540"/>
            <a:ext cx="1676400" cy="1112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8160"/>
              </a:lnSpc>
              <a:spcAft>
                <a:spcPts val="0"/>
              </a:spcAft>
              <a:defRPr sz="6000" b="1">
                <a:solidFill>
                  <a:srgbClr val="F3DEA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628900"/>
            <a:ext cx="6324600" cy="69799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896"/>
              </a:lnSpc>
              <a:spcAft>
                <a:spcPts val="0"/>
              </a:spcAft>
              <a:defRPr sz="3600" b="1">
                <a:solidFill>
                  <a:srgbClr val="F5DDA5"/>
                </a:solidFill>
                <a:latin typeface="Microsoft YaHei"/>
              </a:defRPr>
            </a:pPr>
            <a:r>
              <a:t>测试验证与应用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7300" y="3543300"/>
            <a:ext cx="62865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0">
                <a:solidFill>
                  <a:srgbClr val="E1ECF2"/>
                </a:solidFill>
                <a:latin typeface="Microsoft YaHei"/>
              </a:defRPr>
            </a:pPr>
            <a:r>
              <a:t>怎样证明能够使用，以及何时无法确认？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36820" y="4419600"/>
            <a:ext cx="639318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怎样证明能够使用，以及何时无法确认？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测试方案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用质量、恢复、误检与任务效率共同评价方案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299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92849"/>
                </a:solidFill>
                <a:latin typeface="Microsoft YaHei"/>
              </a:defRPr>
            </a:pPr>
            <a:r>
              <a:t>视觉质量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299" y="2750820"/>
            <a:ext cx="2514600" cy="13639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95299" y="275082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880360"/>
            <a:ext cx="22250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图像观感与局部细节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9460"/>
            <a:ext cx="22250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图像指标＋盲评观察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9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92849"/>
                </a:solidFill>
                <a:latin typeface="Microsoft YaHei"/>
              </a:defRPr>
            </a:pPr>
            <a:r>
              <a:t>标识恢复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2750820"/>
            <a:ext cx="2514600" cy="13639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390900" y="2750820"/>
            <a:ext cx="685799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35680" y="2880360"/>
            <a:ext cx="22250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原图与传播后图像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680" y="3299460"/>
            <a:ext cx="22250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消息恢复率＋匹配情况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60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92849"/>
                </a:solidFill>
                <a:latin typeface="Microsoft YaHei"/>
              </a:defRPr>
            </a:pPr>
            <a:r>
              <a:t>错误控制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6500" y="2750820"/>
            <a:ext cx="2514600" cy="13639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286500" y="275082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31280" y="2880360"/>
            <a:ext cx="22250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无水印与错误签名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1280" y="3299460"/>
            <a:ext cx="22250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误检率＋冲突与异常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21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16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092849"/>
                </a:solidFill>
                <a:latin typeface="Microsoft YaHei"/>
              </a:defRPr>
            </a:pPr>
            <a:r>
              <a:t>使用效率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2100" y="2750820"/>
            <a:ext cx="2514600" cy="13639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182100" y="275082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26880" y="2880360"/>
            <a:ext cx="22250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人工追问与系统查找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299460"/>
            <a:ext cx="22250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任务耗时＋正确判断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20" y="4610100"/>
            <a:ext cx="108204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传播条件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32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原始交付图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9654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322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轻度／明显压缩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444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尺寸缩小一半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7898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8566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较大面积裁剪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20200" y="5090160"/>
            <a:ext cx="2286000" cy="327660"/>
          </a:xfrm>
          <a:prstGeom prst="roundRect">
            <a:avLst>
              <a:gd name="adj" fmla="val 8000"/>
            </a:avLst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5135880"/>
            <a:ext cx="20726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3F6FB"/>
                </a:solidFill>
                <a:latin typeface="Microsoft YaHei"/>
              </a:defRPr>
            </a:pPr>
            <a:r>
              <a:t>重绘等失败条件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同时记录成功、失败与无法确认，让验证覆盖真实使用边界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测试与验证 · 受控试验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让结果同时呈现“可以恢复”与“暂时失效”的条件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95499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6FB"/>
                </a:solidFill>
                <a:latin typeface="Microsoft YaHei"/>
              </a:defRPr>
            </a:pPr>
            <a:r>
              <a:t>原图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2933700" y="2133600"/>
            <a:ext cx="6248400" cy="27432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33700" y="2133600"/>
            <a:ext cx="6248400" cy="27432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48800" y="2095499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6FB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7432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6FB"/>
                </a:solidFill>
                <a:latin typeface="Microsoft YaHei"/>
              </a:defRPr>
            </a:pPr>
            <a:r>
              <a:t>轻度压缩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3700" y="2781300"/>
            <a:ext cx="6248400" cy="27432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33700" y="2781300"/>
            <a:ext cx="6248400" cy="27432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8800" y="27432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6FB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3909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6FB"/>
                </a:solidFill>
                <a:latin typeface="Microsoft YaHei"/>
              </a:defRPr>
            </a:pPr>
            <a:r>
              <a:t>明显压缩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3700" y="3429000"/>
            <a:ext cx="6248400" cy="27432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3700" y="3429000"/>
            <a:ext cx="6248400" cy="27432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48800" y="33909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6FB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0386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6FB"/>
                </a:solidFill>
                <a:latin typeface="Microsoft YaHei"/>
              </a:defRPr>
            </a:pPr>
            <a:r>
              <a:t>尺寸减半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33700" y="4076699"/>
            <a:ext cx="6248400" cy="27432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33700" y="4076699"/>
            <a:ext cx="6248400" cy="27432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8800" y="40386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6FB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6863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6FB"/>
                </a:solidFill>
                <a:latin typeface="Microsoft YaHei"/>
              </a:defRPr>
            </a:pPr>
            <a:r>
              <a:t>较大面积裁剪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33700" y="4724400"/>
            <a:ext cx="6248400" cy="27432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8800" y="46863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3F6FB"/>
                </a:solidFill>
                <a:latin typeface="Microsoft YaHei"/>
              </a:defRPr>
            </a:pPr>
            <a:r>
              <a:t>0 / 24 找回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" y="5501640"/>
            <a:ext cx="108204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24张自绘设计样张 · 当前内置轻量方法 · 仅说明本次受控条件表现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裁剪样本未恢复，系统应保留“无法确认”并引导人工复核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测试与验证 · 可靠性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不误导用户的失败提示，与成功检出同样重要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71700"/>
            <a:ext cx="327660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F0D475"/>
                </a:solidFill>
                <a:latin typeface="Microsoft YaHei"/>
              </a:defRPr>
            </a:pPr>
            <a:r>
              <a:t>13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64180"/>
            <a:ext cx="3276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工作流检查通过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4594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覆盖处理、持久化与错误语义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800" y="2171700"/>
            <a:ext cx="327660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F0D475"/>
                </a:solidFill>
                <a:latin typeface="Microsoft YaHei"/>
              </a:defRPr>
            </a:pPr>
            <a:r>
              <a:t>24 /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2964180"/>
            <a:ext cx="3276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无水印样张未关联登记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34594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受控小样本，不推断零误检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999" y="2171700"/>
            <a:ext cx="327660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F0D475"/>
                </a:solidFill>
                <a:latin typeface="Microsoft YaHei"/>
              </a:defRPr>
            </a:pPr>
            <a:r>
              <a:t>0.28秒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999" y="2964180"/>
            <a:ext cx="3276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本地查询中位耗时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999" y="34594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24条登记规模，不代表线上性能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" y="4777740"/>
            <a:ext cx="0" cy="655320"/>
          </a:xfrm>
          <a:prstGeom prst="line">
            <a:avLst/>
          </a:prstGeom>
          <a:ln w="3048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73964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服务出错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8254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显示未完成，不输出“未检出”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57700" y="4777740"/>
            <a:ext cx="0" cy="655320"/>
          </a:xfrm>
          <a:prstGeom prst="line">
            <a:avLst/>
          </a:prstGeom>
          <a:ln w="3048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17720" y="473964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登记冲突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508254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输出需复核，不强行归属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43900" y="4777740"/>
            <a:ext cx="0" cy="655320"/>
          </a:xfrm>
          <a:prstGeom prst="line">
            <a:avLst/>
          </a:prstGeom>
          <a:ln w="30480">
            <a:solidFill>
              <a:srgbClr val="F0D4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3920" y="473964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3F6FB"/>
                </a:solidFill>
                <a:latin typeface="Microsoft YaHei"/>
              </a:defRPr>
            </a:pPr>
            <a:r>
              <a:t>持久化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08254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可回看登记与核验记录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正确区分成功、无匹配、冲突与服务错误，保护后续使用决策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应用验证 · 场景案例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同一批样张，在“压缩、裁剪、未标记”下走向不同处理结果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943100"/>
            <a:ext cx="3352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被压缩后收到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2362200"/>
            <a:ext cx="34671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tual-compr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770" y="2438400"/>
            <a:ext cx="2042160" cy="2042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762500"/>
            <a:ext cx="3390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24/24 找回登记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219700"/>
            <a:ext cx="3390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查看来源声明，再核对授权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1943100"/>
            <a:ext cx="3352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被大幅裁剪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1500" y="2362200"/>
            <a:ext cx="34671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ctual-crop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970" y="2438400"/>
            <a:ext cx="2042160" cy="2042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19600" y="4762500"/>
            <a:ext cx="3390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0/24 恢复标识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5219700"/>
            <a:ext cx="3390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保留无法确认，补充原图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1943100"/>
            <a:ext cx="3352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3F6FB"/>
                </a:solidFill>
                <a:latin typeface="Microsoft YaHei"/>
              </a:defRPr>
            </a:pPr>
            <a:r>
              <a:t>收到无水印图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7699" y="2362200"/>
            <a:ext cx="34671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ctual-unmark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170" y="2438400"/>
            <a:ext cx="2042160" cy="20421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05800" y="4762500"/>
            <a:ext cx="3390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24/24 未关联登记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5219700"/>
            <a:ext cx="3390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人工查找，不推断权属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落地价值体现在“下一步怎么处理”，不只是返回一个技术分数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实际落地 · 试点设计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嵌入品牌现有交付流程，逐步取得真实用户效果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57400"/>
            <a:ext cx="3467100" cy="20497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05740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18694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入组与资料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一个合法营销素材批次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89960"/>
            <a:ext cx="31699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授权确认／去标识／留存原图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1500" y="2057400"/>
            <a:ext cx="3467100" cy="20497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381500" y="205740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6280" y="218694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接入与使用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0604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3—5名设计、运营或审核用户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89960"/>
            <a:ext cx="31699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制作、交付、再次核验全过程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7699" y="2057400"/>
            <a:ext cx="3467100" cy="20497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67699" y="205740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0" y="2186940"/>
            <a:ext cx="31775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前后对照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06040"/>
            <a:ext cx="31775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同任务比较人工与系统方式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89960"/>
            <a:ext cx="31699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C2D2E0"/>
                </a:solidFill>
                <a:latin typeface="Microsoft YaHei"/>
              </a:defRPr>
            </a:pPr>
            <a:r>
              <a:t>记录正确率、耗时和异常处理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" y="4625340"/>
            <a:ext cx="10668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F3F6FB"/>
                </a:solidFill>
                <a:latin typeface="Microsoft YaHei"/>
              </a:defRPr>
            </a:pPr>
            <a:r>
              <a:t>试点材料：流程截图、样本清单、任务记录、匿名反馈、失败案例与改进前后对照。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" y="5242560"/>
            <a:ext cx="10668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C2D2E0"/>
                </a:solidFill>
                <a:latin typeface="Microsoft YaHei"/>
              </a:defRPr>
            </a:pPr>
            <a:r>
              <a:t>进入常态使用的条件：核验稳定、画质可接受、材料可核对、失败可处理。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试点应证明是否减少来源追问成本，而非只证明界面能够打开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应用效果 · 成本收益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把价值落到核对工时、返工次数和接入成本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164080"/>
            <a:ext cx="4114800" cy="123444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16408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293620"/>
            <a:ext cx="38252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可衡量的业务收益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12720"/>
            <a:ext cx="38252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减少来源追问／材料定位／重复登记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299" y="3779520"/>
            <a:ext cx="4114800" cy="14020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95299" y="377952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909060"/>
            <a:ext cx="38252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必须计算的接入成本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28160"/>
            <a:ext cx="38252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生成与反演算力／存储／维护／人工复核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06340" y="2049780"/>
            <a:ext cx="0" cy="336042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0" y="2209800"/>
            <a:ext cx="60960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F3F6FB"/>
                </a:solidFill>
                <a:latin typeface="Microsoft YaHei"/>
              </a:defRPr>
            </a:pPr>
            <a:r>
              <a:t>月节省工时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689860"/>
            <a:ext cx="6096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0D475"/>
                </a:solidFill>
                <a:latin typeface="Microsoft YaHei"/>
              </a:defRPr>
            </a:pPr>
            <a:r>
              <a:t>月核验量 × 单次节省分钟 ÷ 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528060"/>
            <a:ext cx="60960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F3F6FB"/>
                </a:solidFill>
                <a:latin typeface="Microsoft YaHei"/>
              </a:defRPr>
            </a:pPr>
            <a:r>
              <a:t>净收益判断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008120"/>
            <a:ext cx="60960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0D475"/>
                </a:solidFill>
                <a:latin typeface="Microsoft YaHei"/>
              </a:defRPr>
            </a:pPr>
            <a:r>
              <a:t>工时价值 − 推理、存储与维护成本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960620"/>
            <a:ext cx="601980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2D2E0"/>
                </a:solidFill>
                <a:latin typeface="Microsoft YaHei"/>
              </a:defRPr>
            </a:pPr>
            <a:r>
              <a:t>以试点的实际耗时与错误处理成本填入，</a:t>
            </a:r>
          </a:p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C2D2E0"/>
                </a:solidFill>
                <a:latin typeface="Microsoft YaHei"/>
              </a:defRPr>
            </a:pPr>
            <a:r>
              <a:t>再决定是否值得扩大接入。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先证明能节省真实工作，再判断可持续推广的经济性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应用与落地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以电商验证任务，再向创意、文创和媒体延伸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385060"/>
            <a:ext cx="4114800" cy="22783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5299" y="2385060"/>
            <a:ext cx="685801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514600"/>
            <a:ext cx="38252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首个验证点：电商营销素材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3700"/>
            <a:ext cx="38252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品牌设计 → 合作交付 → 再次核验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" y="3695700"/>
            <a:ext cx="3733799" cy="67726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0">
                <a:solidFill>
                  <a:srgbClr val="C2D2E0"/>
                </a:solidFill>
                <a:latin typeface="Microsoft YaHei"/>
              </a:defRPr>
            </a:pPr>
            <a:r>
              <a:t>观察：来源查找效率</a:t>
            </a:r>
          </a:p>
          <a:p>
            <a:pPr>
              <a:lnSpc>
                <a:spcPts val="2366"/>
              </a:lnSpc>
              <a:spcAft>
                <a:spcPts val="0"/>
              </a:spcAft>
              <a:defRPr sz="1739" b="0">
                <a:solidFill>
                  <a:srgbClr val="C2D2E0"/>
                </a:solidFill>
                <a:latin typeface="Microsoft YaHei"/>
              </a:defRPr>
            </a:pPr>
            <a:r>
              <a:t>检查：使用声明与复核提示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800600" y="2362200"/>
            <a:ext cx="2567940" cy="114300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68540" y="1943100"/>
            <a:ext cx="4328160" cy="9829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368540" y="194310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13320" y="2072640"/>
            <a:ext cx="4038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创意设计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3320" y="2491740"/>
            <a:ext cx="4038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署名与素材交付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3505200"/>
            <a:ext cx="2567940" cy="15240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68540" y="3238500"/>
            <a:ext cx="4328160" cy="9829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368540" y="323850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13320" y="3368040"/>
            <a:ext cx="4038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数字文创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3320" y="3787140"/>
            <a:ext cx="4038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作品登记与使用线索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00600" y="3505200"/>
            <a:ext cx="2567940" cy="1447800"/>
          </a:xfrm>
          <a:prstGeom prst="line">
            <a:avLst/>
          </a:prstGeom>
          <a:ln w="15240">
            <a:solidFill>
              <a:srgbClr val="297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68540" y="4533900"/>
            <a:ext cx="4328160" cy="98298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368540" y="4533900"/>
            <a:ext cx="685800" cy="0"/>
          </a:xfrm>
          <a:prstGeom prst="line">
            <a:avLst/>
          </a:prstGeom>
          <a:ln w="22859">
            <a:solidFill>
              <a:srgbClr val="35B5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13320" y="4663440"/>
            <a:ext cx="4038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475"/>
                </a:solidFill>
                <a:latin typeface="Microsoft YaHei"/>
              </a:defRPr>
            </a:pPr>
            <a:r>
              <a:t>媒体传播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3320" y="5082540"/>
            <a:ext cx="4038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3F6FB"/>
                </a:solidFill>
                <a:latin typeface="Microsoft YaHei"/>
              </a:defRPr>
            </a:pPr>
            <a:r>
              <a:t>生成身份与来源辅助核验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落地成效以试用数据衡量，社会价值围绕可信使用展开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第4章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</a:p>
        </p:txBody>
      </p:sp>
      <p:sp>
        <p:nvSpPr>
          <p:cNvPr id="7" name="Diamond 6"/>
          <p:cNvSpPr/>
          <p:nvPr/>
        </p:nvSpPr>
        <p:spPr>
          <a:xfrm>
            <a:off x="838200" y="1783080"/>
            <a:ext cx="3429000" cy="3429000"/>
          </a:xfrm>
          <a:prstGeom prst="diamond">
            <a:avLst/>
          </a:prstGeom>
          <a:solidFill>
            <a:srgbClr val="174F74"/>
          </a:solidFill>
          <a:ln>
            <a:solidFill>
              <a:srgbClr val="D1B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50720" y="2796540"/>
            <a:ext cx="1676400" cy="11125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8160"/>
              </a:lnSpc>
              <a:spcAft>
                <a:spcPts val="0"/>
              </a:spcAft>
              <a:defRPr sz="6000" b="1">
                <a:solidFill>
                  <a:srgbClr val="F3DEA3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628900"/>
            <a:ext cx="6324600" cy="69799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896"/>
              </a:lnSpc>
              <a:spcAft>
                <a:spcPts val="0"/>
              </a:spcAft>
              <a:defRPr sz="3600" b="1">
                <a:solidFill>
                  <a:srgbClr val="F5DDA5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7300" y="3543300"/>
            <a:ext cx="62865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0">
                <a:solidFill>
                  <a:srgbClr val="E1ECF2"/>
                </a:solidFill>
                <a:latin typeface="Microsoft YaHei"/>
              </a:defRPr>
            </a:pPr>
            <a:r>
              <a:t>明确现有边界，用证据驱动下一步改进。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36820" y="4419600"/>
            <a:ext cx="639318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明确现有边界，用证据驱动下一步改进。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总结与展望 · 问题改进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把当前薄弱点，转化为有验证门槛的下一步工作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2034540"/>
            <a:ext cx="3086100" cy="60960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980" y="218694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849"/>
                </a:solidFill>
                <a:latin typeface="Microsoft YaHei"/>
              </a:defRPr>
            </a:pPr>
            <a:r>
              <a:t>当前问题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6660" y="2034540"/>
            <a:ext cx="3733799" cy="60960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3339" y="218694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849"/>
                </a:solidFill>
                <a:latin typeface="Microsoft YaHei"/>
              </a:defRPr>
            </a:pPr>
            <a:r>
              <a:t>改进方向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58100" y="2034540"/>
            <a:ext cx="4038600" cy="609600"/>
          </a:xfrm>
          <a:prstGeom prst="rect">
            <a:avLst/>
          </a:prstGeom>
          <a:solidFill>
            <a:srgbClr val="F0D475"/>
          </a:solidFill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64780" y="218694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092849"/>
                </a:solidFill>
                <a:latin typeface="Microsoft YaHei"/>
              </a:defRPr>
            </a:pPr>
            <a:r>
              <a:t>验证门槛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299" y="2712720"/>
            <a:ext cx="3086100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980" y="286512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裁剪后无法恢复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6660" y="2712720"/>
            <a:ext cx="3733799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3339" y="286512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验证鲁棒模型与对齐策略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58100" y="2712720"/>
            <a:ext cx="4038600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64780" y="286512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同条件恢复＋误检＋画质同时报告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299" y="3390900"/>
            <a:ext cx="3086100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980" y="354330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登记规模与短标识风险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6660" y="3390900"/>
            <a:ext cx="3733799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3339" y="354330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索引、较长标识与冲突分流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58100" y="3390900"/>
            <a:ext cx="4038600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64780" y="354330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扩容负载和冲突用例通过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299" y="4069080"/>
            <a:ext cx="3086100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980" y="422148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签名与登记安全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6660" y="4069080"/>
            <a:ext cx="3733799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63339" y="422148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受控访问、密钥隔离与备份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58100" y="4069080"/>
            <a:ext cx="4038600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64780" y="422148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权限、泄露与恢复演练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299" y="4747260"/>
            <a:ext cx="3086100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980" y="489966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尚缺真实用户成效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56660" y="4747260"/>
            <a:ext cx="3733799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3339" y="489966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完成同任务试用与反馈闭环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58100" y="4747260"/>
            <a:ext cx="4038600" cy="609600"/>
          </a:xfrm>
          <a:prstGeom prst="rect">
            <a:avLst/>
          </a:prstGeom>
          <a:solidFill>
            <a:srgbClr val="123D60"/>
          </a:solidFill>
          <a:ln>
            <a:solidFill>
              <a:srgbClr val="12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64780" y="489966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原始任务记录和可追查改进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以失败分析推动改进，避免把未来能力写成现有能力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总结与展望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让图像的身份线索，跟得上内容的传播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34540"/>
            <a:ext cx="838200" cy="62544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324"/>
              </a:lnSpc>
              <a:spcAft>
                <a:spcPts val="0"/>
              </a:spcAft>
              <a:defRPr sz="3179" b="1">
                <a:solidFill>
                  <a:srgbClr val="F0D47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49780"/>
            <a:ext cx="6477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6FB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76500"/>
            <a:ext cx="6477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C2D2E0"/>
                </a:solidFill>
                <a:latin typeface="Microsoft YaHei"/>
              </a:defRPr>
            </a:pPr>
            <a:r>
              <a:t>内容易流转，来源与使用依据可能脱落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62300"/>
            <a:ext cx="838200" cy="62544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324"/>
              </a:lnSpc>
              <a:spcAft>
                <a:spcPts val="0"/>
              </a:spcAft>
              <a:defRPr sz="3179" b="1">
                <a:solidFill>
                  <a:srgbClr val="F0D47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77540"/>
            <a:ext cx="6477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6FB"/>
                </a:solidFill>
                <a:latin typeface="Microsoft YaHei"/>
              </a:defRPr>
            </a:pPr>
            <a:r>
              <a:t>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604260"/>
            <a:ext cx="6477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C2D2E0"/>
                </a:solidFill>
                <a:latin typeface="Microsoft YaHei"/>
              </a:defRPr>
            </a:pPr>
            <a:r>
              <a:t>生成时建立身份，传播后恢复并关联登记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0060"/>
            <a:ext cx="838200" cy="62544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324"/>
              </a:lnSpc>
              <a:spcAft>
                <a:spcPts val="0"/>
              </a:spcAft>
              <a:defRPr sz="3179" b="1">
                <a:solidFill>
                  <a:srgbClr val="F0D47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05300"/>
            <a:ext cx="6477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3F6FB"/>
                </a:solidFill>
                <a:latin typeface="Microsoft YaHei"/>
              </a:defRPr>
            </a:pPr>
            <a:r>
              <a:t>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732020"/>
            <a:ext cx="6477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C2D2E0"/>
                </a:solidFill>
                <a:latin typeface="Microsoft YaHei"/>
              </a:defRPr>
            </a:pPr>
            <a:r>
              <a:t>辅助认证、来源查找与知识产权保护</a:t>
            </a:r>
          </a:p>
        </p:txBody>
      </p:sp>
      <p:sp>
        <p:nvSpPr>
          <p:cNvPr id="16" name="Oval 15"/>
          <p:cNvSpPr/>
          <p:nvPr/>
        </p:nvSpPr>
        <p:spPr>
          <a:xfrm>
            <a:off x="8953500" y="2453640"/>
            <a:ext cx="2209800" cy="2209800"/>
          </a:xfrm>
          <a:prstGeom prst="ellipse">
            <a:avLst/>
          </a:prstGeom>
          <a:noFill/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26930" y="2453640"/>
            <a:ext cx="662940" cy="2209800"/>
          </a:xfrm>
          <a:prstGeom prst="ellipse">
            <a:avLst/>
          </a:prstGeom>
          <a:noFill/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73362" y="2453640"/>
            <a:ext cx="1370076" cy="2209800"/>
          </a:xfrm>
          <a:prstGeom prst="ellipse">
            <a:avLst/>
          </a:prstGeom>
          <a:noFill/>
          <a:ln>
            <a:solidFill>
              <a:srgbClr val="F0D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53500" y="3227070"/>
            <a:ext cx="2209800" cy="662940"/>
          </a:xfrm>
          <a:prstGeom prst="ellipse">
            <a:avLst/>
          </a:prstGeom>
          <a:noFill/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53500" y="2873502"/>
            <a:ext cx="2209800" cy="1370076"/>
          </a:xfrm>
          <a:prstGeom prst="ellipse">
            <a:avLst/>
          </a:prstGeom>
          <a:noFill/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5105400"/>
            <a:ext cx="2667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475"/>
                </a:solidFill>
                <a:latin typeface="Microsoft YaHei"/>
              </a:defRPr>
            </a:pPr>
            <a:r>
              <a:t>图溯 · 可信传播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从一张图片的身份核验，走向数字内容的可信使用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84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lu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24840"/>
          </a:xfrm>
          <a:prstGeom prst="rect">
            <a:avLst/>
          </a:prstGeom>
          <a:solidFill>
            <a:srgbClr val="093858"/>
          </a:solidFill>
          <a:ln>
            <a:solidFill>
              <a:srgbClr val="09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90500"/>
            <a:ext cx="100584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2DDA1"/>
                </a:solidFill>
                <a:latin typeface="Microsoft YaHei"/>
              </a:defRPr>
            </a:pPr>
            <a:r>
              <a:t>附录 · 评分对应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" y="685800"/>
            <a:ext cx="11506200" cy="0"/>
          </a:xfrm>
          <a:prstGeom prst="line">
            <a:avLst/>
          </a:prstGeom>
          <a:ln w="22859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5299" y="975360"/>
            <a:ext cx="11201400" cy="54254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F3F6FB"/>
                </a:solidFill>
                <a:latin typeface="Microsoft YaHei"/>
              </a:defRPr>
            </a:pPr>
            <a:r>
              <a:t>每一项评分，都对应具体论证、实现和证据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99" y="1950720"/>
            <a:ext cx="11201400" cy="45720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40" y="2049780"/>
            <a:ext cx="266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475"/>
                </a:solidFill>
                <a:latin typeface="Microsoft YaHei"/>
              </a:defRPr>
            </a:pPr>
            <a:r>
              <a:t>创新性20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7580" y="204978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场景痛点、流程融合与差异化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3640" y="2049780"/>
            <a:ext cx="16002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6—15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299" y="2476500"/>
            <a:ext cx="11201400" cy="45720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840" y="2575560"/>
            <a:ext cx="266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475"/>
                </a:solidFill>
                <a:latin typeface="Microsoft YaHei"/>
              </a:defRPr>
            </a:pPr>
            <a:r>
              <a:t>需求分析15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257556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问题根因、调研方案与需求映射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3640" y="2575560"/>
            <a:ext cx="16002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6—10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299" y="3002280"/>
            <a:ext cx="11201400" cy="45720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840" y="3101340"/>
            <a:ext cx="266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475"/>
                </a:solidFill>
                <a:latin typeface="Microsoft YaHei"/>
              </a:defRPr>
            </a:pPr>
            <a:r>
              <a:t>可行性20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310134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总体框架、技术适配与部署条件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3640" y="3101340"/>
            <a:ext cx="16002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14—21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299" y="3528060"/>
            <a:ext cx="11201400" cy="45720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840" y="3627120"/>
            <a:ext cx="266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475"/>
                </a:solidFill>
                <a:latin typeface="Microsoft YaHei"/>
              </a:defRPr>
            </a:pPr>
            <a:r>
              <a:t>项目实施15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7580" y="362712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原型功能、分工、里程碑与交付物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3640" y="3627120"/>
            <a:ext cx="16002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18—22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299" y="4053840"/>
            <a:ext cx="11201400" cy="45720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840" y="4152900"/>
            <a:ext cx="266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475"/>
                </a:solidFill>
                <a:latin typeface="Microsoft YaHei"/>
              </a:defRPr>
            </a:pPr>
            <a:r>
              <a:t>测试验证10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7580" y="415290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条件设计、正负样本、失败与改进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3640" y="4152900"/>
            <a:ext cx="16002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24—27、32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299" y="4579620"/>
            <a:ext cx="11201400" cy="45720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840" y="4678680"/>
            <a:ext cx="266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475"/>
                </a:solidFill>
                <a:latin typeface="Microsoft YaHei"/>
              </a:defRPr>
            </a:pPr>
            <a:r>
              <a:t>应用效果15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7580" y="467868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业务案例、试点接入、经济性与推广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3640" y="4678680"/>
            <a:ext cx="16002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27—30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299" y="5105400"/>
            <a:ext cx="11201400" cy="457200"/>
          </a:xfrm>
          <a:prstGeom prst="rect">
            <a:avLst/>
          </a:prstGeom>
          <a:solidFill>
            <a:srgbClr val="123D60"/>
          </a:solidFill>
          <a:ln>
            <a:solidFill>
              <a:srgbClr val="297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840" y="5204460"/>
            <a:ext cx="266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475"/>
                </a:solidFill>
                <a:latin typeface="Microsoft YaHei"/>
              </a:defRPr>
            </a:pPr>
            <a:r>
              <a:t>总结展望5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7580" y="520446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3F6FB"/>
                </a:solidFill>
                <a:latin typeface="Microsoft YaHei"/>
              </a:defRPr>
            </a:pPr>
            <a:r>
              <a:t>问题改进与下一步验证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3640" y="5204460"/>
            <a:ext cx="16002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C2D2E0"/>
                </a:solidFill>
                <a:latin typeface="Microsoft YaHei"/>
              </a:defRPr>
            </a:pPr>
            <a:r>
              <a:t>32—33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95299" y="5943600"/>
            <a:ext cx="11201401" cy="0"/>
          </a:xfrm>
          <a:prstGeom prst="line">
            <a:avLst/>
          </a:prstGeom>
          <a:ln w="7620">
            <a:solidFill>
              <a:srgbClr val="D6B7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1500" y="6134100"/>
            <a:ext cx="110490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F5D777"/>
                </a:solidFill>
                <a:latin typeface="Microsoft YaHei"/>
              </a:defRPr>
            </a:pPr>
            <a:r>
              <a:t>版式借鉴参考稿，应用效果与科研结论由项目证据支撑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160" y="6606540"/>
            <a:ext cx="103632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C2D2E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475"/>
                </a:solidFill>
                <a:latin typeface="Microsoft YaHe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